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37"/>
  </p:notesMasterIdLst>
  <p:sldIdLst>
    <p:sldId id="256" r:id="rId2"/>
    <p:sldId id="261" r:id="rId3"/>
    <p:sldId id="304" r:id="rId4"/>
    <p:sldId id="277" r:id="rId5"/>
    <p:sldId id="270" r:id="rId6"/>
    <p:sldId id="269" r:id="rId7"/>
    <p:sldId id="303" r:id="rId8"/>
    <p:sldId id="295" r:id="rId9"/>
    <p:sldId id="305" r:id="rId10"/>
    <p:sldId id="296" r:id="rId11"/>
    <p:sldId id="306" r:id="rId12"/>
    <p:sldId id="307" r:id="rId13"/>
    <p:sldId id="308" r:id="rId14"/>
    <p:sldId id="260" r:id="rId15"/>
    <p:sldId id="297" r:id="rId16"/>
    <p:sldId id="298" r:id="rId17"/>
    <p:sldId id="259" r:id="rId18"/>
    <p:sldId id="276" r:id="rId19"/>
    <p:sldId id="257" r:id="rId20"/>
    <p:sldId id="311" r:id="rId21"/>
    <p:sldId id="309" r:id="rId22"/>
    <p:sldId id="310" r:id="rId23"/>
    <p:sldId id="299" r:id="rId24"/>
    <p:sldId id="265" r:id="rId25"/>
    <p:sldId id="300" r:id="rId26"/>
    <p:sldId id="284" r:id="rId27"/>
    <p:sldId id="285" r:id="rId28"/>
    <p:sldId id="302" r:id="rId29"/>
    <p:sldId id="258" r:id="rId30"/>
    <p:sldId id="262" r:id="rId31"/>
    <p:sldId id="263" r:id="rId32"/>
    <p:sldId id="266" r:id="rId33"/>
    <p:sldId id="267" r:id="rId34"/>
    <p:sldId id="272" r:id="rId35"/>
    <p:sldId id="278" r:id="rId36"/>
  </p:sldIdLst>
  <p:sldSz cx="9144000" cy="5143500" type="screen16x9"/>
  <p:notesSz cx="6858000" cy="9144000"/>
  <p:embeddedFontLst>
    <p:embeddedFont>
      <p:font typeface="Comic Neue" panose="020B0604020202020204" charset="0"/>
      <p:regular r:id="rId38"/>
      <p:bold r:id="rId39"/>
      <p:italic r:id="rId40"/>
      <p:boldItalic r:id="rId41"/>
    </p:embeddedFont>
    <p:embeddedFont>
      <p:font typeface="Cambria Math" panose="02040503050406030204" pitchFamily="18" charset="0"/>
      <p:regular r:id="rId42"/>
    </p:embeddedFont>
    <p:embeddedFont>
      <p:font typeface="Roboto Mono" panose="020B0604020202020204" charset="0"/>
      <p:regular r:id="rId43"/>
      <p:bold r:id="rId44"/>
      <p:italic r:id="rId45"/>
      <p:boldItalic r:id="rId46"/>
    </p:embeddedFont>
    <p:embeddedFont>
      <p:font typeface="Righteous" panose="020B0604020202020204" charset="0"/>
      <p:regular r:id="rId47"/>
    </p:embeddedFont>
    <p:embeddedFont>
      <p:font typeface="Bebas Neue" panose="020B0604020202020204" charset="0"/>
      <p:regular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showGuides="1">
      <p:cViewPr varScale="1">
        <p:scale>
          <a:sx n="112" d="100"/>
          <a:sy n="112" d="100"/>
        </p:scale>
        <p:origin x="538" y="43"/>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a:solidFill>
                <a:srgbClr val="0070C0"/>
              </a:solidFill>
            </a:rPr>
            <a:t>Accepts video input (live camera or recorded)</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dirty="0">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Accepts video input (live camera or recorded)</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8584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7b07e4d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7b07e4d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0508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d37b07e4d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d37b07e4d9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6982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d37b07e4d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d37b07e4d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337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43505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0507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0291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ecaf1dbea9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ecaf1dbea9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ecc07f8bc7_0_9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ecc07f8bc7_0_9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ecc07f8bc7_0_9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ecc07f8bc7_0_9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eef566d8a0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eef566d8a0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2">
  <p:cSld name="CUSTOM_1_1_1">
    <p:spTree>
      <p:nvGrpSpPr>
        <p:cNvPr id="1" name="Shape 260"/>
        <p:cNvGrpSpPr/>
        <p:nvPr/>
      </p:nvGrpSpPr>
      <p:grpSpPr>
        <a:xfrm>
          <a:off x="0" y="0"/>
          <a:ext cx="0" cy="0"/>
          <a:chOff x="0" y="0"/>
          <a:chExt cx="0" cy="0"/>
        </a:xfrm>
      </p:grpSpPr>
      <p:pic>
        <p:nvPicPr>
          <p:cNvPr id="261" name="Google Shape;261;p21"/>
          <p:cNvPicPr preferRelativeResize="0"/>
          <p:nvPr/>
        </p:nvPicPr>
        <p:blipFill>
          <a:blip r:embed="rId2">
            <a:alphaModFix/>
          </a:blip>
          <a:stretch>
            <a:fillRect/>
          </a:stretch>
        </p:blipFill>
        <p:spPr>
          <a:xfrm flipH="1">
            <a:off x="-93299" y="-71225"/>
            <a:ext cx="9330599" cy="5285950"/>
          </a:xfrm>
          <a:prstGeom prst="rect">
            <a:avLst/>
          </a:prstGeom>
          <a:noFill/>
          <a:ln>
            <a:noFill/>
          </a:ln>
        </p:spPr>
      </p:pic>
      <p:sp>
        <p:nvSpPr>
          <p:cNvPr id="262" name="Google Shape;262;p21"/>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3" name="Google Shape;263;p21"/>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64" name="Google Shape;264;p21"/>
          <p:cNvGrpSpPr/>
          <p:nvPr/>
        </p:nvGrpSpPr>
        <p:grpSpPr>
          <a:xfrm>
            <a:off x="661225" y="880913"/>
            <a:ext cx="7822275" cy="4047087"/>
            <a:chOff x="661225" y="880913"/>
            <a:chExt cx="7822275" cy="4047087"/>
          </a:xfrm>
        </p:grpSpPr>
        <p:sp>
          <p:nvSpPr>
            <p:cNvPr id="265" name="Google Shape;265;p21"/>
            <p:cNvSpPr/>
            <p:nvPr/>
          </p:nvSpPr>
          <p:spPr>
            <a:xfrm>
              <a:off x="661225" y="15764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1"/>
            <p:cNvSpPr/>
            <p:nvPr/>
          </p:nvSpPr>
          <p:spPr>
            <a:xfrm>
              <a:off x="1461725" y="8809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1"/>
            <p:cNvSpPr/>
            <p:nvPr/>
          </p:nvSpPr>
          <p:spPr>
            <a:xfrm>
              <a:off x="867625" y="4286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1"/>
            <p:cNvSpPr/>
            <p:nvPr/>
          </p:nvSpPr>
          <p:spPr>
            <a:xfrm>
              <a:off x="7961225" y="10177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1"/>
            <p:cNvSpPr/>
            <p:nvPr/>
          </p:nvSpPr>
          <p:spPr>
            <a:xfrm>
              <a:off x="8222500" y="18847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1"/>
            <p:cNvSpPr/>
            <p:nvPr/>
          </p:nvSpPr>
          <p:spPr>
            <a:xfrm>
              <a:off x="8374300" y="34603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1"/>
            <p:cNvSpPr/>
            <p:nvPr/>
          </p:nvSpPr>
          <p:spPr>
            <a:xfrm>
              <a:off x="3305275" y="4722499"/>
              <a:ext cx="164100" cy="205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1"/>
            <p:cNvSpPr/>
            <p:nvPr/>
          </p:nvSpPr>
          <p:spPr>
            <a:xfrm>
              <a:off x="7550625" y="4608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87"/>
        <p:cNvGrpSpPr/>
        <p:nvPr/>
      </p:nvGrpSpPr>
      <p:grpSpPr>
        <a:xfrm>
          <a:off x="0" y="0"/>
          <a:ext cx="0" cy="0"/>
          <a:chOff x="0" y="0"/>
          <a:chExt cx="0" cy="0"/>
        </a:xfrm>
      </p:grpSpPr>
      <p:pic>
        <p:nvPicPr>
          <p:cNvPr id="288" name="Google Shape;288;p23"/>
          <p:cNvPicPr preferRelativeResize="0"/>
          <p:nvPr/>
        </p:nvPicPr>
        <p:blipFill rotWithShape="1">
          <a:blip r:embed="rId2">
            <a:alphaModFix/>
          </a:blip>
          <a:srcRect l="7607" r="12901" b="18526"/>
          <a:stretch/>
        </p:blipFill>
        <p:spPr>
          <a:xfrm>
            <a:off x="-60600" y="-34200"/>
            <a:ext cx="9265200" cy="5211900"/>
          </a:xfrm>
          <a:prstGeom prst="rect">
            <a:avLst/>
          </a:prstGeom>
          <a:noFill/>
          <a:ln>
            <a:noFill/>
          </a:ln>
        </p:spPr>
      </p:pic>
      <p:sp>
        <p:nvSpPr>
          <p:cNvPr id="289" name="Google Shape;289;p23"/>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0" name="Google Shape;290;p23"/>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1" name="Google Shape;291;p23"/>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2" name="Google Shape;292;p23"/>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23"/>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4" name="Google Shape;294;p23"/>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5" name="Google Shape;295;p23"/>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96" name="Google Shape;296;p23"/>
          <p:cNvGrpSpPr/>
          <p:nvPr/>
        </p:nvGrpSpPr>
        <p:grpSpPr>
          <a:xfrm>
            <a:off x="370975" y="479233"/>
            <a:ext cx="8280000" cy="4197655"/>
            <a:chOff x="370975" y="479233"/>
            <a:chExt cx="8280000" cy="4197655"/>
          </a:xfrm>
        </p:grpSpPr>
        <p:sp>
          <p:nvSpPr>
            <p:cNvPr id="297" name="Google Shape;297;p23"/>
            <p:cNvSpPr/>
            <p:nvPr/>
          </p:nvSpPr>
          <p:spPr>
            <a:xfrm>
              <a:off x="8297125" y="4792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3"/>
            <p:cNvSpPr/>
            <p:nvPr/>
          </p:nvSpPr>
          <p:spPr>
            <a:xfrm>
              <a:off x="8162400" y="25957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3"/>
            <p:cNvSpPr/>
            <p:nvPr/>
          </p:nvSpPr>
          <p:spPr>
            <a:xfrm>
              <a:off x="370975" y="28529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3"/>
            <p:cNvSpPr/>
            <p:nvPr/>
          </p:nvSpPr>
          <p:spPr>
            <a:xfrm>
              <a:off x="558300" y="38566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3"/>
            <p:cNvSpPr/>
            <p:nvPr/>
          </p:nvSpPr>
          <p:spPr>
            <a:xfrm>
              <a:off x="3149100" y="45400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3"/>
            <p:cNvSpPr/>
            <p:nvPr/>
          </p:nvSpPr>
          <p:spPr>
            <a:xfrm>
              <a:off x="872400" y="15201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3"/>
            <p:cNvSpPr/>
            <p:nvPr/>
          </p:nvSpPr>
          <p:spPr>
            <a:xfrm>
              <a:off x="5667375" y="4219575"/>
              <a:ext cx="279300" cy="3021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343"/>
        <p:cNvGrpSpPr/>
        <p:nvPr/>
      </p:nvGrpSpPr>
      <p:grpSpPr>
        <a:xfrm>
          <a:off x="0" y="0"/>
          <a:ext cx="0" cy="0"/>
          <a:chOff x="0" y="0"/>
          <a:chExt cx="0" cy="0"/>
        </a:xfrm>
      </p:grpSpPr>
      <p:pic>
        <p:nvPicPr>
          <p:cNvPr id="344" name="Google Shape;344;p26"/>
          <p:cNvPicPr preferRelativeResize="0"/>
          <p:nvPr/>
        </p:nvPicPr>
        <p:blipFill rotWithShape="1">
          <a:blip r:embed="rId2">
            <a:alphaModFix/>
          </a:blip>
          <a:srcRect l="7607" r="12901" b="18526"/>
          <a:stretch/>
        </p:blipFill>
        <p:spPr>
          <a:xfrm flipH="1">
            <a:off x="-47100" y="-26550"/>
            <a:ext cx="9238200" cy="5196600"/>
          </a:xfrm>
          <a:prstGeom prst="rect">
            <a:avLst/>
          </a:prstGeom>
          <a:noFill/>
          <a:ln>
            <a:noFill/>
          </a:ln>
        </p:spPr>
      </p:pic>
      <p:sp>
        <p:nvSpPr>
          <p:cNvPr id="345" name="Google Shape;345;p26"/>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6" name="Google Shape;346;p26"/>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7" name="Google Shape;347;p26"/>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8" name="Google Shape;348;p26"/>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9" name="Google Shape;349;p26"/>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0" name="Google Shape;350;p26"/>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1" name="Google Shape;351;p26"/>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2" name="Google Shape;352;p26"/>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3" name="Google Shape;353;p26"/>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4" name="Google Shape;354;p26"/>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5" name="Google Shape;355;p26"/>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6" name="Google Shape;356;p26"/>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7" name="Google Shape;357;p26"/>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six columns 1">
  <p:cSld name="BLANK_1_1_1_1_1_2">
    <p:spTree>
      <p:nvGrpSpPr>
        <p:cNvPr id="1" name="Shape 358"/>
        <p:cNvGrpSpPr/>
        <p:nvPr/>
      </p:nvGrpSpPr>
      <p:grpSpPr>
        <a:xfrm>
          <a:off x="0" y="0"/>
          <a:ext cx="0" cy="0"/>
          <a:chOff x="0" y="0"/>
          <a:chExt cx="0" cy="0"/>
        </a:xfrm>
      </p:grpSpPr>
      <p:pic>
        <p:nvPicPr>
          <p:cNvPr id="359" name="Google Shape;359;p27"/>
          <p:cNvPicPr preferRelativeResize="0"/>
          <p:nvPr/>
        </p:nvPicPr>
        <p:blipFill>
          <a:blip r:embed="rId2">
            <a:alphaModFix/>
          </a:blip>
          <a:stretch>
            <a:fillRect/>
          </a:stretch>
        </p:blipFill>
        <p:spPr>
          <a:xfrm>
            <a:off x="-67401" y="-37913"/>
            <a:ext cx="9278802" cy="5219326"/>
          </a:xfrm>
          <a:prstGeom prst="rect">
            <a:avLst/>
          </a:prstGeom>
          <a:noFill/>
          <a:ln>
            <a:noFill/>
          </a:ln>
        </p:spPr>
      </p:pic>
      <p:sp>
        <p:nvSpPr>
          <p:cNvPr id="360" name="Google Shape;360;p27"/>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1" name="Google Shape;361;p27"/>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2" name="Google Shape;362;p27"/>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3" name="Google Shape;363;p27"/>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4" name="Google Shape;364;p27"/>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5" name="Google Shape;365;p27"/>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6" name="Google Shape;366;p27"/>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7" name="Google Shape;367;p27"/>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8" name="Google Shape;368;p27"/>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9" name="Google Shape;369;p27"/>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0" name="Google Shape;370;p27"/>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71" name="Google Shape;371;p27"/>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2" name="Google Shape;372;p27"/>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73" name="Google Shape;373;p27"/>
          <p:cNvGrpSpPr/>
          <p:nvPr/>
        </p:nvGrpSpPr>
        <p:grpSpPr>
          <a:xfrm>
            <a:off x="555250" y="403007"/>
            <a:ext cx="8306250" cy="4340393"/>
            <a:chOff x="555250" y="403007"/>
            <a:chExt cx="8306250" cy="4340393"/>
          </a:xfrm>
        </p:grpSpPr>
        <p:sp>
          <p:nvSpPr>
            <p:cNvPr id="374" name="Google Shape;374;p27"/>
            <p:cNvSpPr/>
            <p:nvPr/>
          </p:nvSpPr>
          <p:spPr>
            <a:xfrm>
              <a:off x="1662625" y="40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7"/>
            <p:cNvSpPr/>
            <p:nvPr/>
          </p:nvSpPr>
          <p:spPr>
            <a:xfrm>
              <a:off x="3182550" y="1913400"/>
              <a:ext cx="158400" cy="19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7"/>
            <p:cNvSpPr/>
            <p:nvPr/>
          </p:nvSpPr>
          <p:spPr>
            <a:xfrm>
              <a:off x="555250" y="1012050"/>
              <a:ext cx="158400" cy="19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7"/>
            <p:cNvSpPr/>
            <p:nvPr/>
          </p:nvSpPr>
          <p:spPr>
            <a:xfrm>
              <a:off x="749000" y="3606200"/>
              <a:ext cx="278100" cy="34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7"/>
            <p:cNvSpPr/>
            <p:nvPr/>
          </p:nvSpPr>
          <p:spPr>
            <a:xfrm>
              <a:off x="7764100" y="692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7"/>
            <p:cNvSpPr/>
            <p:nvPr/>
          </p:nvSpPr>
          <p:spPr>
            <a:xfrm>
              <a:off x="8655100" y="223023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7"/>
            <p:cNvSpPr/>
            <p:nvPr/>
          </p:nvSpPr>
          <p:spPr>
            <a:xfrm>
              <a:off x="8545900" y="3880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7"/>
            <p:cNvSpPr/>
            <p:nvPr/>
          </p:nvSpPr>
          <p:spPr>
            <a:xfrm>
              <a:off x="2924725" y="460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5" r:id="rId6"/>
    <p:sldLayoutId id="2147483658" r:id="rId7"/>
    <p:sldLayoutId id="2147483659" r:id="rId8"/>
    <p:sldLayoutId id="2147483660" r:id="rId9"/>
    <p:sldLayoutId id="2147483661" r:id="rId10"/>
    <p:sldLayoutId id="2147483662" r:id="rId11"/>
    <p:sldLayoutId id="2147483663" r:id="rId12"/>
    <p:sldLayoutId id="2147483665" r:id="rId13"/>
    <p:sldLayoutId id="2147483667" r:id="rId14"/>
    <p:sldLayoutId id="2147483668" r:id="rId15"/>
    <p:sldLayoutId id="2147483669" r:id="rId16"/>
    <p:sldLayoutId id="2147483671" r:id="rId17"/>
    <p:sldLayoutId id="2147483672" r:id="rId18"/>
    <p:sldLayoutId id="2147483673" r:id="rId19"/>
    <p:sldLayoutId id="2147483676" r:id="rId20"/>
    <p:sldLayoutId id="2147483681"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7.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5.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9.xm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719999" y="0"/>
            <a:ext cx="7704000" cy="440700"/>
          </a:xfrm>
        </p:spPr>
        <p:txBody>
          <a:bodyPr/>
          <a:lstStyle/>
          <a:p>
            <a:r>
              <a:rPr lang="en-US" dirty="0" smtClean="0"/>
              <a:t>Architectural Diagram</a:t>
            </a: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5029" y="571016"/>
            <a:ext cx="6573941" cy="43945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212053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2271795063"/>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graphicFrame>
        <p:nvGraphicFramePr>
          <p:cNvPr id="715" name="Google Shape;715;p54"/>
          <p:cNvGraphicFramePr/>
          <p:nvPr>
            <p:extLst>
              <p:ext uri="{D42A27DB-BD31-4B8C-83A1-F6EECF244321}">
                <p14:modId xmlns:p14="http://schemas.microsoft.com/office/powerpoint/2010/main" val="258681429"/>
              </p:ext>
            </p:extLst>
          </p:nvPr>
        </p:nvGraphicFramePr>
        <p:xfrm>
          <a:off x="0" y="0"/>
          <a:ext cx="9143999" cy="5069840"/>
        </p:xfrm>
        <a:graphic>
          <a:graphicData uri="http://schemas.openxmlformats.org/drawingml/2006/table">
            <a:tbl>
              <a:tblPr>
                <a:noFill/>
                <a:tableStyleId>{D53D5DC3-BA4F-48B7-9C4E-EA5A1AA2C53F}</a:tableStyleId>
              </a:tblPr>
              <a:tblGrid>
                <a:gridCol w="778165">
                  <a:extLst>
                    <a:ext uri="{9D8B030D-6E8A-4147-A177-3AD203B41FA5}">
                      <a16:colId xmlns:a16="http://schemas.microsoft.com/office/drawing/2014/main" val="20001"/>
                    </a:ext>
                  </a:extLst>
                </a:gridCol>
                <a:gridCol w="2970875">
                  <a:extLst>
                    <a:ext uri="{9D8B030D-6E8A-4147-A177-3AD203B41FA5}">
                      <a16:colId xmlns:a16="http://schemas.microsoft.com/office/drawing/2014/main" val="20002"/>
                    </a:ext>
                  </a:extLst>
                </a:gridCol>
                <a:gridCol w="2087571">
                  <a:extLst>
                    <a:ext uri="{9D8B030D-6E8A-4147-A177-3AD203B41FA5}">
                      <a16:colId xmlns:a16="http://schemas.microsoft.com/office/drawing/2014/main" val="2097412225"/>
                    </a:ext>
                  </a:extLst>
                </a:gridCol>
                <a:gridCol w="3307388">
                  <a:extLst>
                    <a:ext uri="{9D8B030D-6E8A-4147-A177-3AD203B41FA5}">
                      <a16:colId xmlns:a16="http://schemas.microsoft.com/office/drawing/2014/main" val="20003"/>
                    </a:ext>
                  </a:extLst>
                </a:gridCol>
              </a:tblGrid>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FR-01-02</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Video Capture &amp; Audio/Frame Sync — Data Ingestion &amp; Preprocessing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/upload route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request.form.getlist</a:t>
                      </a:r>
                      <a:r>
                        <a:rPr lang="en-US" sz="1400" dirty="0" smtClean="0">
                          <a:solidFill>
                            <a:schemeClr val="tx2"/>
                          </a:solidFill>
                          <a:latin typeface="Comic Neue"/>
                          <a:ea typeface="Comic Neue"/>
                          <a:cs typeface="Comic Neue"/>
                          <a:sym typeface="Comic Neue"/>
                        </a:rPr>
                        <a:t>()</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cv2.VideoCapture()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Accepts raw 1–5 minute audition uploads or webcam feeds, extracts 16 kHz audio, and maps synchronized timestamps.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2394386369"/>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FR-03-07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Facial, Vocal &amp; Posture Analysis — Per-Modality Analyzers</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mp.solutions.pose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Executes localized tracking for eye gaze, Ekman-like facial emotions, speech prosody, and gesture matching via the $1 Recognizer.</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5276720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Continuous Stream Slicing — Temporal Action Segmentation</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recognize()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analyze_video</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Segments long video streams into 10 discrete actions, assigning per-segment labels and confidence scores.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77271926"/>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FR-08-09</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Director-Facing Reporting &amp; UI — Scoring Engine &amp; Flask UI</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chart functions</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JSON Report</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VisualizationUtils</a:t>
                      </a:r>
                      <a:r>
                        <a:rPr lang="en-US" sz="1400" dirty="0" smtClean="0">
                          <a:solidFill>
                            <a:schemeClr val="tx2"/>
                          </a:solidFill>
                          <a:latin typeface="Comic Neue"/>
                          <a:ea typeface="Comic Neue"/>
                          <a:cs typeface="Comic Neue"/>
                          <a:sym typeface="Comic Neue"/>
                        </a:rPr>
                        <a:t> </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Aggregates extracted metrics into numeric scores and 1-3 sentence text summaries, visualized on an interactive web dashboard.</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307777932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FR-10</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Experiment &amp; Model Tracking — Evaluation Logging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save_results</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Saves evaluation logs, model versions, and confusion matrices to ensure complete reproducibility.</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57714127"/>
                  </a:ext>
                </a:extLst>
              </a:tr>
            </a:tbl>
          </a:graphicData>
        </a:graphic>
      </p:graphicFrame>
    </p:spTree>
    <p:extLst>
      <p:ext uri="{BB962C8B-B14F-4D97-AF65-F5344CB8AC3E}">
        <p14:creationId xmlns:p14="http://schemas.microsoft.com/office/powerpoint/2010/main" val="323790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 System Overview &amp; Code Format</a:t>
            </a:r>
            <a:endParaRPr/>
          </a:p>
        </p:txBody>
      </p:sp>
      <p:sp>
        <p:nvSpPr>
          <p:cNvPr id="55" name="Google Shape;55;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Code Format:</a:t>
            </a:r>
            <a:r>
              <a:rPr lang="en" sz="1600" dirty="0">
                <a:solidFill>
                  <a:schemeClr val="dk1"/>
                </a:solidFill>
              </a:rPr>
              <a:t> The system is primarily written in Python, utilizing popular machine learning and web frameworks.</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Core Libraries:</a:t>
            </a:r>
            <a:r>
              <a:rPr lang="en" sz="1600" dirty="0">
                <a:solidFill>
                  <a:schemeClr val="dk1"/>
                </a:solidFill>
              </a:rPr>
              <a:t> It relies heavily on Flask for the web interface, OpenCV and MediaPipe for computer vision, DeepFace for emotion detection, and TensorFlow/Keras for deep learning.</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System Use:</a:t>
            </a:r>
            <a:r>
              <a:rPr lang="en" sz="1600" dirty="0">
                <a:solidFill>
                  <a:schemeClr val="dk1"/>
                </a:solidFill>
              </a:rPr>
              <a:t> It is built as an "Acting Performance Assessment System" to provide comprehensive, multi-modal feedback on audition performances.</a:t>
            </a:r>
            <a:endParaRPr sz="1600" dirty="0">
              <a:solidFill>
                <a:schemeClr val="dk1"/>
              </a:solidFill>
            </a:endParaRPr>
          </a:p>
          <a:p>
            <a:pPr marL="0" lvl="0" indent="0" algn="l" rtl="0">
              <a:lnSpc>
                <a:spcPct val="150000"/>
              </a:lnSpc>
              <a:spcBef>
                <a:spcPts val="1200"/>
              </a:spcBef>
              <a:spcAft>
                <a:spcPts val="1200"/>
              </a:spcAft>
              <a:buNone/>
            </a:pPr>
            <a:endParaRPr dirty="0"/>
          </a:p>
        </p:txBody>
      </p:sp>
      <p:pic>
        <p:nvPicPr>
          <p:cNvPr id="5"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6"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941286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Architectural Structure</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0200" algn="l" rtl="0">
              <a:lnSpc>
                <a:spcPct val="150000"/>
              </a:lnSpc>
              <a:spcBef>
                <a:spcPts val="0"/>
              </a:spcBef>
              <a:spcAft>
                <a:spcPts val="0"/>
              </a:spcAft>
              <a:buSzPts val="1600"/>
              <a:buChar char="●"/>
            </a:pPr>
            <a:r>
              <a:rPr lang="en" sz="1600" b="1" dirty="0">
                <a:solidFill>
                  <a:schemeClr val="bg1"/>
                </a:solidFill>
              </a:rPr>
              <a:t>Web Application (</a:t>
            </a:r>
            <a:r>
              <a:rPr lang="en" sz="1600" b="1" dirty="0">
                <a:solidFill>
                  <a:schemeClr val="bg1"/>
                </a:solidFill>
                <a:latin typeface="Roboto Mono"/>
                <a:ea typeface="Roboto Mono"/>
                <a:cs typeface="Roboto Mono"/>
                <a:sym typeface="Roboto Mono"/>
              </a:rPr>
              <a:t>web_app/app.py</a:t>
            </a:r>
            <a:r>
              <a:rPr lang="en" sz="1600" b="1" dirty="0">
                <a:solidFill>
                  <a:schemeClr val="bg1"/>
                </a:solidFill>
              </a:rPr>
              <a:t>):</a:t>
            </a:r>
            <a:r>
              <a:rPr lang="en" sz="1600" dirty="0">
                <a:solidFill>
                  <a:schemeClr val="bg1"/>
                </a:solidFill>
              </a:rPr>
              <a:t> Acts as the user interface and API backend. It manages video uploads, routes users to reports, and visualizes actor comparisons using matplotlib radar and bar charts.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Analysis Layer (</a:t>
            </a:r>
            <a:r>
              <a:rPr lang="en" sz="1600" b="1" dirty="0">
                <a:solidFill>
                  <a:schemeClr val="bg1"/>
                </a:solidFill>
                <a:latin typeface="Roboto Mono"/>
                <a:ea typeface="Roboto Mono"/>
                <a:cs typeface="Roboto Mono"/>
                <a:sym typeface="Roboto Mono"/>
              </a:rPr>
              <a:t>analysis/emotion_analysis.py</a:t>
            </a:r>
            <a:r>
              <a:rPr lang="en" sz="1600" b="1" dirty="0">
                <a:solidFill>
                  <a:schemeClr val="bg1"/>
                </a:solidFill>
              </a:rPr>
              <a:t>):</a:t>
            </a:r>
            <a:r>
              <a:rPr lang="en" sz="1600" dirty="0">
                <a:solidFill>
                  <a:schemeClr val="bg1"/>
                </a:solidFill>
              </a:rPr>
              <a:t> Contains specific modules like the </a:t>
            </a:r>
            <a:r>
              <a:rPr lang="en" sz="1600" dirty="0">
                <a:solidFill>
                  <a:schemeClr val="bg1"/>
                </a:solidFill>
                <a:latin typeface="Roboto Mono"/>
                <a:ea typeface="Roboto Mono"/>
                <a:cs typeface="Roboto Mono"/>
                <a:sym typeface="Roboto Mono"/>
              </a:rPr>
              <a:t>EmotionAnalyzer</a:t>
            </a:r>
            <a:r>
              <a:rPr lang="en" sz="1600" dirty="0">
                <a:solidFill>
                  <a:schemeClr val="bg1"/>
                </a:solidFill>
              </a:rPr>
              <a:t> that extract frame-by-frame data (e.g., analyzing angry, disgust, fear, happy, sad, surprise, and neutral expressions).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Machine Learning Layer (</a:t>
            </a:r>
            <a:r>
              <a:rPr lang="en" sz="1600" b="1" dirty="0">
                <a:solidFill>
                  <a:schemeClr val="bg1"/>
                </a:solidFill>
                <a:latin typeface="Roboto Mono"/>
                <a:ea typeface="Roboto Mono"/>
                <a:cs typeface="Roboto Mono"/>
                <a:sym typeface="Roboto Mono"/>
              </a:rPr>
              <a:t>models/model_trainer.py</a:t>
            </a:r>
            <a:r>
              <a:rPr lang="en" sz="1600" b="1" dirty="0">
                <a:solidFill>
                  <a:schemeClr val="bg1"/>
                </a:solidFill>
              </a:rPr>
              <a:t>):</a:t>
            </a:r>
            <a:r>
              <a:rPr lang="en" sz="1600" dirty="0">
                <a:solidFill>
                  <a:schemeClr val="bg1"/>
                </a:solidFill>
              </a:rPr>
              <a:t> Manages an array of different model architectures. It is responsible for initializing, training, comparing, and saving the models.</a:t>
            </a:r>
            <a:endParaRPr sz="1600" dirty="0">
              <a:solidFill>
                <a:schemeClr val="bg1"/>
              </a:solidFill>
            </a:endParaRPr>
          </a:p>
          <a:p>
            <a:pPr marL="0" lvl="0" indent="0" algn="l" rtl="0">
              <a:lnSpc>
                <a:spcPct val="150000"/>
              </a:lnSpc>
              <a:spcBef>
                <a:spcPts val="1200"/>
              </a:spcBef>
              <a:spcAft>
                <a:spcPts val="1200"/>
              </a:spcAft>
              <a:buNone/>
            </a:pPr>
            <a:endParaRPr dirty="0"/>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216973516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Machine Learning Pipeline &amp; Data Flow</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a:bodyPr>
          <a:lstStyle/>
          <a:p>
            <a:pPr marL="457200" lvl="0" indent="-336550" algn="l" rtl="0">
              <a:lnSpc>
                <a:spcPct val="150000"/>
              </a:lnSpc>
              <a:spcBef>
                <a:spcPts val="0"/>
              </a:spcBef>
              <a:spcAft>
                <a:spcPts val="0"/>
              </a:spcAft>
              <a:buSzPts val="1700"/>
              <a:buChar char="●"/>
            </a:pPr>
            <a:r>
              <a:rPr lang="en" sz="1700" b="1" dirty="0">
                <a:solidFill>
                  <a:schemeClr val="bg1"/>
                </a:solidFill>
              </a:rPr>
              <a:t>Multi-Model Implementation:</a:t>
            </a:r>
            <a:r>
              <a:rPr lang="en" sz="1700" dirty="0">
                <a:solidFill>
                  <a:schemeClr val="bg1"/>
                </a:solidFill>
              </a:rPr>
              <a:t> The code structurally supports 8 distinct machine learning models: CNN-LSTM, LSTM, BiLSTM, GRU, RNN, CNN-RNN, Keras DNN, and PyCaret (Classical ML).</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Data Reshaping:</a:t>
            </a:r>
            <a:r>
              <a:rPr lang="en" sz="1700" dirty="0">
                <a:solidFill>
                  <a:schemeClr val="bg1"/>
                </a:solidFill>
              </a:rPr>
              <a:t> Sequence models are structured to automatically reshape flat input data (e.g., transforming features into a </a:t>
            </a:r>
            <a:r>
              <a:rPr lang="en" sz="1700" dirty="0">
                <a:solidFill>
                  <a:schemeClr val="bg1"/>
                </a:solidFill>
                <a:latin typeface="Roboto Mono"/>
                <a:ea typeface="Roboto Mono"/>
                <a:cs typeface="Roboto Mono"/>
                <a:sym typeface="Roboto Mono"/>
              </a:rPr>
              <a:t>(1, features)</a:t>
            </a:r>
            <a:r>
              <a:rPr lang="en" sz="1700" dirty="0">
                <a:solidFill>
                  <a:schemeClr val="bg1"/>
                </a:solidFill>
              </a:rPr>
              <a:t> sequence shape to simulate timesteps).</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Ensemble Operation:</a:t>
            </a:r>
            <a:r>
              <a:rPr lang="en" sz="1700" dirty="0">
                <a:solidFill>
                  <a:schemeClr val="bg1"/>
                </a:solidFill>
              </a:rPr>
              <a:t> The pipeline includes a mechanism to aggregate the predictions from all valid models using a voting ensemble and weighted probabilities to generate a final result</a:t>
            </a:r>
            <a:r>
              <a:rPr lang="en" sz="1700" dirty="0" smtClean="0">
                <a:solidFill>
                  <a:schemeClr val="bg1"/>
                </a:solidFill>
              </a:rPr>
              <a:t>.</a:t>
            </a:r>
            <a:endParaRPr sz="1700" dirty="0">
              <a:solidFill>
                <a:schemeClr val="bg1"/>
              </a:solidFill>
            </a:endParaRPr>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7266910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3981423" y="545911"/>
            <a:ext cx="4798746" cy="4236921"/>
          </a:xfrm>
          <a:prstGeom prst="rect">
            <a:avLst/>
          </a:prstGeom>
        </p:spPr>
        <p:txBody>
          <a:bodyPr spcFirstLastPara="1" wrap="square" lIns="320025" tIns="91425" rIns="320025" bIns="91425" anchor="ctr" anchorCtr="0">
            <a:noAutofit/>
          </a:bodyPr>
          <a:lstStyle/>
          <a:p>
            <a:pPr marL="285750" lvl="0" indent="-285750" algn="l">
              <a:lnSpc>
                <a:spcPct val="150000"/>
              </a:lnSpc>
              <a:buFont typeface="Arial" panose="020B0604020202020204" pitchFamily="34" charset="0"/>
              <a:buChar char="•"/>
            </a:pPr>
            <a:r>
              <a:rPr lang="en-US" dirty="0">
                <a:solidFill>
                  <a:schemeClr val="lt2"/>
                </a:solidFill>
              </a:rPr>
              <a:t>Unified Feature Extraction Module: Processes raw video and outputs a combined static/temporal data template for training</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Single-Input </a:t>
            </a:r>
            <a:r>
              <a:rPr lang="en-US" dirty="0">
                <a:solidFill>
                  <a:schemeClr val="lt2"/>
                </a:solidFill>
              </a:rPr>
              <a:t>Inference Engine: Houses 8 sequence-modeling architectures (CNN, RNN, LSTM variants) currently configured to process the unified data format</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Diagnostic </a:t>
            </a:r>
            <a:r>
              <a:rPr lang="en-US" dirty="0">
                <a:solidFill>
                  <a:schemeClr val="lt2"/>
                </a:solidFill>
              </a:rPr>
              <a:t>&amp; Reporting Module: Generates the performance matrices (Precision, Recall, F1) that highlighted the limitations of the unified input approach.</a:t>
            </a:r>
            <a:endParaRPr dirty="0">
              <a:solidFill>
                <a:schemeClr val="lt2"/>
              </a:solidFill>
            </a:endParaRPr>
          </a:p>
        </p:txBody>
      </p:sp>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3">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4">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5">
            <a:alphaModFix/>
          </a:blip>
          <a:stretch>
            <a:fillRect/>
          </a:stretch>
        </p:blipFill>
        <p:spPr>
          <a:xfrm rot="-1041134">
            <a:off x="1421850" y="1368050"/>
            <a:ext cx="206400" cy="1440019"/>
          </a:xfrm>
          <a:prstGeom prst="rect">
            <a:avLst/>
          </a:prstGeom>
          <a:noFill/>
          <a:ln>
            <a:noFill/>
          </a:ln>
        </p:spPr>
      </p:pic>
      <p:sp>
        <p:nvSpPr>
          <p:cNvPr id="8" name="Title 1"/>
          <p:cNvSpPr>
            <a:spLocks noGrp="1"/>
          </p:cNvSpPr>
          <p:nvPr>
            <p:ph type="title"/>
          </p:nvPr>
        </p:nvSpPr>
        <p:spPr>
          <a:xfrm>
            <a:off x="209342" y="48020"/>
            <a:ext cx="3721213" cy="572700"/>
          </a:xfrm>
        </p:spPr>
        <p:txBody>
          <a:bodyPr>
            <a:noAutofit/>
          </a:bodyPr>
          <a:lstStyle/>
          <a:p>
            <a:pPr algn="l"/>
            <a:r>
              <a:rPr lang="en-US" sz="2800" dirty="0" smtClean="0">
                <a:solidFill>
                  <a:schemeClr val="tx1"/>
                </a:solidFill>
              </a:rPr>
              <a:t>Core Modules:</a:t>
            </a:r>
            <a:endParaRPr sz="2800" dirty="0">
              <a:solidFill>
                <a:schemeClr val="tx1"/>
              </a:solidFill>
            </a:endParaRPr>
          </a:p>
        </p:txBody>
      </p:sp>
      <p:pic>
        <p:nvPicPr>
          <p:cNvPr id="9" name="Google Shape;642;p45"/>
          <p:cNvPicPr preferRelativeResize="0"/>
          <p:nvPr/>
        </p:nvPicPr>
        <p:blipFill>
          <a:blip r:embed="rId6">
            <a:alphaModFix/>
          </a:blip>
          <a:stretch>
            <a:fillRect/>
          </a:stretch>
        </p:blipFill>
        <p:spPr>
          <a:xfrm rot="20848251">
            <a:off x="1895982" y="1082334"/>
            <a:ext cx="1910474" cy="1353834"/>
          </a:xfrm>
          <a:prstGeom prst="rect">
            <a:avLst/>
          </a:prstGeom>
          <a:noFill/>
          <a:ln>
            <a:noFill/>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2772204352"/>
              </p:ext>
            </p:extLst>
          </p:nvPr>
        </p:nvGraphicFramePr>
        <p:xfrm>
          <a:off x="182880" y="1371069"/>
          <a:ext cx="8390085" cy="2822545"/>
        </p:xfrm>
        <a:graphic>
          <a:graphicData uri="http://schemas.openxmlformats.org/drawingml/2006/table">
            <a:tbl>
              <a:tblPr>
                <a:noFill/>
                <a:tableStyleId>{D53D5DC3-BA4F-48B7-9C4E-EA5A1AA2C53F}</a:tableStyleId>
              </a:tblPr>
              <a:tblGrid>
                <a:gridCol w="1905000">
                  <a:extLst>
                    <a:ext uri="{9D8B030D-6E8A-4147-A177-3AD203B41FA5}">
                      <a16:colId xmlns:a16="http://schemas.microsoft.com/office/drawing/2014/main" val="20000"/>
                    </a:ext>
                  </a:extLst>
                </a:gridCol>
                <a:gridCol w="1703659">
                  <a:extLst>
                    <a:ext uri="{9D8B030D-6E8A-4147-A177-3AD203B41FA5}">
                      <a16:colId xmlns:a16="http://schemas.microsoft.com/office/drawing/2014/main" val="20001"/>
                    </a:ext>
                  </a:extLst>
                </a:gridCol>
                <a:gridCol w="1425392">
                  <a:extLst>
                    <a:ext uri="{9D8B030D-6E8A-4147-A177-3AD203B41FA5}">
                      <a16:colId xmlns:a16="http://schemas.microsoft.com/office/drawing/2014/main" val="20002"/>
                    </a:ext>
                  </a:extLst>
                </a:gridCol>
                <a:gridCol w="3356034">
                  <a:extLst>
                    <a:ext uri="{9D8B030D-6E8A-4147-A177-3AD203B41FA5}">
                      <a16:colId xmlns:a16="http://schemas.microsoft.com/office/drawing/2014/main" val="20003"/>
                    </a:ext>
                  </a:extLst>
                </a:gridCol>
              </a:tblGrid>
              <a:tr h="521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Processing</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Structured 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81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720000" y="897425"/>
            <a:ext cx="7704000" cy="398182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Font typeface="Wingdings" panose="05000000000000000000" pitchFamily="2" charset="2"/>
              <a:buChar char="v"/>
            </a:pPr>
            <a:r>
              <a:rPr lang="en-US" sz="1600" dirty="0" smtClean="0"/>
              <a:t>MediaPipe:</a:t>
            </a:r>
          </a:p>
          <a:p>
            <a:pPr lvl="1" indent="-304800">
              <a:buSzPts val="1200"/>
              <a:buFont typeface="Arial" panose="020B0604020202020204" pitchFamily="34" charset="0"/>
              <a:buChar char="•"/>
            </a:pPr>
            <a:r>
              <a:rPr lang="en-US" sz="1600" dirty="0"/>
              <a:t>Tracking Engine: MediaPipe serves as the foundation, detecting up to 2 hands per frame and mapping facial topology.</a:t>
            </a:r>
          </a:p>
          <a:p>
            <a:pPr lvl="1" indent="-304800">
              <a:buSzPts val="1200"/>
              <a:buFont typeface="Arial" panose="020B0604020202020204" pitchFamily="34" charset="0"/>
              <a:buChar char="•"/>
            </a:pPr>
            <a:r>
              <a:rPr lang="en-US" sz="1600" dirty="0"/>
              <a:t>Recognition Method: Uses custom 3D Landmark Heuristics rather than a generic $1 Recognizer, extracting 21 specific coordinates per hand to verify gestures geometrically (e.g., checking if </a:t>
            </a:r>
            <a:r>
              <a:rPr lang="en-US" sz="1600" dirty="0" err="1"/>
              <a:t>thumb_tip_y</a:t>
            </a:r>
            <a:r>
              <a:rPr lang="en-US" sz="1600" dirty="0"/>
              <a:t> &lt; </a:t>
            </a:r>
            <a:r>
              <a:rPr lang="en-US" sz="1600" dirty="0" err="1"/>
              <a:t>thumb_ip_y</a:t>
            </a:r>
            <a:r>
              <a:rPr lang="en-US" sz="1600" dirty="0"/>
              <a:t> for a Thumb Up</a:t>
            </a:r>
            <a:r>
              <a:rPr lang="en-US" sz="1600" dirty="0" smtClean="0"/>
              <a:t>).</a:t>
            </a:r>
            <a:endParaRPr lang="en-US" sz="1600" dirty="0"/>
          </a:p>
          <a:p>
            <a:pPr lvl="1" indent="-304800">
              <a:buSzPts val="1200"/>
              <a:buFont typeface="Arial" panose="020B0604020202020204" pitchFamily="34" charset="0"/>
              <a:buChar char="•"/>
            </a:pPr>
            <a:r>
              <a:rPr lang="en-US" sz="1600" dirty="0"/>
              <a:t>Gesture Scoring Equation: Performance is calculated by combining gesture variety and accuracy: Score = min(Unique Gestures / 5, 1.0) * 0.4 + (Gesture Accuracy) * 0.6</a:t>
            </a:r>
            <a:r>
              <a:rPr lang="en-US" sz="1600" dirty="0" smtClean="0"/>
              <a:t>.</a:t>
            </a:r>
          </a:p>
          <a:p>
            <a:pPr lvl="1" indent="-304800">
              <a:buSzPts val="1200"/>
              <a:buFont typeface="Arial" panose="020B0604020202020204" pitchFamily="34" charset="0"/>
              <a:buChar char="•"/>
            </a:pPr>
            <a:r>
              <a:rPr lang="en-US" sz="1600" dirty="0" smtClean="0"/>
              <a:t>Normalizing equation to improve consistency: </a:t>
            </a:r>
          </a:p>
          <a:p>
            <a:pPr lvl="2" indent="-304800">
              <a:buSzPts val="1200"/>
              <a:buFont typeface="Arial" panose="020B0604020202020204" pitchFamily="34" charset="0"/>
              <a:buChar char="•"/>
            </a:pPr>
            <a:r>
              <a:rPr lang="en-US" sz="1600" dirty="0"/>
              <a:t>Normalized x = Actual x (pixel) / Image Width</a:t>
            </a:r>
          </a:p>
          <a:p>
            <a:pPr lvl="2" indent="-304800">
              <a:buSzPts val="1200"/>
              <a:buFont typeface="Arial" panose="020B0604020202020204" pitchFamily="34" charset="0"/>
              <a:buChar char="•"/>
            </a:pPr>
            <a:r>
              <a:rPr lang="en-US" sz="1600" dirty="0"/>
              <a:t>Normalized y = Actual y (pixel) / Image </a:t>
            </a:r>
            <a:r>
              <a:rPr lang="en-US" sz="1600" dirty="0" smtClean="0"/>
              <a:t>Height</a:t>
            </a:r>
          </a:p>
          <a:p>
            <a:pPr lvl="1" indent="-304800">
              <a:buSzPts val="1200"/>
              <a:buFont typeface="Arial" panose="020B0604020202020204" pitchFamily="34" charset="0"/>
              <a:buChar char="•"/>
            </a:pPr>
            <a:r>
              <a:rPr lang="en-US" sz="1600" dirty="0"/>
              <a:t>Used in the </a:t>
            </a:r>
            <a:r>
              <a:rPr lang="en-US" sz="1600" b="1" dirty="0"/>
              <a:t>Detection Layer</a:t>
            </a:r>
            <a:r>
              <a:rPr lang="en-US" sz="1600" dirty="0"/>
              <a:t>.</a:t>
            </a:r>
            <a:endParaRPr lang="en-US" sz="1600" dirty="0" smtClean="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mc:AlternateContent xmlns:mc="http://schemas.openxmlformats.org/markup-compatibility/2006">
        <mc:Choice xmlns:a14="http://schemas.microsoft.com/office/drawing/2010/main" Requires="a14">
          <p:sp>
            <p:nvSpPr>
              <p:cNvPr id="5" name="Google Shape;445;p35"/>
              <p:cNvSpPr txBox="1">
                <a:spLocks noGrp="1"/>
              </p:cNvSpPr>
              <p:nvPr>
                <p:ph type="body" idx="1"/>
              </p:nvPr>
            </p:nvSpPr>
            <p:spPr>
              <a:xfrm>
                <a:off x="836799" y="1091735"/>
                <a:ext cx="6853714" cy="3371083"/>
              </a:xfrm>
              <a:prstGeom prst="rect">
                <a:avLst/>
              </a:prstGeom>
            </p:spPr>
            <p:txBody>
              <a:bodyPr spcFirstLastPara="1" wrap="square" lIns="91425" tIns="91425" rIns="91425" bIns="91425" anchor="t" anchorCtr="0">
                <a:noAutofit/>
              </a:bodyPr>
              <a:lstStyle/>
              <a:p>
                <a:pPr marL="457200" lvl="0" indent="-304800" algn="l" rtl="0">
                  <a:lnSpc>
                    <a:spcPct val="150000"/>
                  </a:lnSpc>
                  <a:spcBef>
                    <a:spcPts val="0"/>
                  </a:spcBef>
                  <a:spcAft>
                    <a:spcPts val="0"/>
                  </a:spcAft>
                  <a:buSzPts val="1200"/>
                  <a:buFont typeface="Wingdings" panose="05000000000000000000" pitchFamily="2" charset="2"/>
                  <a:buChar char="v"/>
                </a:pPr>
                <a:r>
                  <a:rPr lang="en-US" sz="1600" dirty="0" smtClean="0"/>
                  <a:t>1$ Recognizer:</a:t>
                </a:r>
              </a:p>
              <a:p>
                <a:pPr marL="895350" lvl="1" indent="-285750">
                  <a:lnSpc>
                    <a:spcPct val="150000"/>
                  </a:lnSpc>
                  <a:buSzPts val="1200"/>
                  <a:buFont typeface="Arial" panose="020B0604020202020204" pitchFamily="34" charset="0"/>
                  <a:buChar char="•"/>
                </a:pPr>
                <a:r>
                  <a:rPr lang="en-US" sz="1600" dirty="0" smtClean="0"/>
                  <a:t>Lightweight gestur</a:t>
                </a:r>
                <a:r>
                  <a:rPr lang="en-US" sz="1600" dirty="0" smtClean="0"/>
                  <a:t>e classification.</a:t>
                </a:r>
              </a:p>
              <a:p>
                <a:pPr marL="895350" lvl="1" indent="-285750">
                  <a:lnSpc>
                    <a:spcPct val="150000"/>
                  </a:lnSpc>
                  <a:buSzPts val="1200"/>
                  <a:buFont typeface="Arial" panose="020B0604020202020204" pitchFamily="34" charset="0"/>
                  <a:buChar char="•"/>
                </a:pPr>
                <a:r>
                  <a:rPr lang="en-US" sz="1600" dirty="0"/>
                  <a:t>The gesture recognition algorithm compares gesture shapes using distance matching</a:t>
                </a:r>
                <a:r>
                  <a:rPr lang="en-US" sz="1600" dirty="0" smtClean="0"/>
                  <a:t>.</a:t>
                </a:r>
              </a:p>
              <a:p>
                <a:pPr marL="895350" lvl="1" indent="-285750">
                  <a:lnSpc>
                    <a:spcPct val="150000"/>
                  </a:lnSpc>
                  <a:buSzPts val="120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𝑑</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𝐶</m:t>
                        </m:r>
                        <m:r>
                          <a:rPr lang="en-US" sz="1600" b="0" i="1" smtClean="0">
                            <a:latin typeface="Cambria Math" panose="02040503050406030204" pitchFamily="18" charset="0"/>
                          </a:rPr>
                          <m:t>, </m:t>
                        </m:r>
                        <m:r>
                          <a:rPr lang="en-US" sz="1600" b="0" i="1" smtClean="0">
                            <a:latin typeface="Cambria Math" panose="02040503050406030204" pitchFamily="18" charset="0"/>
                          </a:rPr>
                          <m:t>𝑇</m:t>
                        </m:r>
                      </m:e>
                    </m:d>
                    <m:r>
                      <a:rPr lang="en-US" sz="1600" b="0" i="1" smtClean="0">
                        <a:latin typeface="Cambria Math" panose="02040503050406030204" pitchFamily="18" charset="0"/>
                      </a:rPr>
                      <m:t>= </m:t>
                    </m:r>
                    <m:f>
                      <m:fPr>
                        <m:ctrlPr>
                          <a:rPr lang="en-US" sz="1600" b="0" i="1" smtClean="0">
                            <a:latin typeface="Cambria Math" panose="02040503050406030204" pitchFamily="18" charset="0"/>
                          </a:rPr>
                        </m:ctrlPr>
                      </m:fPr>
                      <m:num>
                        <m:nary>
                          <m:naryPr>
                            <m:chr m:val="∑"/>
                            <m:limLoc m:val="subSup"/>
                            <m:ctrlPr>
                              <a:rPr lang="en-US" sz="1600" b="0" i="1" smtClean="0">
                                <a:latin typeface="Cambria Math" panose="02040503050406030204" pitchFamily="18" charset="0"/>
                              </a:rPr>
                            </m:ctrlPr>
                          </m:naryPr>
                          <m:sub>
                            <m:r>
                              <m:rPr>
                                <m:brk m:alnAt="25"/>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rad>
                              <m:radPr>
                                <m:degHide m:val="on"/>
                                <m:ctrlPr>
                                  <a:rPr lang="en-US" sz="1600" b="0" i="1" smtClean="0">
                                    <a:latin typeface="Cambria Math" panose="02040503050406030204" pitchFamily="18" charset="0"/>
                                  </a:rPr>
                                </m:ctrlPr>
                              </m:radPr>
                              <m:deg/>
                              <m:e>
                                <m:sSup>
                                  <m:sSupPr>
                                    <m:ctrlPr>
                                      <a:rPr lang="en-US" sz="1600" b="0" i="1" smtClean="0">
                                        <a:latin typeface="Cambria Math" panose="02040503050406030204" pitchFamily="18" charset="0"/>
                                      </a:rPr>
                                    </m:ctrlPr>
                                  </m:sSupPr>
                                  <m:e>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e>
                            </m:rad>
                          </m:e>
                        </m:nary>
                      </m:num>
                      <m:den>
                        <m:r>
                          <a:rPr lang="en-US" sz="1600" b="0" i="1" smtClean="0">
                            <a:latin typeface="Cambria Math" panose="02040503050406030204" pitchFamily="18" charset="0"/>
                          </a:rPr>
                          <m:t>𝑛</m:t>
                        </m:r>
                      </m:den>
                    </m:f>
                  </m:oMath>
                </a14:m>
                <a:endParaRPr lang="en-US" sz="1600" dirty="0" smtClean="0"/>
              </a:p>
              <a:p>
                <a:pPr marL="895350" lvl="1" indent="-285750">
                  <a:lnSpc>
                    <a:spcPct val="150000"/>
                  </a:lnSpc>
                  <a:buSzPts val="1200"/>
                  <a:buFont typeface="Arial" panose="020B0604020202020204" pitchFamily="34" charset="0"/>
                  <a:buChar char="•"/>
                </a:pPr>
                <a:r>
                  <a:rPr lang="en-US" sz="1600" dirty="0"/>
                  <a:t>Lower distance means higher similarity between gestures.</a:t>
                </a:r>
              </a:p>
              <a:p>
                <a:pPr marL="895350" lvl="1" indent="-285750">
                  <a:lnSpc>
                    <a:spcPct val="150000"/>
                  </a:lnSpc>
                  <a:buSzPts val="1200"/>
                  <a:buFont typeface="Arial" panose="020B0604020202020204" pitchFamily="34" charset="0"/>
                  <a:buChar char="•"/>
                </a:pPr>
                <a:r>
                  <a:rPr lang="en-US" sz="1600" dirty="0"/>
                  <a:t>Used in the </a:t>
                </a:r>
                <a:r>
                  <a:rPr lang="en-US" sz="1600" b="1" dirty="0"/>
                  <a:t>Classification </a:t>
                </a:r>
                <a:r>
                  <a:rPr lang="en-US" sz="1600" b="1" dirty="0" smtClean="0"/>
                  <a:t>Layer</a:t>
                </a:r>
              </a:p>
            </p:txBody>
          </p:sp>
        </mc:Choice>
        <mc:Fallback>
          <p:sp>
            <p:nvSpPr>
              <p:cNvPr id="5" name="Google Shape;445;p35"/>
              <p:cNvSpPr txBox="1">
                <a:spLocks noGrp="1" noRot="1" noChangeAspect="1" noMove="1" noResize="1" noEditPoints="1" noAdjustHandles="1" noChangeArrowheads="1" noChangeShapeType="1" noTextEdit="1"/>
              </p:cNvSpPr>
              <p:nvPr>
                <p:ph type="body" idx="1"/>
              </p:nvPr>
            </p:nvSpPr>
            <p:spPr>
              <a:xfrm>
                <a:off x="836799" y="1091735"/>
                <a:ext cx="6853714" cy="337108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1316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 name="Google Shape;445;p35"/>
          <p:cNvSpPr txBox="1">
            <a:spLocks/>
          </p:cNvSpPr>
          <p:nvPr/>
        </p:nvSpPr>
        <p:spPr>
          <a:xfrm>
            <a:off x="385629" y="718696"/>
            <a:ext cx="8267052" cy="411090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1"/>
              </a:buClr>
              <a:buSzPts val="1200"/>
              <a:buFont typeface="Comic Neue"/>
              <a:buAutoNum type="arabicPeriod"/>
              <a:defRPr sz="12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9pPr>
          </a:lstStyle>
          <a:p>
            <a:pPr>
              <a:lnSpc>
                <a:spcPct val="150000"/>
              </a:lnSpc>
              <a:buFont typeface="Wingdings" panose="05000000000000000000" pitchFamily="2" charset="2"/>
              <a:buChar char="v"/>
            </a:pPr>
            <a:r>
              <a:rPr lang="en-US" sz="1600" dirty="0" smtClean="0"/>
              <a:t>Machine Learning &amp; AI Ensemble:</a:t>
            </a:r>
          </a:p>
          <a:p>
            <a:pPr marL="895350" lvl="1" indent="-285750">
              <a:lnSpc>
                <a:spcPct val="150000"/>
              </a:lnSpc>
              <a:buSzPts val="1200"/>
              <a:buFont typeface="Arial" panose="020B0604020202020204" pitchFamily="34" charset="0"/>
              <a:buChar char="•"/>
            </a:pPr>
            <a:r>
              <a:rPr lang="en-US" sz="1600" dirty="0"/>
              <a:t>Model Architecture: Built on </a:t>
            </a:r>
            <a:r>
              <a:rPr lang="en-US" sz="1600" dirty="0" err="1"/>
              <a:t>TensorFlow</a:t>
            </a:r>
            <a:r>
              <a:rPr lang="en-US" sz="1600" dirty="0"/>
              <a:t>, </a:t>
            </a:r>
            <a:r>
              <a:rPr lang="en-US" sz="1600" dirty="0" err="1"/>
              <a:t>Keras</a:t>
            </a:r>
            <a:r>
              <a:rPr lang="en-US" sz="1600" dirty="0"/>
              <a:t>, and </a:t>
            </a:r>
            <a:r>
              <a:rPr lang="en-US" sz="1600" dirty="0" err="1"/>
              <a:t>PyCaret</a:t>
            </a:r>
            <a:r>
              <a:rPr lang="en-US" sz="1600" dirty="0"/>
              <a:t>, actively managing 8 distinct models that reshape flat data into 3D sequences (samples, 1, features) to simulate timelines.</a:t>
            </a:r>
          </a:p>
          <a:p>
            <a:pPr marL="895350" lvl="1" indent="-285750">
              <a:lnSpc>
                <a:spcPct val="150000"/>
              </a:lnSpc>
              <a:buSzPts val="1200"/>
              <a:buFont typeface="Arial" panose="020B0604020202020204" pitchFamily="34" charset="0"/>
              <a:buChar char="•"/>
            </a:pPr>
            <a:r>
              <a:rPr lang="en-US" sz="1600" dirty="0"/>
              <a:t>Ensemble Integration: Combines individual model predictions using a weighted probability average (</a:t>
            </a:r>
            <a:r>
              <a:rPr lang="en-US" sz="1600" dirty="0" err="1"/>
              <a:t>weighted_proba</a:t>
            </a:r>
            <a:r>
              <a:rPr lang="en-US" sz="1600" dirty="0"/>
              <a:t> += weight * </a:t>
            </a:r>
            <a:r>
              <a:rPr lang="en-US" sz="1600" dirty="0" err="1"/>
              <a:t>proba</a:t>
            </a:r>
            <a:r>
              <a:rPr lang="en-US" sz="1600" dirty="0"/>
              <a:t>) and a mathematical Voting System (</a:t>
            </a:r>
            <a:r>
              <a:rPr lang="en-US" sz="1600" dirty="0" err="1"/>
              <a:t>np.bincount</a:t>
            </a:r>
            <a:r>
              <a:rPr lang="en-US" sz="1600" dirty="0"/>
              <a:t>(</a:t>
            </a:r>
            <a:r>
              <a:rPr lang="en-US" sz="1600" dirty="0" err="1"/>
              <a:t>x.astype</a:t>
            </a:r>
            <a:r>
              <a:rPr lang="en-US" sz="1600" dirty="0"/>
              <a:t>(</a:t>
            </a:r>
            <a:r>
              <a:rPr lang="en-US" sz="1600" dirty="0" err="1"/>
              <a:t>int</a:t>
            </a:r>
            <a:r>
              <a:rPr lang="en-US" sz="1600" dirty="0"/>
              <a:t>)).</a:t>
            </a:r>
            <a:r>
              <a:rPr lang="en-US" sz="1600" dirty="0" err="1"/>
              <a:t>argmax</a:t>
            </a:r>
            <a:r>
              <a:rPr lang="en-US" sz="1600" dirty="0"/>
              <a:t>()).</a:t>
            </a:r>
          </a:p>
          <a:p>
            <a:pPr marL="895350" lvl="1" indent="-285750">
              <a:lnSpc>
                <a:spcPct val="150000"/>
              </a:lnSpc>
              <a:buSzPts val="1200"/>
              <a:buFont typeface="Arial" panose="020B0604020202020204" pitchFamily="34" charset="0"/>
              <a:buChar char="•"/>
            </a:pPr>
            <a:r>
              <a:rPr lang="en-US" sz="1600" dirty="0"/>
              <a:t>Emotion Performance Metric: Quantifies acting quality mathematically based on the rule that more emotional variation equals better acting: </a:t>
            </a:r>
            <a:endParaRPr lang="en-US" sz="1600" dirty="0" smtClean="0"/>
          </a:p>
          <a:p>
            <a:pPr marL="1352550" lvl="2" indent="-285750">
              <a:lnSpc>
                <a:spcPct val="150000"/>
              </a:lnSpc>
              <a:buSzPts val="1200"/>
              <a:buFont typeface="Arial" panose="020B0604020202020204" pitchFamily="34" charset="0"/>
              <a:buChar char="•"/>
            </a:pPr>
            <a:r>
              <a:rPr lang="en-US" dirty="0" smtClean="0"/>
              <a:t>Score </a:t>
            </a:r>
            <a:r>
              <a:rPr lang="en-US" dirty="0"/>
              <a:t>= (Emotion Std. Dev. * 0.5) + (Face Confidence * 0.3) + ((1 - Neutral Mean) * 0.2)</a:t>
            </a:r>
            <a:endParaRPr lang="en-US" dirty="0" smtClean="0"/>
          </a:p>
        </p:txBody>
      </p:sp>
    </p:spTree>
    <p:extLst>
      <p:ext uri="{BB962C8B-B14F-4D97-AF65-F5344CB8AC3E}">
        <p14:creationId xmlns:p14="http://schemas.microsoft.com/office/powerpoint/2010/main" val="19739164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557019" y="975729"/>
            <a:ext cx="8029961" cy="3582624"/>
          </a:xfrm>
          <a:prstGeom prst="rect">
            <a:avLst/>
          </a:prstGeom>
        </p:spPr>
        <p:txBody>
          <a:bodyPr spcFirstLastPara="1" wrap="square" lIns="91425" tIns="91425" rIns="91425" bIns="91425" anchor="t" anchorCtr="0">
            <a:noAutofit/>
          </a:bodyPr>
          <a:lstStyle/>
          <a:p>
            <a:pPr lvl="0">
              <a:lnSpc>
                <a:spcPct val="150000"/>
              </a:lnSpc>
              <a:buFont typeface="Wingdings" panose="05000000000000000000" pitchFamily="2" charset="2"/>
              <a:buChar char="v"/>
            </a:pPr>
            <a:r>
              <a:rPr lang="en-US" sz="1600" dirty="0"/>
              <a:t>Infrastructure &amp; Data Processing:</a:t>
            </a:r>
            <a:endParaRPr lang="en-US" sz="1600" dirty="0" smtClean="0"/>
          </a:p>
          <a:p>
            <a:pPr marL="895350" lvl="1" indent="-285750">
              <a:lnSpc>
                <a:spcPct val="150000"/>
              </a:lnSpc>
              <a:buSzPts val="1200"/>
              <a:buFont typeface="Arial" panose="020B0604020202020204" pitchFamily="34" charset="0"/>
              <a:buChar char="•"/>
            </a:pPr>
            <a:r>
              <a:rPr lang="en-US" sz="1600" dirty="0"/>
              <a:t>Web &amp; Visualization: Uses Flask for the API backend (handling 500MB video uploads) and </a:t>
            </a:r>
            <a:r>
              <a:rPr lang="en-US" sz="1600" dirty="0" err="1"/>
              <a:t>Matplotlib</a:t>
            </a:r>
            <a:r>
              <a:rPr lang="en-US" sz="1600" dirty="0"/>
              <a:t> to dynamically generate radar and bar charts for the UI.</a:t>
            </a:r>
          </a:p>
          <a:p>
            <a:pPr marL="895350" lvl="1" indent="-285750">
              <a:lnSpc>
                <a:spcPct val="150000"/>
              </a:lnSpc>
              <a:buSzPts val="1200"/>
              <a:buFont typeface="Arial" panose="020B0604020202020204" pitchFamily="34" charset="0"/>
              <a:buChar char="•"/>
            </a:pPr>
            <a:r>
              <a:rPr lang="en-US" sz="1600" dirty="0"/>
              <a:t>Data Handling: Relies on Pandas to structure multi-frame tracking data (</a:t>
            </a:r>
            <a:r>
              <a:rPr lang="en-US" sz="1600" dirty="0" err="1"/>
              <a:t>pd.DataFrame</a:t>
            </a:r>
            <a:r>
              <a:rPr lang="en-US" sz="1600" dirty="0"/>
              <a:t>) and </a:t>
            </a:r>
            <a:r>
              <a:rPr lang="en-US" sz="1600" dirty="0" err="1"/>
              <a:t>NumPy</a:t>
            </a:r>
            <a:r>
              <a:rPr lang="en-US" sz="1600" dirty="0"/>
              <a:t> for array operations and spatial math.</a:t>
            </a:r>
          </a:p>
          <a:p>
            <a:pPr marL="895350" lvl="1" indent="-285750">
              <a:lnSpc>
                <a:spcPct val="150000"/>
              </a:lnSpc>
              <a:buSzPts val="1200"/>
              <a:buFont typeface="Arial" panose="020B0604020202020204" pitchFamily="34" charset="0"/>
              <a:buChar char="•"/>
            </a:pPr>
            <a:r>
              <a:rPr lang="en-US" sz="1600" dirty="0"/>
              <a:t>Mathematical Application: </a:t>
            </a:r>
            <a:r>
              <a:rPr lang="en-US" sz="1600" dirty="0" err="1"/>
              <a:t>NumPy</a:t>
            </a:r>
            <a:r>
              <a:rPr lang="en-US" sz="1600" dirty="0"/>
              <a:t> calculates the exact Euclidean distance between coordinates (e.g., hand and ear) </a:t>
            </a:r>
            <a:endParaRPr lang="en-US" sz="1600" dirty="0" smtClean="0"/>
          </a:p>
          <a:p>
            <a:pPr marL="1352550" lvl="2" indent="-285750">
              <a:lnSpc>
                <a:spcPct val="150000"/>
              </a:lnSpc>
              <a:buSzPts val="1200"/>
              <a:buFont typeface="Arial" panose="020B0604020202020204" pitchFamily="34" charset="0"/>
              <a:buChar char="•"/>
            </a:pPr>
            <a:r>
              <a:rPr lang="en-US" sz="1600" b="1" dirty="0" smtClean="0"/>
              <a:t>Distance </a:t>
            </a:r>
            <a:r>
              <a:rPr lang="en-US" sz="1600" b="1" dirty="0"/>
              <a:t>= </a:t>
            </a:r>
            <a:r>
              <a:rPr lang="en-US" sz="1600" b="1" dirty="0" err="1"/>
              <a:t>np.sqrt</a:t>
            </a:r>
            <a:r>
              <a:rPr lang="en-US" sz="1600" b="1" dirty="0"/>
              <a:t>((</a:t>
            </a:r>
            <a:r>
              <a:rPr lang="en-US" sz="1600" b="1" dirty="0" err="1"/>
              <a:t>hand_x</a:t>
            </a:r>
            <a:r>
              <a:rPr lang="en-US" sz="1600" b="1" dirty="0"/>
              <a:t> - </a:t>
            </a:r>
            <a:r>
              <a:rPr lang="en-US" sz="1600" b="1" dirty="0" err="1"/>
              <a:t>ear_x</a:t>
            </a:r>
            <a:r>
              <a:rPr lang="en-US" sz="1600" b="1" dirty="0"/>
              <a:t>)**2 + (</a:t>
            </a:r>
            <a:r>
              <a:rPr lang="en-US" sz="1600" b="1" dirty="0" err="1"/>
              <a:t>hand_y</a:t>
            </a:r>
            <a:r>
              <a:rPr lang="en-US" sz="1600" b="1" dirty="0"/>
              <a:t> - </a:t>
            </a:r>
            <a:r>
              <a:rPr lang="en-US" sz="1600" b="1" dirty="0" err="1"/>
              <a:t>ear_y</a:t>
            </a:r>
            <a:r>
              <a:rPr lang="en-US" sz="1600" b="1" dirty="0"/>
              <a:t>)**2)</a:t>
            </a:r>
            <a:endParaRPr lang="en-US" sz="1600" b="1" dirty="0" smtClean="0"/>
          </a:p>
        </p:txBody>
      </p:sp>
    </p:spTree>
    <p:extLst>
      <p:ext uri="{BB962C8B-B14F-4D97-AF65-F5344CB8AC3E}">
        <p14:creationId xmlns:p14="http://schemas.microsoft.com/office/powerpoint/2010/main" val="1492333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a:t>
            </a:r>
            <a:r>
              <a:rPr lang="en-US" dirty="0" smtClean="0"/>
              <a:t>Stability, Risks, Challenges &amp;Next Steps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System Stability &amp; Risks</a:t>
            </a:r>
            <a:endParaRPr dirty="0"/>
          </a:p>
        </p:txBody>
      </p:sp>
      <p:sp>
        <p:nvSpPr>
          <p:cNvPr id="1053" name="Google Shape;1053;p62"/>
          <p:cNvSpPr txBox="1">
            <a:spLocks noGrp="1"/>
          </p:cNvSpPr>
          <p:nvPr>
            <p:ph type="body" idx="1"/>
          </p:nvPr>
        </p:nvSpPr>
        <p:spPr>
          <a:xfrm>
            <a:off x="720000" y="1321700"/>
            <a:ext cx="4588979" cy="3286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STABILITY</a:t>
            </a:r>
            <a:r>
              <a:rPr lang="en" sz="1400" dirty="0" smtClean="0">
                <a:solidFill>
                  <a:schemeClr val="dk1"/>
                </a:solidFill>
              </a:rPr>
              <a:t>:</a:t>
            </a:r>
            <a:endParaRPr sz="1400" dirty="0">
              <a:solidFill>
                <a:schemeClr val="dk1"/>
              </a:solidFill>
            </a:endParaRPr>
          </a:p>
          <a:p>
            <a:pPr lvl="0">
              <a:lnSpc>
                <a:spcPct val="150000"/>
              </a:lnSpc>
            </a:pPr>
            <a:r>
              <a:rPr lang="en-US" dirty="0"/>
              <a:t>Uses multiple inputs (video, voice, gestures) → more reliable results</a:t>
            </a:r>
          </a:p>
          <a:p>
            <a:pPr lvl="0">
              <a:lnSpc>
                <a:spcPct val="150000"/>
              </a:lnSpc>
            </a:pPr>
            <a:r>
              <a:rPr lang="en-US" dirty="0"/>
              <a:t>Combines different models to improve accuracy</a:t>
            </a:r>
          </a:p>
          <a:p>
            <a:pPr>
              <a:lnSpc>
                <a:spcPct val="150000"/>
              </a:lnSpc>
            </a:pPr>
            <a:r>
              <a:rPr lang="en-US" dirty="0"/>
              <a:t>Clear processing steps keep the system consistent</a:t>
            </a:r>
            <a:endParaRPr sz="1400" dirty="0">
              <a:solidFill>
                <a:schemeClr val="dk1"/>
              </a:solidFill>
            </a:endParaRPr>
          </a:p>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RISKS</a:t>
            </a:r>
            <a:r>
              <a:rPr lang="en" sz="1400" dirty="0">
                <a:solidFill>
                  <a:schemeClr val="dk1"/>
                </a:solidFill>
              </a:rPr>
              <a:t>:</a:t>
            </a:r>
            <a:endParaRPr sz="1400" dirty="0">
              <a:solidFill>
                <a:schemeClr val="dk1"/>
              </a:solidFill>
            </a:endParaRPr>
          </a:p>
          <a:p>
            <a:pPr marR="50800" lvl="0" indent="-317500">
              <a:lnSpc>
                <a:spcPct val="150000"/>
              </a:lnSpc>
              <a:buSzPts val="1400"/>
            </a:pPr>
            <a:r>
              <a:rPr lang="en-US" dirty="0" smtClean="0">
                <a:solidFill>
                  <a:schemeClr val="hlink"/>
                </a:solidFill>
                <a:uFill>
                  <a:noFill/>
                </a:uFill>
              </a:rPr>
              <a:t>Depends </a:t>
            </a:r>
            <a:r>
              <a:rPr lang="en-US" dirty="0">
                <a:solidFill>
                  <a:schemeClr val="hlink"/>
                </a:solidFill>
                <a:uFill>
                  <a:noFill/>
                </a:uFill>
              </a:rPr>
              <a:t>on good video/audio quality</a:t>
            </a:r>
          </a:p>
          <a:p>
            <a:pPr marR="50800" lvl="0" indent="-317500">
              <a:lnSpc>
                <a:spcPct val="150000"/>
              </a:lnSpc>
              <a:buSzPts val="1400"/>
            </a:pPr>
            <a:r>
              <a:rPr lang="en-US" dirty="0" smtClean="0">
                <a:solidFill>
                  <a:schemeClr val="hlink"/>
                </a:solidFill>
                <a:uFill>
                  <a:noFill/>
                </a:uFill>
              </a:rPr>
              <a:t>May </a:t>
            </a:r>
            <a:r>
              <a:rPr lang="en-US" dirty="0">
                <a:solidFill>
                  <a:schemeClr val="hlink"/>
                </a:solidFill>
                <a:uFill>
                  <a:noFill/>
                </a:uFill>
              </a:rPr>
              <a:t>not perform the same for every person</a:t>
            </a:r>
          </a:p>
          <a:p>
            <a:pPr marR="50800" lvl="0" indent="-317500">
              <a:lnSpc>
                <a:spcPct val="150000"/>
              </a:lnSpc>
              <a:buSzPts val="1400"/>
            </a:pPr>
            <a:r>
              <a:rPr lang="en-US" dirty="0" smtClean="0">
                <a:solidFill>
                  <a:schemeClr val="hlink"/>
                </a:solidFill>
                <a:uFill>
                  <a:noFill/>
                </a:uFill>
              </a:rPr>
              <a:t>Needs </a:t>
            </a:r>
            <a:r>
              <a:rPr lang="en-US" dirty="0">
                <a:solidFill>
                  <a:schemeClr val="hlink"/>
                </a:solidFill>
                <a:uFill>
                  <a:noFill/>
                </a:uFill>
              </a:rPr>
              <a:t>high processing power</a:t>
            </a:r>
          </a:p>
          <a:p>
            <a:pPr marR="50800" lvl="0" indent="-317500">
              <a:lnSpc>
                <a:spcPct val="150000"/>
              </a:lnSpc>
              <a:buSzPts val="1400"/>
            </a:pPr>
            <a:r>
              <a:rPr lang="en-US" dirty="0" smtClean="0">
                <a:solidFill>
                  <a:schemeClr val="hlink"/>
                </a:solidFill>
                <a:uFill>
                  <a:noFill/>
                </a:uFill>
              </a:rPr>
              <a:t>Limited </a:t>
            </a:r>
            <a:r>
              <a:rPr lang="en-US" dirty="0">
                <a:solidFill>
                  <a:schemeClr val="hlink"/>
                </a:solidFill>
                <a:uFill>
                  <a:noFill/>
                </a:uFill>
              </a:rPr>
              <a:t>data can affect accuracy</a:t>
            </a:r>
          </a:p>
        </p:txBody>
      </p:sp>
      <p:pic>
        <p:nvPicPr>
          <p:cNvPr id="1054" name="Google Shape;1054;p62"/>
          <p:cNvPicPr preferRelativeResize="0"/>
          <p:nvPr/>
        </p:nvPicPr>
        <p:blipFill>
          <a:blip r:embed="rId3">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4">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973625"/>
            <a:ext cx="7704000" cy="3932688"/>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CHALLENGES</a:t>
            </a:r>
            <a:r>
              <a:rPr lang="en" dirty="0" smtClean="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Managing </a:t>
            </a:r>
            <a:r>
              <a:rPr lang="en-US" dirty="0">
                <a:solidFill>
                  <a:schemeClr val="dk1"/>
                </a:solidFill>
                <a:uFill>
                  <a:noFill/>
                </a:uFill>
              </a:rPr>
              <a:t>video, audio, and gestures together</a:t>
            </a:r>
          </a:p>
          <a:p>
            <a:pPr marR="50800" lvl="0" indent="-317500">
              <a:lnSpc>
                <a:spcPct val="150000"/>
              </a:lnSpc>
              <a:buSzPts val="1400"/>
            </a:pPr>
            <a:r>
              <a:rPr lang="en-US" dirty="0" smtClean="0">
                <a:solidFill>
                  <a:schemeClr val="dk1"/>
                </a:solidFill>
                <a:uFill>
                  <a:noFill/>
                </a:uFill>
              </a:rPr>
              <a:t>Making </a:t>
            </a:r>
            <a:r>
              <a:rPr lang="en-US" dirty="0">
                <a:solidFill>
                  <a:schemeClr val="dk1"/>
                </a:solidFill>
                <a:uFill>
                  <a:noFill/>
                </a:uFill>
              </a:rPr>
              <a:t>the system fast and smooth</a:t>
            </a:r>
          </a:p>
          <a:p>
            <a:pPr marR="50800" lvl="0" indent="-317500">
              <a:lnSpc>
                <a:spcPct val="150000"/>
              </a:lnSpc>
              <a:buSzPts val="1400"/>
            </a:pPr>
            <a:r>
              <a:rPr lang="en-US" dirty="0" smtClean="0">
                <a:solidFill>
                  <a:schemeClr val="dk1"/>
                </a:solidFill>
                <a:uFill>
                  <a:noFill/>
                </a:uFill>
              </a:rPr>
              <a:t>Limited </a:t>
            </a:r>
            <a:r>
              <a:rPr lang="en-US" dirty="0">
                <a:solidFill>
                  <a:schemeClr val="dk1"/>
                </a:solidFill>
                <a:uFill>
                  <a:noFill/>
                </a:uFill>
              </a:rPr>
              <a:t>and complex dataset</a:t>
            </a:r>
          </a:p>
          <a:p>
            <a:pPr marR="50800" lvl="0" indent="-317500">
              <a:lnSpc>
                <a:spcPct val="150000"/>
              </a:lnSpc>
              <a:buSzPts val="1400"/>
            </a:pPr>
            <a:r>
              <a:rPr lang="en-US" dirty="0" smtClean="0">
                <a:solidFill>
                  <a:schemeClr val="dk1"/>
                </a:solidFill>
                <a:uFill>
                  <a:noFill/>
                </a:uFill>
              </a:rPr>
              <a:t>Choosing </a:t>
            </a:r>
            <a:r>
              <a:rPr lang="en-US" dirty="0">
                <a:solidFill>
                  <a:schemeClr val="dk1"/>
                </a:solidFill>
                <a:uFill>
                  <a:noFill/>
                </a:uFill>
              </a:rPr>
              <a:t>the best model</a:t>
            </a:r>
          </a:p>
          <a:p>
            <a:pPr marL="457200" marR="50800" lvl="0" indent="0" algn="l" rtl="0">
              <a:lnSpc>
                <a:spcPct val="150000"/>
              </a:lnSpc>
              <a:spcBef>
                <a:spcPts val="0"/>
              </a:spcBef>
              <a:spcAft>
                <a:spcPts val="0"/>
              </a:spcAft>
              <a:buNone/>
            </a:pPr>
            <a:endParaRPr dirty="0">
              <a:solidFill>
                <a:schemeClr val="dk1"/>
              </a:solidFill>
            </a:endParaRPr>
          </a:p>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NEXT STEPS</a:t>
            </a:r>
            <a:r>
              <a:rPr lang="en" dirty="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Collect </a:t>
            </a:r>
            <a:r>
              <a:rPr lang="en-US" dirty="0">
                <a:solidFill>
                  <a:schemeClr val="dk1"/>
                </a:solidFill>
                <a:uFill>
                  <a:noFill/>
                </a:uFill>
              </a:rPr>
              <a:t>more and better data</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speed and performance</a:t>
            </a:r>
          </a:p>
          <a:p>
            <a:pPr marR="50800" lvl="0" indent="-317500">
              <a:lnSpc>
                <a:spcPct val="150000"/>
              </a:lnSpc>
              <a:buSzPts val="1400"/>
            </a:pPr>
            <a:r>
              <a:rPr lang="en-US" dirty="0" smtClean="0">
                <a:solidFill>
                  <a:schemeClr val="dk1"/>
                </a:solidFill>
                <a:uFill>
                  <a:noFill/>
                </a:uFill>
              </a:rPr>
              <a:t>Fine-tune </a:t>
            </a:r>
            <a:r>
              <a:rPr lang="en-US" dirty="0">
                <a:solidFill>
                  <a:schemeClr val="dk1"/>
                </a:solidFill>
                <a:uFill>
                  <a:noFill/>
                </a:uFill>
              </a:rPr>
              <a:t>models for higher accuracy</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the user interface</a:t>
            </a:r>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Challenges &amp; Next Steps</a:t>
            </a:r>
            <a:endParaRPr dirty="0"/>
          </a:p>
        </p:txBody>
      </p:sp>
      <p:pic>
        <p:nvPicPr>
          <p:cNvPr id="1062" name="Google Shape;1062;p63"/>
          <p:cNvPicPr preferRelativeResize="0"/>
          <p:nvPr/>
        </p:nvPicPr>
        <p:blipFill>
          <a:blip r:embed="rId3">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4">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09</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21200393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Theoretical lesson</a:t>
            </a:r>
            <a:endParaRPr/>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Features of the main topic</a:t>
            </a:r>
            <a:endParaRPr/>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Tips from experts</a:t>
            </a:r>
            <a:endParaRPr/>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9" name="Google Shape;459;p36"/>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460" name="Google Shape;460;p36"/>
          <p:cNvSpPr txBox="1">
            <a:spLocks noGrp="1"/>
          </p:cNvSpPr>
          <p:nvPr>
            <p:ph type="title" idx="13"/>
          </p:nvPr>
        </p:nvSpPr>
        <p:spPr>
          <a:xfrm>
            <a:off x="1181850"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2" name="Google Shape;462;p36"/>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Extra information</a:t>
            </a:r>
            <a:endParaRPr/>
          </a:p>
        </p:txBody>
      </p:sp>
      <p:sp>
        <p:nvSpPr>
          <p:cNvPr id="463" name="Google Shape;463;p36"/>
          <p:cNvSpPr txBox="1">
            <a:spLocks noGrp="1"/>
          </p:cNvSpPr>
          <p:nvPr>
            <p:ph type="title" idx="16"/>
          </p:nvPr>
        </p:nvSpPr>
        <p:spPr>
          <a:xfrm>
            <a:off x="3936481"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5" name="Google Shape;465;p36"/>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a:t>
            </a:r>
            <a:endParaRPr/>
          </a:p>
          <a:p>
            <a:pPr marL="0" lvl="0" indent="0" algn="ctr" rtl="0">
              <a:spcBef>
                <a:spcPts val="0"/>
              </a:spcBef>
              <a:spcAft>
                <a:spcPts val="0"/>
              </a:spcAft>
              <a:buNone/>
            </a:pPr>
            <a:r>
              <a:rPr lang="en"/>
              <a:t>conclusions</a:t>
            </a:r>
            <a:endParaRPr/>
          </a:p>
        </p:txBody>
      </p:sp>
      <p:sp>
        <p:nvSpPr>
          <p:cNvPr id="466" name="Google Shape;466;p36"/>
          <p:cNvSpPr txBox="1">
            <a:spLocks noGrp="1"/>
          </p:cNvSpPr>
          <p:nvPr>
            <p:ph type="title" idx="19"/>
          </p:nvPr>
        </p:nvSpPr>
        <p:spPr>
          <a:xfrm>
            <a:off x="6691137"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467" name="Google Shape;467;p36"/>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a:t>
            </a:r>
            <a:endParaRPr/>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LESSON</a:t>
            </a:r>
            <a:endParaRPr/>
          </a:p>
        </p:txBody>
      </p:sp>
      <p:sp>
        <p:nvSpPr>
          <p:cNvPr id="506" name="Google Shape;506;p40"/>
          <p:cNvSpPr txBox="1">
            <a:spLocks noGrp="1"/>
          </p:cNvSpPr>
          <p:nvPr>
            <p:ph type="subTitle" idx="1"/>
          </p:nvPr>
        </p:nvSpPr>
        <p:spPr>
          <a:xfrm>
            <a:off x="1647050" y="2658820"/>
            <a:ext cx="27420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1</a:t>
            </a:r>
            <a:endParaRPr/>
          </a:p>
        </p:txBody>
      </p:sp>
      <p:sp>
        <p:nvSpPr>
          <p:cNvPr id="507" name="Google Shape;507;p40"/>
          <p:cNvSpPr txBox="1">
            <a:spLocks noGrp="1"/>
          </p:cNvSpPr>
          <p:nvPr>
            <p:ph type="subTitle" idx="2"/>
          </p:nvPr>
        </p:nvSpPr>
        <p:spPr>
          <a:xfrm>
            <a:off x="4753753" y="2658820"/>
            <a:ext cx="27432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2</a:t>
            </a:r>
            <a:endParaRPr/>
          </a:p>
        </p:txBody>
      </p:sp>
      <p:sp>
        <p:nvSpPr>
          <p:cNvPr id="508" name="Google Shape;508;p40"/>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 It’s hot and has a very poisonous atmosphere</a:t>
            </a:r>
            <a:endParaRPr/>
          </a:p>
        </p:txBody>
      </p:sp>
      <p:sp>
        <p:nvSpPr>
          <p:cNvPr id="509" name="Google Shape;509;p40"/>
          <p:cNvSpPr/>
          <p:nvPr/>
        </p:nvSpPr>
        <p:spPr>
          <a:xfrm>
            <a:off x="2516300" y="166480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40"/>
          <p:cNvSpPr/>
          <p:nvPr/>
        </p:nvSpPr>
        <p:spPr>
          <a:xfrm>
            <a:off x="5623603" y="1664800"/>
            <a:ext cx="1003500" cy="1003500"/>
          </a:xfrm>
          <a:prstGeom prst="ellipse">
            <a:avLst/>
          </a:prstGeom>
          <a:solidFill>
            <a:schemeClr val="lt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1" name="Google Shape;511;p40"/>
          <p:cNvGrpSpPr/>
          <p:nvPr/>
        </p:nvGrpSpPr>
        <p:grpSpPr>
          <a:xfrm>
            <a:off x="2720311" y="1910562"/>
            <a:ext cx="595479" cy="529251"/>
            <a:chOff x="1190625" y="528075"/>
            <a:chExt cx="5214350" cy="4634425"/>
          </a:xfrm>
        </p:grpSpPr>
        <p:sp>
          <p:nvSpPr>
            <p:cNvPr id="512" name="Google Shape;512;p40"/>
            <p:cNvSpPr/>
            <p:nvPr/>
          </p:nvSpPr>
          <p:spPr>
            <a:xfrm>
              <a:off x="3225475" y="528075"/>
              <a:ext cx="3179500" cy="3369750"/>
            </a:xfrm>
            <a:custGeom>
              <a:avLst/>
              <a:gdLst/>
              <a:ahLst/>
              <a:cxnLst/>
              <a:rect l="l" t="t" r="r" b="b"/>
              <a:pathLst>
                <a:path w="127180" h="134790" extrusionOk="0">
                  <a:moveTo>
                    <a:pt x="91569" y="45378"/>
                  </a:moveTo>
                  <a:cubicBezTo>
                    <a:pt x="95802" y="45378"/>
                    <a:pt x="99220" y="48797"/>
                    <a:pt x="99220" y="52988"/>
                  </a:cubicBezTo>
                  <a:cubicBezTo>
                    <a:pt x="99220" y="57221"/>
                    <a:pt x="95802" y="60640"/>
                    <a:pt x="91569" y="60640"/>
                  </a:cubicBezTo>
                  <a:cubicBezTo>
                    <a:pt x="87337" y="60640"/>
                    <a:pt x="83959" y="57221"/>
                    <a:pt x="83959" y="52988"/>
                  </a:cubicBezTo>
                  <a:cubicBezTo>
                    <a:pt x="83959" y="48797"/>
                    <a:pt x="87337" y="45378"/>
                    <a:pt x="91569" y="45378"/>
                  </a:cubicBezTo>
                  <a:close/>
                  <a:moveTo>
                    <a:pt x="0" y="1"/>
                  </a:moveTo>
                  <a:lnTo>
                    <a:pt x="0" y="42326"/>
                  </a:lnTo>
                  <a:cubicBezTo>
                    <a:pt x="20349" y="41227"/>
                    <a:pt x="32151" y="38541"/>
                    <a:pt x="32680" y="38419"/>
                  </a:cubicBezTo>
                  <a:lnTo>
                    <a:pt x="42122" y="36058"/>
                  </a:lnTo>
                  <a:lnTo>
                    <a:pt x="61006" y="31378"/>
                  </a:lnTo>
                  <a:lnTo>
                    <a:pt x="61046" y="70936"/>
                  </a:lnTo>
                  <a:cubicBezTo>
                    <a:pt x="61901" y="70855"/>
                    <a:pt x="62715" y="70814"/>
                    <a:pt x="63610" y="70814"/>
                  </a:cubicBezTo>
                  <a:cubicBezTo>
                    <a:pt x="76226" y="70814"/>
                    <a:pt x="86482" y="81070"/>
                    <a:pt x="86482" y="93686"/>
                  </a:cubicBezTo>
                  <a:lnTo>
                    <a:pt x="61046" y="93686"/>
                  </a:lnTo>
                  <a:lnTo>
                    <a:pt x="61046" y="134790"/>
                  </a:lnTo>
                  <a:cubicBezTo>
                    <a:pt x="65116" y="134790"/>
                    <a:pt x="80459" y="131371"/>
                    <a:pt x="95435" y="122540"/>
                  </a:cubicBezTo>
                  <a:cubicBezTo>
                    <a:pt x="116191" y="110249"/>
                    <a:pt x="127179" y="92383"/>
                    <a:pt x="127179" y="70814"/>
                  </a:cubicBezTo>
                  <a:lnTo>
                    <a:pt x="127179" y="9768"/>
                  </a:lnTo>
                  <a:lnTo>
                    <a:pt x="127179" y="1"/>
                  </a:lnTo>
                  <a:lnTo>
                    <a:pt x="117697" y="2361"/>
                  </a:lnTo>
                  <a:cubicBezTo>
                    <a:pt x="117493" y="2402"/>
                    <a:pt x="97633" y="7204"/>
                    <a:pt x="63570" y="7204"/>
                  </a:cubicBezTo>
                  <a:cubicBezTo>
                    <a:pt x="29547" y="7204"/>
                    <a:pt x="9686" y="2402"/>
                    <a:pt x="9483" y="2361"/>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40"/>
            <p:cNvSpPr/>
            <p:nvPr/>
          </p:nvSpPr>
          <p:spPr>
            <a:xfrm>
              <a:off x="1190625" y="1799875"/>
              <a:ext cx="3179475" cy="3362625"/>
            </a:xfrm>
            <a:custGeom>
              <a:avLst/>
              <a:gdLst/>
              <a:ahLst/>
              <a:cxnLst/>
              <a:rect l="l" t="t" r="r" b="b"/>
              <a:pathLst>
                <a:path w="127179" h="134505" extrusionOk="0">
                  <a:moveTo>
                    <a:pt x="35610" y="45378"/>
                  </a:moveTo>
                  <a:cubicBezTo>
                    <a:pt x="39843" y="45378"/>
                    <a:pt x="43261" y="48796"/>
                    <a:pt x="43261" y="52988"/>
                  </a:cubicBezTo>
                  <a:cubicBezTo>
                    <a:pt x="43261" y="57221"/>
                    <a:pt x="39843" y="60639"/>
                    <a:pt x="35610" y="60639"/>
                  </a:cubicBezTo>
                  <a:cubicBezTo>
                    <a:pt x="31378" y="60639"/>
                    <a:pt x="28000" y="57221"/>
                    <a:pt x="28000" y="52988"/>
                  </a:cubicBezTo>
                  <a:cubicBezTo>
                    <a:pt x="28000" y="48796"/>
                    <a:pt x="31378" y="45378"/>
                    <a:pt x="35610" y="45378"/>
                  </a:cubicBezTo>
                  <a:close/>
                  <a:moveTo>
                    <a:pt x="91569" y="45378"/>
                  </a:moveTo>
                  <a:cubicBezTo>
                    <a:pt x="95801" y="45378"/>
                    <a:pt x="99220" y="48796"/>
                    <a:pt x="99220" y="52988"/>
                  </a:cubicBezTo>
                  <a:cubicBezTo>
                    <a:pt x="99220" y="57221"/>
                    <a:pt x="95801" y="60639"/>
                    <a:pt x="91569" y="60639"/>
                  </a:cubicBezTo>
                  <a:cubicBezTo>
                    <a:pt x="87336" y="60639"/>
                    <a:pt x="83958" y="57221"/>
                    <a:pt x="83958" y="52988"/>
                  </a:cubicBezTo>
                  <a:cubicBezTo>
                    <a:pt x="83958" y="48796"/>
                    <a:pt x="87336" y="45378"/>
                    <a:pt x="91569" y="45378"/>
                  </a:cubicBezTo>
                  <a:close/>
                  <a:moveTo>
                    <a:pt x="86482" y="78424"/>
                  </a:moveTo>
                  <a:cubicBezTo>
                    <a:pt x="86482" y="91040"/>
                    <a:pt x="76226" y="101336"/>
                    <a:pt x="63610" y="101336"/>
                  </a:cubicBezTo>
                  <a:cubicBezTo>
                    <a:pt x="50953" y="101336"/>
                    <a:pt x="40697" y="91040"/>
                    <a:pt x="40697" y="78424"/>
                  </a:cubicBezTo>
                  <a:close/>
                  <a:moveTo>
                    <a:pt x="0" y="0"/>
                  </a:moveTo>
                  <a:lnTo>
                    <a:pt x="0" y="70813"/>
                  </a:lnTo>
                  <a:cubicBezTo>
                    <a:pt x="0" y="92383"/>
                    <a:pt x="10988" y="110249"/>
                    <a:pt x="31744" y="122540"/>
                  </a:cubicBezTo>
                  <a:cubicBezTo>
                    <a:pt x="46720" y="131371"/>
                    <a:pt x="61616" y="134138"/>
                    <a:pt x="62226" y="134260"/>
                  </a:cubicBezTo>
                  <a:lnTo>
                    <a:pt x="63610" y="134505"/>
                  </a:lnTo>
                  <a:lnTo>
                    <a:pt x="64953" y="134260"/>
                  </a:lnTo>
                  <a:cubicBezTo>
                    <a:pt x="65563" y="134138"/>
                    <a:pt x="80458" y="131371"/>
                    <a:pt x="95435" y="122540"/>
                  </a:cubicBezTo>
                  <a:cubicBezTo>
                    <a:pt x="116191" y="110249"/>
                    <a:pt x="127179" y="92383"/>
                    <a:pt x="127179" y="70813"/>
                  </a:cubicBezTo>
                  <a:lnTo>
                    <a:pt x="127179" y="9768"/>
                  </a:lnTo>
                  <a:lnTo>
                    <a:pt x="127179" y="0"/>
                  </a:lnTo>
                  <a:lnTo>
                    <a:pt x="117696" y="2361"/>
                  </a:lnTo>
                  <a:cubicBezTo>
                    <a:pt x="117493" y="2401"/>
                    <a:pt x="97633" y="7204"/>
                    <a:pt x="63610" y="7204"/>
                  </a:cubicBezTo>
                  <a:cubicBezTo>
                    <a:pt x="29546" y="7204"/>
                    <a:pt x="9686" y="2401"/>
                    <a:pt x="9482" y="2361"/>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4" name="Google Shape;514;p40"/>
          <p:cNvSpPr/>
          <p:nvPr/>
        </p:nvSpPr>
        <p:spPr>
          <a:xfrm>
            <a:off x="5888499" y="1877300"/>
            <a:ext cx="473707" cy="595777"/>
          </a:xfrm>
          <a:custGeom>
            <a:avLst/>
            <a:gdLst/>
            <a:ahLst/>
            <a:cxnLst/>
            <a:rect l="l" t="t" r="r" b="b"/>
            <a:pathLst>
              <a:path w="166359" h="209228" extrusionOk="0">
                <a:moveTo>
                  <a:pt x="93524" y="98322"/>
                </a:moveTo>
                <a:lnTo>
                  <a:pt x="93524" y="113446"/>
                </a:lnTo>
                <a:lnTo>
                  <a:pt x="48154" y="113446"/>
                </a:lnTo>
                <a:lnTo>
                  <a:pt x="48154" y="98322"/>
                </a:lnTo>
                <a:close/>
                <a:moveTo>
                  <a:pt x="37829" y="0"/>
                </a:moveTo>
                <a:cubicBezTo>
                  <a:pt x="16979" y="0"/>
                  <a:pt x="1" y="16979"/>
                  <a:pt x="1" y="37829"/>
                </a:cubicBezTo>
                <a:cubicBezTo>
                  <a:pt x="1" y="50169"/>
                  <a:pt x="5969" y="61139"/>
                  <a:pt x="15164" y="68076"/>
                </a:cubicBezTo>
                <a:lnTo>
                  <a:pt x="15124" y="68076"/>
                </a:lnTo>
                <a:lnTo>
                  <a:pt x="15124" y="148734"/>
                </a:lnTo>
                <a:lnTo>
                  <a:pt x="46903" y="148734"/>
                </a:lnTo>
                <a:lnTo>
                  <a:pt x="16536" y="209227"/>
                </a:lnTo>
                <a:lnTo>
                  <a:pt x="33434" y="209227"/>
                </a:lnTo>
                <a:lnTo>
                  <a:pt x="63035" y="150347"/>
                </a:lnTo>
                <a:lnTo>
                  <a:pt x="63035" y="209227"/>
                </a:lnTo>
                <a:lnTo>
                  <a:pt x="78159" y="209227"/>
                </a:lnTo>
                <a:lnTo>
                  <a:pt x="78159" y="150347"/>
                </a:lnTo>
                <a:lnTo>
                  <a:pt x="107720" y="209227"/>
                </a:lnTo>
                <a:lnTo>
                  <a:pt x="124658" y="209227"/>
                </a:lnTo>
                <a:lnTo>
                  <a:pt x="94250" y="148734"/>
                </a:lnTo>
                <a:lnTo>
                  <a:pt x="126029" y="148734"/>
                </a:lnTo>
                <a:lnTo>
                  <a:pt x="126029" y="132320"/>
                </a:lnTo>
                <a:lnTo>
                  <a:pt x="166358" y="148935"/>
                </a:lnTo>
                <a:lnTo>
                  <a:pt x="166358" y="67834"/>
                </a:lnTo>
                <a:lnTo>
                  <a:pt x="126029" y="84449"/>
                </a:lnTo>
                <a:lnTo>
                  <a:pt x="126029" y="68076"/>
                </a:lnTo>
                <a:cubicBezTo>
                  <a:pt x="135224" y="61139"/>
                  <a:pt x="141153" y="50169"/>
                  <a:pt x="141153" y="37829"/>
                </a:cubicBezTo>
                <a:cubicBezTo>
                  <a:pt x="141153" y="16979"/>
                  <a:pt x="124214" y="0"/>
                  <a:pt x="103364" y="0"/>
                </a:cubicBezTo>
                <a:cubicBezTo>
                  <a:pt x="89370" y="0"/>
                  <a:pt x="77110" y="7663"/>
                  <a:pt x="70577" y="18995"/>
                </a:cubicBezTo>
                <a:cubicBezTo>
                  <a:pt x="64043" y="7663"/>
                  <a:pt x="51824" y="0"/>
                  <a:pt x="37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41"/>
          <p:cNvSpPr/>
          <p:nvPr/>
        </p:nvSpPr>
        <p:spPr>
          <a:xfrm>
            <a:off x="15388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41"/>
          <p:cNvSpPr/>
          <p:nvPr/>
        </p:nvSpPr>
        <p:spPr>
          <a:xfrm>
            <a:off x="40702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41"/>
          <p:cNvSpPr/>
          <p:nvPr/>
        </p:nvSpPr>
        <p:spPr>
          <a:xfrm>
            <a:off x="6601650" y="17406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41"/>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WHAT IS THIS TOPIC ABOUT?</a:t>
            </a:r>
            <a:endParaRPr/>
          </a:p>
        </p:txBody>
      </p:sp>
      <p:sp>
        <p:nvSpPr>
          <p:cNvPr id="523" name="Google Shape;523;p41"/>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24" name="Google Shape;524;p41"/>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 and the smallest one in the Solar System</a:t>
            </a:r>
            <a:endParaRPr/>
          </a:p>
        </p:txBody>
      </p:sp>
      <p:sp>
        <p:nvSpPr>
          <p:cNvPr id="525" name="Google Shape;525;p41"/>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26" name="Google Shape;526;p41"/>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527" name="Google Shape;527;p41"/>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28" name="Google Shape;528;p41"/>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29" name="Google Shape;529;p41"/>
          <p:cNvSpPr/>
          <p:nvPr/>
        </p:nvSpPr>
        <p:spPr>
          <a:xfrm>
            <a:off x="1719015" y="1837115"/>
            <a:ext cx="643170" cy="643170"/>
          </a:xfrm>
          <a:custGeom>
            <a:avLst/>
            <a:gdLst/>
            <a:ahLst/>
            <a:cxnLst/>
            <a:rect l="l" t="t" r="r" b="b"/>
            <a:pathLst>
              <a:path w="209161" h="209161" extrusionOk="0">
                <a:moveTo>
                  <a:pt x="97284" y="29535"/>
                </a:moveTo>
                <a:lnTo>
                  <a:pt x="97284" y="44206"/>
                </a:lnTo>
                <a:cubicBezTo>
                  <a:pt x="69578" y="47552"/>
                  <a:pt x="47552" y="69578"/>
                  <a:pt x="44206" y="97284"/>
                </a:cubicBezTo>
                <a:lnTo>
                  <a:pt x="29535" y="97284"/>
                </a:lnTo>
                <a:cubicBezTo>
                  <a:pt x="32999" y="61522"/>
                  <a:pt x="61522" y="32999"/>
                  <a:pt x="97284" y="29535"/>
                </a:cubicBezTo>
                <a:close/>
                <a:moveTo>
                  <a:pt x="105067" y="72963"/>
                </a:moveTo>
                <a:cubicBezTo>
                  <a:pt x="108141" y="72963"/>
                  <a:pt x="110982" y="73313"/>
                  <a:pt x="113550" y="74053"/>
                </a:cubicBezTo>
                <a:cubicBezTo>
                  <a:pt x="116118" y="74792"/>
                  <a:pt x="118298" y="75843"/>
                  <a:pt x="120088" y="77205"/>
                </a:cubicBezTo>
                <a:cubicBezTo>
                  <a:pt x="121916" y="78567"/>
                  <a:pt x="123317" y="80201"/>
                  <a:pt x="124290" y="82108"/>
                </a:cubicBezTo>
                <a:cubicBezTo>
                  <a:pt x="125302" y="84015"/>
                  <a:pt x="125808" y="86116"/>
                  <a:pt x="125808" y="88451"/>
                </a:cubicBezTo>
                <a:cubicBezTo>
                  <a:pt x="125808" y="90202"/>
                  <a:pt x="125497" y="91836"/>
                  <a:pt x="124952" y="93432"/>
                </a:cubicBezTo>
                <a:cubicBezTo>
                  <a:pt x="124407" y="94988"/>
                  <a:pt x="123629" y="96428"/>
                  <a:pt x="122656" y="97712"/>
                </a:cubicBezTo>
                <a:cubicBezTo>
                  <a:pt x="121644" y="98996"/>
                  <a:pt x="120477" y="100047"/>
                  <a:pt x="119115" y="100903"/>
                </a:cubicBezTo>
                <a:cubicBezTo>
                  <a:pt x="117714" y="101759"/>
                  <a:pt x="116235" y="102304"/>
                  <a:pt x="114601" y="102615"/>
                </a:cubicBezTo>
                <a:cubicBezTo>
                  <a:pt x="116391" y="102966"/>
                  <a:pt x="118064" y="103588"/>
                  <a:pt x="119582" y="104483"/>
                </a:cubicBezTo>
                <a:cubicBezTo>
                  <a:pt x="121099" y="105378"/>
                  <a:pt x="122383" y="106546"/>
                  <a:pt x="123473" y="107908"/>
                </a:cubicBezTo>
                <a:cubicBezTo>
                  <a:pt x="124563" y="109270"/>
                  <a:pt x="125380" y="110865"/>
                  <a:pt x="125963" y="112616"/>
                </a:cubicBezTo>
                <a:cubicBezTo>
                  <a:pt x="126547" y="114406"/>
                  <a:pt x="126859" y="116313"/>
                  <a:pt x="126859" y="118375"/>
                </a:cubicBezTo>
                <a:cubicBezTo>
                  <a:pt x="126859" y="121099"/>
                  <a:pt x="126275" y="123551"/>
                  <a:pt x="125185" y="125730"/>
                </a:cubicBezTo>
                <a:cubicBezTo>
                  <a:pt x="124057" y="127948"/>
                  <a:pt x="122461" y="129816"/>
                  <a:pt x="120399" y="131334"/>
                </a:cubicBezTo>
                <a:cubicBezTo>
                  <a:pt x="118336" y="132890"/>
                  <a:pt x="115846" y="134096"/>
                  <a:pt x="112927" y="134914"/>
                </a:cubicBezTo>
                <a:cubicBezTo>
                  <a:pt x="110009" y="135770"/>
                  <a:pt x="106740" y="136198"/>
                  <a:pt x="103121" y="136198"/>
                </a:cubicBezTo>
                <a:cubicBezTo>
                  <a:pt x="94288" y="136198"/>
                  <a:pt x="87322" y="133591"/>
                  <a:pt x="82302" y="128415"/>
                </a:cubicBezTo>
                <a:lnTo>
                  <a:pt x="89852" y="118453"/>
                </a:lnTo>
                <a:cubicBezTo>
                  <a:pt x="91408" y="120088"/>
                  <a:pt x="93198" y="121333"/>
                  <a:pt x="95222" y="122150"/>
                </a:cubicBezTo>
                <a:cubicBezTo>
                  <a:pt x="97245" y="123006"/>
                  <a:pt x="99658" y="123434"/>
                  <a:pt x="102421" y="123434"/>
                </a:cubicBezTo>
                <a:cubicBezTo>
                  <a:pt x="109036" y="123434"/>
                  <a:pt x="112305" y="121021"/>
                  <a:pt x="112305" y="116157"/>
                </a:cubicBezTo>
                <a:cubicBezTo>
                  <a:pt x="112305" y="113550"/>
                  <a:pt x="111332" y="111565"/>
                  <a:pt x="109386" y="110203"/>
                </a:cubicBezTo>
                <a:cubicBezTo>
                  <a:pt x="107441" y="108880"/>
                  <a:pt x="104366" y="108219"/>
                  <a:pt x="100164" y="108219"/>
                </a:cubicBezTo>
                <a:lnTo>
                  <a:pt x="97557" y="108219"/>
                </a:lnTo>
                <a:lnTo>
                  <a:pt x="97557" y="98140"/>
                </a:lnTo>
                <a:lnTo>
                  <a:pt x="100436" y="98140"/>
                </a:lnTo>
                <a:cubicBezTo>
                  <a:pt x="103705" y="98140"/>
                  <a:pt x="106234" y="97479"/>
                  <a:pt x="108063" y="96156"/>
                </a:cubicBezTo>
                <a:cubicBezTo>
                  <a:pt x="109931" y="94794"/>
                  <a:pt x="110826" y="93004"/>
                  <a:pt x="110826" y="90786"/>
                </a:cubicBezTo>
                <a:cubicBezTo>
                  <a:pt x="110826" y="88879"/>
                  <a:pt x="110165" y="87439"/>
                  <a:pt x="108803" y="86427"/>
                </a:cubicBezTo>
                <a:cubicBezTo>
                  <a:pt x="107480" y="85454"/>
                  <a:pt x="105689" y="84948"/>
                  <a:pt x="103471" y="84948"/>
                </a:cubicBezTo>
                <a:cubicBezTo>
                  <a:pt x="101098" y="84948"/>
                  <a:pt x="98919" y="85532"/>
                  <a:pt x="96973" y="86661"/>
                </a:cubicBezTo>
                <a:cubicBezTo>
                  <a:pt x="95027" y="87789"/>
                  <a:pt x="93354" y="89424"/>
                  <a:pt x="92031" y="91486"/>
                </a:cubicBezTo>
                <a:lnTo>
                  <a:pt x="83197" y="81368"/>
                </a:lnTo>
                <a:cubicBezTo>
                  <a:pt x="84131" y="80123"/>
                  <a:pt x="85338" y="78995"/>
                  <a:pt x="86855" y="77944"/>
                </a:cubicBezTo>
                <a:cubicBezTo>
                  <a:pt x="88373" y="76893"/>
                  <a:pt x="90124" y="75998"/>
                  <a:pt x="92031" y="75298"/>
                </a:cubicBezTo>
                <a:cubicBezTo>
                  <a:pt x="93938" y="74559"/>
                  <a:pt x="96039" y="73975"/>
                  <a:pt x="98257" y="73586"/>
                </a:cubicBezTo>
                <a:cubicBezTo>
                  <a:pt x="100436" y="73158"/>
                  <a:pt x="102732" y="72963"/>
                  <a:pt x="105067" y="72963"/>
                </a:cubicBezTo>
                <a:close/>
                <a:moveTo>
                  <a:pt x="44206" y="111877"/>
                </a:moveTo>
                <a:cubicBezTo>
                  <a:pt x="47552" y="139583"/>
                  <a:pt x="69578" y="161608"/>
                  <a:pt x="97284" y="164955"/>
                </a:cubicBezTo>
                <a:lnTo>
                  <a:pt x="97284" y="179625"/>
                </a:lnTo>
                <a:cubicBezTo>
                  <a:pt x="61522" y="176162"/>
                  <a:pt x="32999" y="147638"/>
                  <a:pt x="29535" y="111877"/>
                </a:cubicBezTo>
                <a:close/>
                <a:moveTo>
                  <a:pt x="179625" y="111877"/>
                </a:moveTo>
                <a:cubicBezTo>
                  <a:pt x="176162" y="147638"/>
                  <a:pt x="147638" y="176162"/>
                  <a:pt x="111877" y="179625"/>
                </a:cubicBezTo>
                <a:lnTo>
                  <a:pt x="111877" y="164955"/>
                </a:lnTo>
                <a:cubicBezTo>
                  <a:pt x="139583" y="161608"/>
                  <a:pt x="161608" y="139583"/>
                  <a:pt x="164955" y="111877"/>
                </a:cubicBezTo>
                <a:close/>
                <a:moveTo>
                  <a:pt x="97284" y="0"/>
                </a:moveTo>
                <a:lnTo>
                  <a:pt x="97284" y="14904"/>
                </a:lnTo>
                <a:cubicBezTo>
                  <a:pt x="53467" y="18406"/>
                  <a:pt x="18406" y="53467"/>
                  <a:pt x="14904" y="97284"/>
                </a:cubicBezTo>
                <a:lnTo>
                  <a:pt x="0" y="97284"/>
                </a:lnTo>
                <a:lnTo>
                  <a:pt x="0" y="111877"/>
                </a:lnTo>
                <a:lnTo>
                  <a:pt x="14904" y="111877"/>
                </a:lnTo>
                <a:cubicBezTo>
                  <a:pt x="18406" y="155694"/>
                  <a:pt x="53467" y="190755"/>
                  <a:pt x="97284" y="194257"/>
                </a:cubicBezTo>
                <a:lnTo>
                  <a:pt x="97284" y="209161"/>
                </a:lnTo>
                <a:lnTo>
                  <a:pt x="111877" y="209161"/>
                </a:lnTo>
                <a:lnTo>
                  <a:pt x="111877" y="194257"/>
                </a:lnTo>
                <a:cubicBezTo>
                  <a:pt x="155694" y="190755"/>
                  <a:pt x="190755" y="155694"/>
                  <a:pt x="194257" y="111877"/>
                </a:cubicBezTo>
                <a:lnTo>
                  <a:pt x="209161" y="111877"/>
                </a:lnTo>
                <a:lnTo>
                  <a:pt x="209161" y="97284"/>
                </a:lnTo>
                <a:lnTo>
                  <a:pt x="164955" y="97284"/>
                </a:lnTo>
                <a:cubicBezTo>
                  <a:pt x="161608" y="69578"/>
                  <a:pt x="139583" y="47552"/>
                  <a:pt x="111877" y="44206"/>
                </a:cubicBezTo>
                <a:lnTo>
                  <a:pt x="111877" y="29535"/>
                </a:lnTo>
                <a:cubicBezTo>
                  <a:pt x="129232" y="31209"/>
                  <a:pt x="145381" y="38758"/>
                  <a:pt x="157873" y="51249"/>
                </a:cubicBezTo>
                <a:lnTo>
                  <a:pt x="168185" y="40937"/>
                </a:lnTo>
                <a:cubicBezTo>
                  <a:pt x="152931" y="25683"/>
                  <a:pt x="133163" y="16577"/>
                  <a:pt x="111877" y="14904"/>
                </a:cubicBezTo>
                <a:lnTo>
                  <a:pt x="1118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41"/>
          <p:cNvSpPr/>
          <p:nvPr/>
        </p:nvSpPr>
        <p:spPr>
          <a:xfrm>
            <a:off x="4282432" y="1909263"/>
            <a:ext cx="579136" cy="498874"/>
          </a:xfrm>
          <a:custGeom>
            <a:avLst/>
            <a:gdLst/>
            <a:ahLst/>
            <a:cxnLst/>
            <a:rect l="l" t="t" r="r" b="b"/>
            <a:pathLst>
              <a:path w="13062" h="11253" extrusionOk="0">
                <a:moveTo>
                  <a:pt x="5626" y="1522"/>
                </a:moveTo>
                <a:cubicBezTo>
                  <a:pt x="5802" y="1522"/>
                  <a:pt x="5980" y="1556"/>
                  <a:pt x="6149" y="1626"/>
                </a:cubicBezTo>
                <a:cubicBezTo>
                  <a:pt x="6660" y="1838"/>
                  <a:pt x="6994" y="2337"/>
                  <a:pt x="6994" y="2889"/>
                </a:cubicBezTo>
                <a:cubicBezTo>
                  <a:pt x="6993" y="3646"/>
                  <a:pt x="6381" y="4257"/>
                  <a:pt x="5625" y="4259"/>
                </a:cubicBezTo>
                <a:cubicBezTo>
                  <a:pt x="5071" y="4259"/>
                  <a:pt x="4573" y="3925"/>
                  <a:pt x="4361" y="3414"/>
                </a:cubicBezTo>
                <a:cubicBezTo>
                  <a:pt x="4149" y="2902"/>
                  <a:pt x="4266" y="2314"/>
                  <a:pt x="4658" y="1922"/>
                </a:cubicBezTo>
                <a:cubicBezTo>
                  <a:pt x="4920" y="1661"/>
                  <a:pt x="5270" y="1522"/>
                  <a:pt x="5626" y="1522"/>
                </a:cubicBezTo>
                <a:close/>
                <a:moveTo>
                  <a:pt x="8362" y="4259"/>
                </a:moveTo>
                <a:cubicBezTo>
                  <a:pt x="8916" y="4259"/>
                  <a:pt x="9415" y="4591"/>
                  <a:pt x="9626" y="5103"/>
                </a:cubicBezTo>
                <a:cubicBezTo>
                  <a:pt x="9839" y="5615"/>
                  <a:pt x="9721" y="6203"/>
                  <a:pt x="9330" y="6594"/>
                </a:cubicBezTo>
                <a:cubicBezTo>
                  <a:pt x="9067" y="6856"/>
                  <a:pt x="8717" y="6995"/>
                  <a:pt x="8361" y="6995"/>
                </a:cubicBezTo>
                <a:cubicBezTo>
                  <a:pt x="8185" y="6995"/>
                  <a:pt x="8008" y="6961"/>
                  <a:pt x="7839" y="6892"/>
                </a:cubicBezTo>
                <a:cubicBezTo>
                  <a:pt x="7327" y="6679"/>
                  <a:pt x="6994" y="6180"/>
                  <a:pt x="6994" y="5627"/>
                </a:cubicBezTo>
                <a:cubicBezTo>
                  <a:pt x="6994" y="4872"/>
                  <a:pt x="7608" y="4259"/>
                  <a:pt x="8362" y="4259"/>
                </a:cubicBezTo>
                <a:close/>
                <a:moveTo>
                  <a:pt x="2890" y="4259"/>
                </a:moveTo>
                <a:cubicBezTo>
                  <a:pt x="3644" y="4260"/>
                  <a:pt x="4256" y="4872"/>
                  <a:pt x="4257" y="5627"/>
                </a:cubicBezTo>
                <a:cubicBezTo>
                  <a:pt x="4257" y="6180"/>
                  <a:pt x="3923" y="6679"/>
                  <a:pt x="3413" y="6892"/>
                </a:cubicBezTo>
                <a:cubicBezTo>
                  <a:pt x="3244" y="6962"/>
                  <a:pt x="3066" y="6995"/>
                  <a:pt x="2890" y="6995"/>
                </a:cubicBezTo>
                <a:cubicBezTo>
                  <a:pt x="2533" y="6995"/>
                  <a:pt x="2183" y="6857"/>
                  <a:pt x="1921" y="6595"/>
                </a:cubicBezTo>
                <a:cubicBezTo>
                  <a:pt x="1530" y="6203"/>
                  <a:pt x="1413" y="5615"/>
                  <a:pt x="1624" y="5103"/>
                </a:cubicBezTo>
                <a:cubicBezTo>
                  <a:pt x="1837" y="4593"/>
                  <a:pt x="2336" y="4259"/>
                  <a:pt x="2890" y="4259"/>
                </a:cubicBezTo>
                <a:close/>
                <a:moveTo>
                  <a:pt x="5625" y="6996"/>
                </a:moveTo>
                <a:cubicBezTo>
                  <a:pt x="6179" y="6996"/>
                  <a:pt x="6678" y="7328"/>
                  <a:pt x="6890" y="7840"/>
                </a:cubicBezTo>
                <a:cubicBezTo>
                  <a:pt x="7101" y="8352"/>
                  <a:pt x="6984" y="8941"/>
                  <a:pt x="6593" y="9331"/>
                </a:cubicBezTo>
                <a:cubicBezTo>
                  <a:pt x="6332" y="9593"/>
                  <a:pt x="5982" y="9732"/>
                  <a:pt x="5626" y="9732"/>
                </a:cubicBezTo>
                <a:cubicBezTo>
                  <a:pt x="5450" y="9732"/>
                  <a:pt x="5271" y="9698"/>
                  <a:pt x="5102" y="9627"/>
                </a:cubicBezTo>
                <a:cubicBezTo>
                  <a:pt x="4590" y="9416"/>
                  <a:pt x="4257" y="8917"/>
                  <a:pt x="4257" y="8364"/>
                </a:cubicBezTo>
                <a:cubicBezTo>
                  <a:pt x="4257" y="7609"/>
                  <a:pt x="4870" y="6996"/>
                  <a:pt x="5625" y="6996"/>
                </a:cubicBezTo>
                <a:close/>
                <a:moveTo>
                  <a:pt x="5625" y="1"/>
                </a:moveTo>
                <a:cubicBezTo>
                  <a:pt x="2524" y="1"/>
                  <a:pt x="1" y="2525"/>
                  <a:pt x="1" y="5627"/>
                </a:cubicBezTo>
                <a:cubicBezTo>
                  <a:pt x="1" y="8729"/>
                  <a:pt x="2524" y="11253"/>
                  <a:pt x="5625" y="11253"/>
                </a:cubicBezTo>
                <a:lnTo>
                  <a:pt x="13062" y="11253"/>
                </a:lnTo>
                <a:lnTo>
                  <a:pt x="13062" y="10476"/>
                </a:lnTo>
                <a:lnTo>
                  <a:pt x="8693" y="10476"/>
                </a:lnTo>
                <a:cubicBezTo>
                  <a:pt x="10232" y="9335"/>
                  <a:pt x="11251" y="7597"/>
                  <a:pt x="11251" y="5627"/>
                </a:cubicBezTo>
                <a:cubicBezTo>
                  <a:pt x="11251" y="2525"/>
                  <a:pt x="8728" y="1"/>
                  <a:pt x="5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 name="Google Shape;531;p41"/>
          <p:cNvGrpSpPr/>
          <p:nvPr/>
        </p:nvGrpSpPr>
        <p:grpSpPr>
          <a:xfrm>
            <a:off x="6903313" y="1966461"/>
            <a:ext cx="400174" cy="551827"/>
            <a:chOff x="6327475" y="2130150"/>
            <a:chExt cx="242500" cy="334400"/>
          </a:xfrm>
        </p:grpSpPr>
        <p:sp>
          <p:nvSpPr>
            <p:cNvPr id="532" name="Google Shape;532;p41"/>
            <p:cNvSpPr/>
            <p:nvPr/>
          </p:nvSpPr>
          <p:spPr>
            <a:xfrm>
              <a:off x="6327475" y="2289975"/>
              <a:ext cx="242500" cy="174575"/>
            </a:xfrm>
            <a:custGeom>
              <a:avLst/>
              <a:gdLst/>
              <a:ahLst/>
              <a:cxnLst/>
              <a:rect l="l" t="t" r="r" b="b"/>
              <a:pathLst>
                <a:path w="9700" h="6983" extrusionOk="0">
                  <a:moveTo>
                    <a:pt x="1844" y="776"/>
                  </a:moveTo>
                  <a:cubicBezTo>
                    <a:pt x="2046" y="2022"/>
                    <a:pt x="3022" y="2999"/>
                    <a:pt x="4269" y="3200"/>
                  </a:cubicBezTo>
                  <a:lnTo>
                    <a:pt x="4269" y="4131"/>
                  </a:lnTo>
                  <a:cubicBezTo>
                    <a:pt x="2516" y="3922"/>
                    <a:pt x="1124" y="2528"/>
                    <a:pt x="913" y="776"/>
                  </a:cubicBezTo>
                  <a:close/>
                  <a:moveTo>
                    <a:pt x="8788" y="776"/>
                  </a:moveTo>
                  <a:cubicBezTo>
                    <a:pt x="8577" y="2528"/>
                    <a:pt x="7185" y="3920"/>
                    <a:pt x="5432" y="4131"/>
                  </a:cubicBezTo>
                  <a:lnTo>
                    <a:pt x="5432" y="3200"/>
                  </a:lnTo>
                  <a:cubicBezTo>
                    <a:pt x="6677" y="2999"/>
                    <a:pt x="7655" y="2022"/>
                    <a:pt x="7856" y="776"/>
                  </a:cubicBezTo>
                  <a:close/>
                  <a:moveTo>
                    <a:pt x="0" y="1"/>
                  </a:moveTo>
                  <a:lnTo>
                    <a:pt x="0" y="466"/>
                  </a:lnTo>
                  <a:cubicBezTo>
                    <a:pt x="0" y="2962"/>
                    <a:pt x="1877" y="5019"/>
                    <a:pt x="4269" y="5254"/>
                  </a:cubicBezTo>
                  <a:lnTo>
                    <a:pt x="4269" y="6208"/>
                  </a:lnTo>
                  <a:lnTo>
                    <a:pt x="1941" y="6208"/>
                  </a:lnTo>
                  <a:lnTo>
                    <a:pt x="1941" y="6983"/>
                  </a:lnTo>
                  <a:lnTo>
                    <a:pt x="7760" y="6983"/>
                  </a:lnTo>
                  <a:lnTo>
                    <a:pt x="7760" y="6208"/>
                  </a:lnTo>
                  <a:lnTo>
                    <a:pt x="5432" y="6208"/>
                  </a:lnTo>
                  <a:lnTo>
                    <a:pt x="5432" y="5254"/>
                  </a:lnTo>
                  <a:cubicBezTo>
                    <a:pt x="7824" y="5019"/>
                    <a:pt x="9699" y="2962"/>
                    <a:pt x="9699" y="465"/>
                  </a:cubicBez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41"/>
            <p:cNvSpPr/>
            <p:nvPr/>
          </p:nvSpPr>
          <p:spPr>
            <a:xfrm>
              <a:off x="6375975" y="2130150"/>
              <a:ext cx="145525" cy="130750"/>
            </a:xfrm>
            <a:custGeom>
              <a:avLst/>
              <a:gdLst/>
              <a:ahLst/>
              <a:cxnLst/>
              <a:rect l="l" t="t" r="r" b="b"/>
              <a:pathLst>
                <a:path w="5821" h="5230" extrusionOk="0">
                  <a:moveTo>
                    <a:pt x="2910" y="0"/>
                  </a:moveTo>
                  <a:cubicBezTo>
                    <a:pt x="1305" y="0"/>
                    <a:pt x="1" y="1310"/>
                    <a:pt x="1" y="2922"/>
                  </a:cubicBezTo>
                  <a:lnTo>
                    <a:pt x="1" y="5230"/>
                  </a:lnTo>
                  <a:lnTo>
                    <a:pt x="5820" y="5230"/>
                  </a:lnTo>
                  <a:lnTo>
                    <a:pt x="5820" y="3010"/>
                  </a:lnTo>
                  <a:cubicBezTo>
                    <a:pt x="5820" y="1629"/>
                    <a:pt x="4905" y="363"/>
                    <a:pt x="3556" y="71"/>
                  </a:cubicBezTo>
                  <a:cubicBezTo>
                    <a:pt x="3337" y="23"/>
                    <a:pt x="3121" y="0"/>
                    <a:pt x="2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4"/>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79" name="Google Shape;579;p44"/>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580" name="Google Shape;580;p44"/>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81" name="Google Shape;581;p44"/>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582" name="Google Shape;582;p44"/>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583" name="Google Shape;583;p44"/>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584" name="Google Shape;584;p44"/>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585" name="Google Shape;585;p44"/>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586" name="Google Shape;586;p44"/>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87" name="Google Shape;587;p44"/>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588" name="Google Shape;588;p44"/>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589" name="Google Shape;589;p44"/>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sp>
        <p:nvSpPr>
          <p:cNvPr id="590" name="Google Shape;590;p44"/>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TIPS</a:t>
            </a:r>
            <a:endParaRPr/>
          </a:p>
        </p:txBody>
      </p:sp>
      <p:sp>
        <p:nvSpPr>
          <p:cNvPr id="591" name="Google Shape;591;p44"/>
          <p:cNvSpPr/>
          <p:nvPr/>
        </p:nvSpPr>
        <p:spPr>
          <a:xfrm>
            <a:off x="1702638" y="11489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44"/>
          <p:cNvSpPr/>
          <p:nvPr/>
        </p:nvSpPr>
        <p:spPr>
          <a:xfrm>
            <a:off x="17026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44"/>
          <p:cNvSpPr/>
          <p:nvPr/>
        </p:nvSpPr>
        <p:spPr>
          <a:xfrm>
            <a:off x="4205838"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4"/>
          <p:cNvSpPr/>
          <p:nvPr/>
        </p:nvSpPr>
        <p:spPr>
          <a:xfrm>
            <a:off x="42058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44"/>
          <p:cNvSpPr/>
          <p:nvPr/>
        </p:nvSpPr>
        <p:spPr>
          <a:xfrm>
            <a:off x="6709013"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44"/>
          <p:cNvSpPr/>
          <p:nvPr/>
        </p:nvSpPr>
        <p:spPr>
          <a:xfrm>
            <a:off x="6709013"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44"/>
          <p:cNvSpPr/>
          <p:nvPr/>
        </p:nvSpPr>
        <p:spPr>
          <a:xfrm>
            <a:off x="6868983" y="1308731"/>
            <a:ext cx="412360" cy="412330"/>
          </a:xfrm>
          <a:custGeom>
            <a:avLst/>
            <a:gdLst/>
            <a:ahLst/>
            <a:cxnLst/>
            <a:rect l="l" t="t" r="r" b="b"/>
            <a:pathLst>
              <a:path w="13579" h="13578" extrusionOk="0">
                <a:moveTo>
                  <a:pt x="6595" y="1759"/>
                </a:moveTo>
                <a:lnTo>
                  <a:pt x="6595" y="2724"/>
                </a:lnTo>
                <a:cubicBezTo>
                  <a:pt x="4776" y="2942"/>
                  <a:pt x="3329" y="4389"/>
                  <a:pt x="3110" y="6208"/>
                </a:cubicBezTo>
                <a:lnTo>
                  <a:pt x="2147" y="6208"/>
                </a:lnTo>
                <a:cubicBezTo>
                  <a:pt x="2373" y="3860"/>
                  <a:pt x="4247" y="1986"/>
                  <a:pt x="6595" y="1759"/>
                </a:cubicBezTo>
                <a:close/>
                <a:moveTo>
                  <a:pt x="7001" y="4791"/>
                </a:moveTo>
                <a:cubicBezTo>
                  <a:pt x="7184" y="4791"/>
                  <a:pt x="7365" y="4814"/>
                  <a:pt x="7542" y="4863"/>
                </a:cubicBezTo>
                <a:cubicBezTo>
                  <a:pt x="7697" y="4904"/>
                  <a:pt x="7843" y="4975"/>
                  <a:pt x="7972" y="5070"/>
                </a:cubicBezTo>
                <a:cubicBezTo>
                  <a:pt x="8087" y="5156"/>
                  <a:pt x="8181" y="5265"/>
                  <a:pt x="8248" y="5391"/>
                </a:cubicBezTo>
                <a:cubicBezTo>
                  <a:pt x="8314" y="5520"/>
                  <a:pt x="8347" y="5663"/>
                  <a:pt x="8346" y="5808"/>
                </a:cubicBezTo>
                <a:cubicBezTo>
                  <a:pt x="8346" y="5919"/>
                  <a:pt x="8329" y="6029"/>
                  <a:pt x="8291" y="6134"/>
                </a:cubicBezTo>
                <a:cubicBezTo>
                  <a:pt x="8256" y="6236"/>
                  <a:pt x="8204" y="6331"/>
                  <a:pt x="8139" y="6416"/>
                </a:cubicBezTo>
                <a:cubicBezTo>
                  <a:pt x="8076" y="6499"/>
                  <a:pt x="7996" y="6570"/>
                  <a:pt x="7906" y="6626"/>
                </a:cubicBezTo>
                <a:cubicBezTo>
                  <a:pt x="7815" y="6681"/>
                  <a:pt x="7716" y="6720"/>
                  <a:pt x="7611" y="6737"/>
                </a:cubicBezTo>
                <a:cubicBezTo>
                  <a:pt x="7726" y="6759"/>
                  <a:pt x="7837" y="6801"/>
                  <a:pt x="7938" y="6860"/>
                </a:cubicBezTo>
                <a:lnTo>
                  <a:pt x="7938" y="6862"/>
                </a:lnTo>
                <a:cubicBezTo>
                  <a:pt x="8037" y="6920"/>
                  <a:pt x="8123" y="6996"/>
                  <a:pt x="8193" y="7086"/>
                </a:cubicBezTo>
                <a:cubicBezTo>
                  <a:pt x="8266" y="7178"/>
                  <a:pt x="8321" y="7284"/>
                  <a:pt x="8358" y="7395"/>
                </a:cubicBezTo>
                <a:cubicBezTo>
                  <a:pt x="8397" y="7517"/>
                  <a:pt x="8415" y="7644"/>
                  <a:pt x="8414" y="7771"/>
                </a:cubicBezTo>
                <a:cubicBezTo>
                  <a:pt x="8417" y="7940"/>
                  <a:pt x="8381" y="8107"/>
                  <a:pt x="8306" y="8257"/>
                </a:cubicBezTo>
                <a:cubicBezTo>
                  <a:pt x="8232" y="8402"/>
                  <a:pt x="8125" y="8529"/>
                  <a:pt x="7993" y="8624"/>
                </a:cubicBezTo>
                <a:cubicBezTo>
                  <a:pt x="7844" y="8731"/>
                  <a:pt x="7678" y="8811"/>
                  <a:pt x="7502" y="8860"/>
                </a:cubicBezTo>
                <a:cubicBezTo>
                  <a:pt x="7303" y="8915"/>
                  <a:pt x="7097" y="8943"/>
                  <a:pt x="6889" y="8943"/>
                </a:cubicBezTo>
                <a:cubicBezTo>
                  <a:pt x="6879" y="8943"/>
                  <a:pt x="6869" y="8942"/>
                  <a:pt x="6858" y="8942"/>
                </a:cubicBezTo>
                <a:cubicBezTo>
                  <a:pt x="6277" y="8942"/>
                  <a:pt x="5821" y="8772"/>
                  <a:pt x="5492" y="8432"/>
                </a:cubicBezTo>
                <a:lnTo>
                  <a:pt x="5986" y="7777"/>
                </a:lnTo>
                <a:cubicBezTo>
                  <a:pt x="6086" y="7881"/>
                  <a:pt x="6206" y="7965"/>
                  <a:pt x="6339" y="8021"/>
                </a:cubicBezTo>
                <a:cubicBezTo>
                  <a:pt x="6469" y="8075"/>
                  <a:pt x="6622" y="8104"/>
                  <a:pt x="6800" y="8104"/>
                </a:cubicBezTo>
                <a:cubicBezTo>
                  <a:pt x="6805" y="8104"/>
                  <a:pt x="6809" y="8104"/>
                  <a:pt x="6813" y="8104"/>
                </a:cubicBezTo>
                <a:cubicBezTo>
                  <a:pt x="7246" y="8104"/>
                  <a:pt x="7463" y="7945"/>
                  <a:pt x="7463" y="7628"/>
                </a:cubicBezTo>
                <a:cubicBezTo>
                  <a:pt x="7463" y="7456"/>
                  <a:pt x="7397" y="7326"/>
                  <a:pt x="7270" y="7238"/>
                </a:cubicBezTo>
                <a:cubicBezTo>
                  <a:pt x="7142" y="7149"/>
                  <a:pt x="6939" y="7105"/>
                  <a:pt x="6663" y="6983"/>
                </a:cubicBezTo>
                <a:lnTo>
                  <a:pt x="6596" y="6983"/>
                </a:lnTo>
                <a:lnTo>
                  <a:pt x="6596" y="6207"/>
                </a:lnTo>
                <a:lnTo>
                  <a:pt x="6680" y="6207"/>
                </a:lnTo>
                <a:cubicBezTo>
                  <a:pt x="6798" y="6337"/>
                  <a:pt x="6902" y="6383"/>
                  <a:pt x="6991" y="6383"/>
                </a:cubicBezTo>
                <a:cubicBezTo>
                  <a:pt x="7065" y="6383"/>
                  <a:pt x="7129" y="6352"/>
                  <a:pt x="7183" y="6312"/>
                </a:cubicBezTo>
                <a:cubicBezTo>
                  <a:pt x="7304" y="6224"/>
                  <a:pt x="7364" y="6108"/>
                  <a:pt x="7364" y="5962"/>
                </a:cubicBezTo>
                <a:cubicBezTo>
                  <a:pt x="7364" y="5837"/>
                  <a:pt x="7321" y="5740"/>
                  <a:pt x="7233" y="5675"/>
                </a:cubicBezTo>
                <a:cubicBezTo>
                  <a:pt x="7144" y="5610"/>
                  <a:pt x="7027" y="5578"/>
                  <a:pt x="6881" y="5578"/>
                </a:cubicBezTo>
                <a:cubicBezTo>
                  <a:pt x="6879" y="5578"/>
                  <a:pt x="6876" y="5578"/>
                  <a:pt x="6873" y="5578"/>
                </a:cubicBezTo>
                <a:cubicBezTo>
                  <a:pt x="6727" y="5578"/>
                  <a:pt x="6581" y="5615"/>
                  <a:pt x="6453" y="5689"/>
                </a:cubicBezTo>
                <a:cubicBezTo>
                  <a:pt x="6322" y="5767"/>
                  <a:pt x="6210" y="5877"/>
                  <a:pt x="6128" y="6009"/>
                </a:cubicBezTo>
                <a:lnTo>
                  <a:pt x="5548" y="5342"/>
                </a:lnTo>
                <a:cubicBezTo>
                  <a:pt x="5618" y="5255"/>
                  <a:pt x="5699" y="5180"/>
                  <a:pt x="5790" y="5118"/>
                </a:cubicBezTo>
                <a:cubicBezTo>
                  <a:pt x="5895" y="5046"/>
                  <a:pt x="6009" y="4988"/>
                  <a:pt x="6128" y="4943"/>
                </a:cubicBezTo>
                <a:cubicBezTo>
                  <a:pt x="6261" y="4894"/>
                  <a:pt x="6397" y="4856"/>
                  <a:pt x="6537" y="4830"/>
                </a:cubicBezTo>
                <a:cubicBezTo>
                  <a:pt x="6685" y="4804"/>
                  <a:pt x="6835" y="4791"/>
                  <a:pt x="6984" y="4791"/>
                </a:cubicBezTo>
                <a:cubicBezTo>
                  <a:pt x="6990" y="4791"/>
                  <a:pt x="6995" y="4791"/>
                  <a:pt x="7001" y="4791"/>
                </a:cubicBezTo>
                <a:close/>
                <a:moveTo>
                  <a:pt x="3110" y="7372"/>
                </a:moveTo>
                <a:cubicBezTo>
                  <a:pt x="3329" y="9191"/>
                  <a:pt x="4776" y="10637"/>
                  <a:pt x="6595" y="10857"/>
                </a:cubicBezTo>
                <a:lnTo>
                  <a:pt x="6595" y="11820"/>
                </a:lnTo>
                <a:cubicBezTo>
                  <a:pt x="4247" y="11593"/>
                  <a:pt x="2373" y="9720"/>
                  <a:pt x="2147" y="7372"/>
                </a:cubicBezTo>
                <a:close/>
                <a:moveTo>
                  <a:pt x="11819" y="7372"/>
                </a:moveTo>
                <a:cubicBezTo>
                  <a:pt x="11592" y="9720"/>
                  <a:pt x="9720" y="11593"/>
                  <a:pt x="7371" y="11820"/>
                </a:cubicBezTo>
                <a:lnTo>
                  <a:pt x="7371" y="10857"/>
                </a:lnTo>
                <a:cubicBezTo>
                  <a:pt x="9190" y="10637"/>
                  <a:pt x="10638" y="9191"/>
                  <a:pt x="10856" y="7372"/>
                </a:cubicBezTo>
                <a:close/>
                <a:moveTo>
                  <a:pt x="6208" y="1"/>
                </a:moveTo>
                <a:lnTo>
                  <a:pt x="6208" y="977"/>
                </a:lnTo>
                <a:cubicBezTo>
                  <a:pt x="6208" y="977"/>
                  <a:pt x="1296" y="3510"/>
                  <a:pt x="1063" y="6596"/>
                </a:cubicBezTo>
                <a:lnTo>
                  <a:pt x="0" y="6596"/>
                </a:lnTo>
                <a:lnTo>
                  <a:pt x="0" y="7371"/>
                </a:lnTo>
                <a:lnTo>
                  <a:pt x="1063" y="7371"/>
                </a:lnTo>
                <a:cubicBezTo>
                  <a:pt x="1063" y="7371"/>
                  <a:pt x="3596" y="12524"/>
                  <a:pt x="6594" y="12757"/>
                </a:cubicBezTo>
                <a:lnTo>
                  <a:pt x="6594" y="13578"/>
                </a:lnTo>
                <a:lnTo>
                  <a:pt x="7370" y="13578"/>
                </a:lnTo>
                <a:lnTo>
                  <a:pt x="7370" y="12757"/>
                </a:lnTo>
                <a:cubicBezTo>
                  <a:pt x="7370" y="12757"/>
                  <a:pt x="12610" y="10223"/>
                  <a:pt x="12841" y="7371"/>
                </a:cubicBezTo>
                <a:lnTo>
                  <a:pt x="13577" y="7371"/>
                </a:lnTo>
                <a:lnTo>
                  <a:pt x="13579" y="6596"/>
                </a:lnTo>
                <a:lnTo>
                  <a:pt x="10917" y="6596"/>
                </a:lnTo>
                <a:cubicBezTo>
                  <a:pt x="10917" y="6596"/>
                  <a:pt x="9251" y="3123"/>
                  <a:pt x="7371" y="2904"/>
                </a:cubicBezTo>
                <a:lnTo>
                  <a:pt x="7371" y="1940"/>
                </a:lnTo>
                <a:cubicBezTo>
                  <a:pt x="8573" y="2048"/>
                  <a:pt x="9631" y="2546"/>
                  <a:pt x="10453" y="3365"/>
                </a:cubicBezTo>
                <a:lnTo>
                  <a:pt x="11129" y="2687"/>
                </a:lnTo>
                <a:cubicBezTo>
                  <a:pt x="10127" y="1687"/>
                  <a:pt x="8829" y="1090"/>
                  <a:pt x="7371" y="978"/>
                </a:cubicBezTo>
                <a:lnTo>
                  <a:pt x="7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 name="Google Shape;598;p44"/>
          <p:cNvGrpSpPr/>
          <p:nvPr/>
        </p:nvGrpSpPr>
        <p:grpSpPr>
          <a:xfrm>
            <a:off x="1858447" y="1373802"/>
            <a:ext cx="420681" cy="282813"/>
            <a:chOff x="995000" y="2180950"/>
            <a:chExt cx="346325" cy="232825"/>
          </a:xfrm>
        </p:grpSpPr>
        <p:sp>
          <p:nvSpPr>
            <p:cNvPr id="599" name="Google Shape;599;p44"/>
            <p:cNvSpPr/>
            <p:nvPr/>
          </p:nvSpPr>
          <p:spPr>
            <a:xfrm>
              <a:off x="995000" y="2180950"/>
              <a:ext cx="346325" cy="232825"/>
            </a:xfrm>
            <a:custGeom>
              <a:avLst/>
              <a:gdLst/>
              <a:ahLst/>
              <a:cxnLst/>
              <a:rect l="l" t="t" r="r" b="b"/>
              <a:pathLst>
                <a:path w="13853" h="9313" extrusionOk="0">
                  <a:moveTo>
                    <a:pt x="6932" y="962"/>
                  </a:moveTo>
                  <a:cubicBezTo>
                    <a:pt x="8941" y="962"/>
                    <a:pt x="10579" y="2571"/>
                    <a:pt x="10615" y="4578"/>
                  </a:cubicBezTo>
                  <a:cubicBezTo>
                    <a:pt x="10652" y="6587"/>
                    <a:pt x="9071" y="8254"/>
                    <a:pt x="7064" y="8326"/>
                  </a:cubicBezTo>
                  <a:cubicBezTo>
                    <a:pt x="7018" y="8328"/>
                    <a:pt x="6970" y="8329"/>
                    <a:pt x="6924" y="8329"/>
                  </a:cubicBezTo>
                  <a:cubicBezTo>
                    <a:pt x="6922" y="8329"/>
                    <a:pt x="6920" y="8329"/>
                    <a:pt x="6918" y="8329"/>
                  </a:cubicBezTo>
                  <a:cubicBezTo>
                    <a:pt x="5969" y="8329"/>
                    <a:pt x="5056" y="7961"/>
                    <a:pt x="4373" y="7300"/>
                  </a:cubicBezTo>
                  <a:cubicBezTo>
                    <a:pt x="3308" y="6276"/>
                    <a:pt x="2959" y="4713"/>
                    <a:pt x="3486" y="3332"/>
                  </a:cubicBezTo>
                  <a:cubicBezTo>
                    <a:pt x="4012" y="1951"/>
                    <a:pt x="5313" y="1019"/>
                    <a:pt x="6791" y="964"/>
                  </a:cubicBezTo>
                  <a:cubicBezTo>
                    <a:pt x="6837" y="962"/>
                    <a:pt x="6884" y="962"/>
                    <a:pt x="6930" y="962"/>
                  </a:cubicBezTo>
                  <a:cubicBezTo>
                    <a:pt x="6931" y="962"/>
                    <a:pt x="6932" y="962"/>
                    <a:pt x="6932" y="962"/>
                  </a:cubicBezTo>
                  <a:close/>
                  <a:moveTo>
                    <a:pt x="6927" y="1"/>
                  </a:moveTo>
                  <a:cubicBezTo>
                    <a:pt x="4099" y="1"/>
                    <a:pt x="2380" y="1220"/>
                    <a:pt x="1435" y="2243"/>
                  </a:cubicBezTo>
                  <a:cubicBezTo>
                    <a:pt x="410" y="3354"/>
                    <a:pt x="59" y="4469"/>
                    <a:pt x="44" y="4515"/>
                  </a:cubicBezTo>
                  <a:lnTo>
                    <a:pt x="1" y="4657"/>
                  </a:lnTo>
                  <a:lnTo>
                    <a:pt x="44" y="4798"/>
                  </a:lnTo>
                  <a:cubicBezTo>
                    <a:pt x="59" y="4844"/>
                    <a:pt x="409" y="5959"/>
                    <a:pt x="1435" y="7070"/>
                  </a:cubicBezTo>
                  <a:cubicBezTo>
                    <a:pt x="2365" y="8078"/>
                    <a:pt x="4048" y="9275"/>
                    <a:pt x="6800" y="9309"/>
                  </a:cubicBezTo>
                  <a:cubicBezTo>
                    <a:pt x="6842" y="9311"/>
                    <a:pt x="6882" y="9312"/>
                    <a:pt x="6924" y="9312"/>
                  </a:cubicBezTo>
                  <a:lnTo>
                    <a:pt x="6927" y="9312"/>
                  </a:lnTo>
                  <a:cubicBezTo>
                    <a:pt x="9755" y="9312"/>
                    <a:pt x="11474" y="8093"/>
                    <a:pt x="12418" y="7071"/>
                  </a:cubicBezTo>
                  <a:cubicBezTo>
                    <a:pt x="13444" y="5959"/>
                    <a:pt x="13794" y="4846"/>
                    <a:pt x="13809" y="4798"/>
                  </a:cubicBezTo>
                  <a:lnTo>
                    <a:pt x="13853" y="4657"/>
                  </a:lnTo>
                  <a:lnTo>
                    <a:pt x="13808" y="4515"/>
                  </a:lnTo>
                  <a:cubicBezTo>
                    <a:pt x="13794" y="4469"/>
                    <a:pt x="13444" y="3354"/>
                    <a:pt x="12418" y="2243"/>
                  </a:cubicBezTo>
                  <a:cubicBezTo>
                    <a:pt x="11487" y="1236"/>
                    <a:pt x="9806" y="38"/>
                    <a:pt x="7053" y="2"/>
                  </a:cubicBezTo>
                  <a:cubicBezTo>
                    <a:pt x="7012" y="1"/>
                    <a:pt x="6970" y="1"/>
                    <a:pt x="6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44"/>
            <p:cNvSpPr/>
            <p:nvPr/>
          </p:nvSpPr>
          <p:spPr>
            <a:xfrm>
              <a:off x="1098075" y="2227475"/>
              <a:ext cx="140100" cy="139200"/>
            </a:xfrm>
            <a:custGeom>
              <a:avLst/>
              <a:gdLst/>
              <a:ahLst/>
              <a:cxnLst/>
              <a:rect l="l" t="t" r="r" b="b"/>
              <a:pathLst>
                <a:path w="5604" h="5568" extrusionOk="0">
                  <a:moveTo>
                    <a:pt x="3288" y="1822"/>
                  </a:moveTo>
                  <a:cubicBezTo>
                    <a:pt x="3406" y="1822"/>
                    <a:pt x="3526" y="1866"/>
                    <a:pt x="3624" y="1964"/>
                  </a:cubicBezTo>
                  <a:cubicBezTo>
                    <a:pt x="3761" y="2101"/>
                    <a:pt x="3803" y="2308"/>
                    <a:pt x="3728" y="2488"/>
                  </a:cubicBezTo>
                  <a:cubicBezTo>
                    <a:pt x="3654" y="2667"/>
                    <a:pt x="3478" y="2784"/>
                    <a:pt x="3284" y="2784"/>
                  </a:cubicBezTo>
                  <a:cubicBezTo>
                    <a:pt x="3019" y="2784"/>
                    <a:pt x="2804" y="2569"/>
                    <a:pt x="2804" y="2304"/>
                  </a:cubicBezTo>
                  <a:cubicBezTo>
                    <a:pt x="2804" y="2014"/>
                    <a:pt x="3041" y="1822"/>
                    <a:pt x="3288" y="1822"/>
                  </a:cubicBezTo>
                  <a:close/>
                  <a:moveTo>
                    <a:pt x="2805" y="1"/>
                  </a:moveTo>
                  <a:cubicBezTo>
                    <a:pt x="2771" y="1"/>
                    <a:pt x="2736" y="1"/>
                    <a:pt x="2701" y="3"/>
                  </a:cubicBezTo>
                  <a:cubicBezTo>
                    <a:pt x="1187" y="63"/>
                    <a:pt x="0" y="1321"/>
                    <a:pt x="28" y="2835"/>
                  </a:cubicBezTo>
                  <a:cubicBezTo>
                    <a:pt x="55" y="4348"/>
                    <a:pt x="1287" y="5563"/>
                    <a:pt x="2802" y="5567"/>
                  </a:cubicBezTo>
                  <a:cubicBezTo>
                    <a:pt x="2837" y="5567"/>
                    <a:pt x="2872" y="5567"/>
                    <a:pt x="2907" y="5566"/>
                  </a:cubicBezTo>
                  <a:cubicBezTo>
                    <a:pt x="4418" y="5504"/>
                    <a:pt x="5603" y="4246"/>
                    <a:pt x="5576" y="2733"/>
                  </a:cubicBezTo>
                  <a:cubicBezTo>
                    <a:pt x="5548" y="1221"/>
                    <a:pt x="4318" y="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1" name="Google Shape;601;p44"/>
          <p:cNvSpPr/>
          <p:nvPr/>
        </p:nvSpPr>
        <p:spPr>
          <a:xfrm>
            <a:off x="1862607" y="3222882"/>
            <a:ext cx="412360" cy="341665"/>
          </a:xfrm>
          <a:custGeom>
            <a:avLst/>
            <a:gdLst/>
            <a:ahLst/>
            <a:cxnLst/>
            <a:rect l="l" t="t" r="r" b="b"/>
            <a:pathLst>
              <a:path w="13579" h="11251" extrusionOk="0">
                <a:moveTo>
                  <a:pt x="5431" y="2254"/>
                </a:moveTo>
                <a:lnTo>
                  <a:pt x="9445" y="4547"/>
                </a:lnTo>
                <a:lnTo>
                  <a:pt x="5431" y="6841"/>
                </a:lnTo>
                <a:lnTo>
                  <a:pt x="5431" y="2254"/>
                </a:lnTo>
                <a:close/>
                <a:moveTo>
                  <a:pt x="0" y="0"/>
                </a:moveTo>
                <a:lnTo>
                  <a:pt x="0" y="9310"/>
                </a:lnTo>
                <a:lnTo>
                  <a:pt x="5431" y="9310"/>
                </a:lnTo>
                <a:lnTo>
                  <a:pt x="5431" y="10474"/>
                </a:lnTo>
                <a:lnTo>
                  <a:pt x="3103" y="10474"/>
                </a:lnTo>
                <a:lnTo>
                  <a:pt x="3103" y="11251"/>
                </a:lnTo>
                <a:lnTo>
                  <a:pt x="10475" y="11251"/>
                </a:lnTo>
                <a:lnTo>
                  <a:pt x="10475" y="10474"/>
                </a:lnTo>
                <a:lnTo>
                  <a:pt x="8147" y="10474"/>
                </a:lnTo>
                <a:lnTo>
                  <a:pt x="8147" y="9310"/>
                </a:lnTo>
                <a:lnTo>
                  <a:pt x="13579" y="9310"/>
                </a:lnTo>
                <a:lnTo>
                  <a:pt x="135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2" name="Google Shape;602;p44"/>
          <p:cNvGrpSpPr/>
          <p:nvPr/>
        </p:nvGrpSpPr>
        <p:grpSpPr>
          <a:xfrm>
            <a:off x="6863091" y="3222897"/>
            <a:ext cx="424143" cy="341665"/>
            <a:chOff x="2497725" y="3268250"/>
            <a:chExt cx="349175" cy="281275"/>
          </a:xfrm>
        </p:grpSpPr>
        <p:sp>
          <p:nvSpPr>
            <p:cNvPr id="603" name="Google Shape;603;p44"/>
            <p:cNvSpPr/>
            <p:nvPr/>
          </p:nvSpPr>
          <p:spPr>
            <a:xfrm>
              <a:off x="2497725" y="3268250"/>
              <a:ext cx="349175" cy="281275"/>
            </a:xfrm>
            <a:custGeom>
              <a:avLst/>
              <a:gdLst/>
              <a:ahLst/>
              <a:cxnLst/>
              <a:rect l="l" t="t" r="r" b="b"/>
              <a:pathLst>
                <a:path w="13967" h="11251" extrusionOk="0">
                  <a:moveTo>
                    <a:pt x="13191" y="1164"/>
                  </a:moveTo>
                  <a:lnTo>
                    <a:pt x="13191" y="7759"/>
                  </a:lnTo>
                  <a:lnTo>
                    <a:pt x="1164" y="7759"/>
                  </a:lnTo>
                  <a:lnTo>
                    <a:pt x="1164" y="1164"/>
                  </a:lnTo>
                  <a:close/>
                  <a:moveTo>
                    <a:pt x="0" y="0"/>
                  </a:moveTo>
                  <a:lnTo>
                    <a:pt x="0" y="9310"/>
                  </a:lnTo>
                  <a:lnTo>
                    <a:pt x="5431" y="9310"/>
                  </a:lnTo>
                  <a:lnTo>
                    <a:pt x="5431" y="10474"/>
                  </a:lnTo>
                  <a:lnTo>
                    <a:pt x="3492" y="10474"/>
                  </a:lnTo>
                  <a:lnTo>
                    <a:pt x="3492" y="11251"/>
                  </a:lnTo>
                  <a:lnTo>
                    <a:pt x="10476" y="11251"/>
                  </a:lnTo>
                  <a:lnTo>
                    <a:pt x="10476" y="10474"/>
                  </a:lnTo>
                  <a:lnTo>
                    <a:pt x="8535" y="10474"/>
                  </a:lnTo>
                  <a:lnTo>
                    <a:pt x="8535" y="9310"/>
                  </a:lnTo>
                  <a:lnTo>
                    <a:pt x="13966" y="9310"/>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44"/>
            <p:cNvSpPr/>
            <p:nvPr/>
          </p:nvSpPr>
          <p:spPr>
            <a:xfrm>
              <a:off x="2691675" y="3326425"/>
              <a:ext cx="101525" cy="116425"/>
            </a:xfrm>
            <a:custGeom>
              <a:avLst/>
              <a:gdLst/>
              <a:ahLst/>
              <a:cxnLst/>
              <a:rect l="l" t="t" r="r" b="b"/>
              <a:pathLst>
                <a:path w="4061" h="4657" extrusionOk="0">
                  <a:moveTo>
                    <a:pt x="1449" y="776"/>
                  </a:moveTo>
                  <a:cubicBezTo>
                    <a:pt x="1615" y="776"/>
                    <a:pt x="1781" y="809"/>
                    <a:pt x="1935" y="873"/>
                  </a:cubicBezTo>
                  <a:cubicBezTo>
                    <a:pt x="2081" y="935"/>
                    <a:pt x="2212" y="1029"/>
                    <a:pt x="2316" y="1149"/>
                  </a:cubicBezTo>
                  <a:cubicBezTo>
                    <a:pt x="2421" y="1275"/>
                    <a:pt x="2501" y="1421"/>
                    <a:pt x="2550" y="1577"/>
                  </a:cubicBezTo>
                  <a:cubicBezTo>
                    <a:pt x="2605" y="1756"/>
                    <a:pt x="2632" y="1941"/>
                    <a:pt x="2631" y="2128"/>
                  </a:cubicBezTo>
                  <a:cubicBezTo>
                    <a:pt x="2632" y="2311"/>
                    <a:pt x="2605" y="2495"/>
                    <a:pt x="2550" y="2672"/>
                  </a:cubicBezTo>
                  <a:cubicBezTo>
                    <a:pt x="2501" y="2829"/>
                    <a:pt x="2423" y="2975"/>
                    <a:pt x="2319" y="3102"/>
                  </a:cubicBezTo>
                  <a:cubicBezTo>
                    <a:pt x="2216" y="3225"/>
                    <a:pt x="2087" y="3324"/>
                    <a:pt x="1941" y="3389"/>
                  </a:cubicBezTo>
                  <a:cubicBezTo>
                    <a:pt x="1791" y="3458"/>
                    <a:pt x="1620" y="3493"/>
                    <a:pt x="1426" y="3493"/>
                  </a:cubicBezTo>
                  <a:lnTo>
                    <a:pt x="776" y="3493"/>
                  </a:lnTo>
                  <a:lnTo>
                    <a:pt x="777" y="776"/>
                  </a:lnTo>
                  <a:lnTo>
                    <a:pt x="1428" y="776"/>
                  </a:lnTo>
                  <a:cubicBezTo>
                    <a:pt x="1435" y="776"/>
                    <a:pt x="1442" y="776"/>
                    <a:pt x="1449" y="776"/>
                  </a:cubicBezTo>
                  <a:close/>
                  <a:moveTo>
                    <a:pt x="1" y="1"/>
                  </a:moveTo>
                  <a:lnTo>
                    <a:pt x="1" y="4657"/>
                  </a:lnTo>
                  <a:lnTo>
                    <a:pt x="1739" y="4657"/>
                  </a:lnTo>
                  <a:cubicBezTo>
                    <a:pt x="2087" y="4657"/>
                    <a:pt x="2405" y="4600"/>
                    <a:pt x="2693" y="4489"/>
                  </a:cubicBezTo>
                  <a:cubicBezTo>
                    <a:pt x="2968" y="4385"/>
                    <a:pt x="3218" y="4224"/>
                    <a:pt x="3426" y="4016"/>
                  </a:cubicBezTo>
                  <a:cubicBezTo>
                    <a:pt x="3633" y="3808"/>
                    <a:pt x="3793" y="3558"/>
                    <a:pt x="3896" y="3282"/>
                  </a:cubicBezTo>
                  <a:cubicBezTo>
                    <a:pt x="4005" y="2995"/>
                    <a:pt x="4059" y="2676"/>
                    <a:pt x="4059" y="2322"/>
                  </a:cubicBezTo>
                  <a:cubicBezTo>
                    <a:pt x="4061" y="2015"/>
                    <a:pt x="4012" y="1710"/>
                    <a:pt x="3912" y="1421"/>
                  </a:cubicBezTo>
                  <a:cubicBezTo>
                    <a:pt x="3818" y="1146"/>
                    <a:pt x="3669" y="894"/>
                    <a:pt x="3472" y="682"/>
                  </a:cubicBezTo>
                  <a:cubicBezTo>
                    <a:pt x="3279" y="472"/>
                    <a:pt x="3037" y="306"/>
                    <a:pt x="2748" y="185"/>
                  </a:cubicBezTo>
                  <a:cubicBezTo>
                    <a:pt x="2459" y="62"/>
                    <a:pt x="2123" y="1"/>
                    <a:pt x="1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44"/>
            <p:cNvSpPr/>
            <p:nvPr/>
          </p:nvSpPr>
          <p:spPr>
            <a:xfrm>
              <a:off x="2565600" y="3326425"/>
              <a:ext cx="97000" cy="116400"/>
            </a:xfrm>
            <a:custGeom>
              <a:avLst/>
              <a:gdLst/>
              <a:ahLst/>
              <a:cxnLst/>
              <a:rect l="l" t="t" r="r" b="b"/>
              <a:pathLst>
                <a:path w="3880" h="4656" extrusionOk="0">
                  <a:moveTo>
                    <a:pt x="0" y="1"/>
                  </a:moveTo>
                  <a:lnTo>
                    <a:pt x="0" y="4655"/>
                  </a:lnTo>
                  <a:lnTo>
                    <a:pt x="1163" y="4655"/>
                  </a:lnTo>
                  <a:lnTo>
                    <a:pt x="1164" y="2716"/>
                  </a:lnTo>
                  <a:lnTo>
                    <a:pt x="2716" y="2716"/>
                  </a:lnTo>
                  <a:lnTo>
                    <a:pt x="2716" y="4655"/>
                  </a:lnTo>
                  <a:lnTo>
                    <a:pt x="3880" y="4655"/>
                  </a:lnTo>
                  <a:lnTo>
                    <a:pt x="3880" y="1"/>
                  </a:lnTo>
                  <a:lnTo>
                    <a:pt x="2716" y="1"/>
                  </a:lnTo>
                  <a:lnTo>
                    <a:pt x="2716" y="1940"/>
                  </a:lnTo>
                  <a:lnTo>
                    <a:pt x="1164" y="1940"/>
                  </a:lnTo>
                  <a:lnTo>
                    <a:pt x="1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 name="Google Shape;606;p44"/>
          <p:cNvGrpSpPr/>
          <p:nvPr/>
        </p:nvGrpSpPr>
        <p:grpSpPr>
          <a:xfrm>
            <a:off x="4350077" y="3180201"/>
            <a:ext cx="443821" cy="426815"/>
            <a:chOff x="6266050" y="3233200"/>
            <a:chExt cx="365375" cy="351375"/>
          </a:xfrm>
        </p:grpSpPr>
        <p:sp>
          <p:nvSpPr>
            <p:cNvPr id="607" name="Google Shape;607;p44"/>
            <p:cNvSpPr/>
            <p:nvPr/>
          </p:nvSpPr>
          <p:spPr>
            <a:xfrm>
              <a:off x="6266050" y="3299475"/>
              <a:ext cx="132875" cy="147150"/>
            </a:xfrm>
            <a:custGeom>
              <a:avLst/>
              <a:gdLst/>
              <a:ahLst/>
              <a:cxnLst/>
              <a:rect l="l" t="t" r="r" b="b"/>
              <a:pathLst>
                <a:path w="5315" h="5886" extrusionOk="0">
                  <a:moveTo>
                    <a:pt x="1918" y="0"/>
                  </a:moveTo>
                  <a:cubicBezTo>
                    <a:pt x="551" y="1633"/>
                    <a:pt x="1" y="3797"/>
                    <a:pt x="418" y="5885"/>
                  </a:cubicBezTo>
                  <a:lnTo>
                    <a:pt x="5314" y="5885"/>
                  </a:lnTo>
                  <a:lnTo>
                    <a:pt x="19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44"/>
            <p:cNvSpPr/>
            <p:nvPr/>
          </p:nvSpPr>
          <p:spPr>
            <a:xfrm>
              <a:off x="6332775" y="3233200"/>
              <a:ext cx="146175" cy="149750"/>
            </a:xfrm>
            <a:custGeom>
              <a:avLst/>
              <a:gdLst/>
              <a:ahLst/>
              <a:cxnLst/>
              <a:rect l="l" t="t" r="r" b="b"/>
              <a:pathLst>
                <a:path w="5847" h="5990" extrusionOk="0">
                  <a:moveTo>
                    <a:pt x="4640" y="1"/>
                  </a:moveTo>
                  <a:cubicBezTo>
                    <a:pt x="2946" y="1"/>
                    <a:pt x="1293" y="615"/>
                    <a:pt x="1" y="1753"/>
                  </a:cubicBezTo>
                  <a:lnTo>
                    <a:pt x="2447" y="5990"/>
                  </a:lnTo>
                  <a:lnTo>
                    <a:pt x="5847" y="105"/>
                  </a:lnTo>
                  <a:cubicBezTo>
                    <a:pt x="5445" y="35"/>
                    <a:pt x="5041" y="1"/>
                    <a:pt x="4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4"/>
            <p:cNvSpPr/>
            <p:nvPr/>
          </p:nvSpPr>
          <p:spPr>
            <a:xfrm>
              <a:off x="6443800" y="3243575"/>
              <a:ext cx="169900" cy="106050"/>
            </a:xfrm>
            <a:custGeom>
              <a:avLst/>
              <a:gdLst/>
              <a:ahLst/>
              <a:cxnLst/>
              <a:rect l="l" t="t" r="r" b="b"/>
              <a:pathLst>
                <a:path w="6796" h="4242" extrusionOk="0">
                  <a:moveTo>
                    <a:pt x="2449" y="1"/>
                  </a:moveTo>
                  <a:lnTo>
                    <a:pt x="0" y="4242"/>
                  </a:lnTo>
                  <a:lnTo>
                    <a:pt x="6796" y="4242"/>
                  </a:lnTo>
                  <a:cubicBezTo>
                    <a:pt x="6060" y="2245"/>
                    <a:pt x="4462" y="688"/>
                    <a:pt x="24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44"/>
            <p:cNvSpPr/>
            <p:nvPr/>
          </p:nvSpPr>
          <p:spPr>
            <a:xfrm>
              <a:off x="6418525" y="3434800"/>
              <a:ext cx="146175" cy="149775"/>
            </a:xfrm>
            <a:custGeom>
              <a:avLst/>
              <a:gdLst/>
              <a:ahLst/>
              <a:cxnLst/>
              <a:rect l="l" t="t" r="r" b="b"/>
              <a:pathLst>
                <a:path w="5847" h="5991" extrusionOk="0">
                  <a:moveTo>
                    <a:pt x="3400" y="1"/>
                  </a:moveTo>
                  <a:lnTo>
                    <a:pt x="0" y="5886"/>
                  </a:lnTo>
                  <a:cubicBezTo>
                    <a:pt x="402" y="5956"/>
                    <a:pt x="805" y="5990"/>
                    <a:pt x="1206" y="5990"/>
                  </a:cubicBezTo>
                  <a:cubicBezTo>
                    <a:pt x="2900" y="5990"/>
                    <a:pt x="4554" y="5376"/>
                    <a:pt x="5846" y="4237"/>
                  </a:cubicBezTo>
                  <a:lnTo>
                    <a:pt x="34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44"/>
            <p:cNvSpPr/>
            <p:nvPr/>
          </p:nvSpPr>
          <p:spPr>
            <a:xfrm>
              <a:off x="6283775" y="3465975"/>
              <a:ext cx="169900" cy="106025"/>
            </a:xfrm>
            <a:custGeom>
              <a:avLst/>
              <a:gdLst/>
              <a:ahLst/>
              <a:cxnLst/>
              <a:rect l="l" t="t" r="r" b="b"/>
              <a:pathLst>
                <a:path w="6796" h="4241" extrusionOk="0">
                  <a:moveTo>
                    <a:pt x="0" y="0"/>
                  </a:moveTo>
                  <a:cubicBezTo>
                    <a:pt x="736" y="1997"/>
                    <a:pt x="2332" y="3554"/>
                    <a:pt x="4346" y="4241"/>
                  </a:cubicBezTo>
                  <a:lnTo>
                    <a:pt x="67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4"/>
            <p:cNvSpPr/>
            <p:nvPr/>
          </p:nvSpPr>
          <p:spPr>
            <a:xfrm>
              <a:off x="6498550" y="3378700"/>
              <a:ext cx="132875" cy="147125"/>
            </a:xfrm>
            <a:custGeom>
              <a:avLst/>
              <a:gdLst/>
              <a:ahLst/>
              <a:cxnLst/>
              <a:rect l="l" t="t" r="r" b="b"/>
              <a:pathLst>
                <a:path w="5315" h="5885" extrusionOk="0">
                  <a:moveTo>
                    <a:pt x="1" y="1"/>
                  </a:moveTo>
                  <a:lnTo>
                    <a:pt x="3396" y="5884"/>
                  </a:lnTo>
                  <a:cubicBezTo>
                    <a:pt x="4764" y="4253"/>
                    <a:pt x="5314" y="2087"/>
                    <a:pt x="4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44"/>
          <p:cNvGrpSpPr/>
          <p:nvPr/>
        </p:nvGrpSpPr>
        <p:grpSpPr>
          <a:xfrm>
            <a:off x="4367842" y="1339565"/>
            <a:ext cx="408291" cy="350714"/>
            <a:chOff x="1000100" y="3827300"/>
            <a:chExt cx="336125" cy="288725"/>
          </a:xfrm>
        </p:grpSpPr>
        <p:sp>
          <p:nvSpPr>
            <p:cNvPr id="614" name="Google Shape;614;p44"/>
            <p:cNvSpPr/>
            <p:nvPr/>
          </p:nvSpPr>
          <p:spPr>
            <a:xfrm>
              <a:off x="1000100" y="3827300"/>
              <a:ext cx="203725" cy="288725"/>
            </a:xfrm>
            <a:custGeom>
              <a:avLst/>
              <a:gdLst/>
              <a:ahLst/>
              <a:cxnLst/>
              <a:rect l="l" t="t" r="r" b="b"/>
              <a:pathLst>
                <a:path w="8149" h="11549" extrusionOk="0">
                  <a:moveTo>
                    <a:pt x="8149" y="0"/>
                  </a:moveTo>
                  <a:lnTo>
                    <a:pt x="3503" y="3252"/>
                  </a:lnTo>
                  <a:lnTo>
                    <a:pt x="1" y="3252"/>
                  </a:lnTo>
                  <a:lnTo>
                    <a:pt x="1" y="8297"/>
                  </a:lnTo>
                  <a:lnTo>
                    <a:pt x="3503" y="8297"/>
                  </a:lnTo>
                  <a:lnTo>
                    <a:pt x="8149" y="11549"/>
                  </a:lnTo>
                  <a:lnTo>
                    <a:pt x="81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4"/>
            <p:cNvSpPr/>
            <p:nvPr/>
          </p:nvSpPr>
          <p:spPr>
            <a:xfrm>
              <a:off x="1232900" y="3864425"/>
              <a:ext cx="103325" cy="206650"/>
            </a:xfrm>
            <a:custGeom>
              <a:avLst/>
              <a:gdLst/>
              <a:ahLst/>
              <a:cxnLst/>
              <a:rect l="l" t="t" r="r" b="b"/>
              <a:pathLst>
                <a:path w="4133" h="8266" extrusionOk="0">
                  <a:moveTo>
                    <a:pt x="1" y="0"/>
                  </a:moveTo>
                  <a:lnTo>
                    <a:pt x="1" y="1182"/>
                  </a:lnTo>
                  <a:cubicBezTo>
                    <a:pt x="1627" y="1182"/>
                    <a:pt x="2952" y="2506"/>
                    <a:pt x="2952" y="4133"/>
                  </a:cubicBezTo>
                  <a:cubicBezTo>
                    <a:pt x="2952" y="5761"/>
                    <a:pt x="1627" y="7085"/>
                    <a:pt x="1" y="7085"/>
                  </a:cubicBezTo>
                  <a:lnTo>
                    <a:pt x="1" y="8265"/>
                  </a:lnTo>
                  <a:cubicBezTo>
                    <a:pt x="2279" y="8265"/>
                    <a:pt x="4133" y="6411"/>
                    <a:pt x="4133" y="4133"/>
                  </a:cubicBezTo>
                  <a:cubicBezTo>
                    <a:pt x="4133" y="1854"/>
                    <a:pt x="227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44"/>
            <p:cNvSpPr/>
            <p:nvPr/>
          </p:nvSpPr>
          <p:spPr>
            <a:xfrm>
              <a:off x="1232875" y="3923450"/>
              <a:ext cx="44300" cy="88575"/>
            </a:xfrm>
            <a:custGeom>
              <a:avLst/>
              <a:gdLst/>
              <a:ahLst/>
              <a:cxnLst/>
              <a:rect l="l" t="t" r="r" b="b"/>
              <a:pathLst>
                <a:path w="1772" h="3543" extrusionOk="0">
                  <a:moveTo>
                    <a:pt x="0" y="0"/>
                  </a:moveTo>
                  <a:lnTo>
                    <a:pt x="0" y="1182"/>
                  </a:lnTo>
                  <a:cubicBezTo>
                    <a:pt x="323" y="1188"/>
                    <a:pt x="581" y="1449"/>
                    <a:pt x="581" y="1772"/>
                  </a:cubicBezTo>
                  <a:cubicBezTo>
                    <a:pt x="581" y="2094"/>
                    <a:pt x="323" y="2357"/>
                    <a:pt x="0" y="2363"/>
                  </a:cubicBezTo>
                  <a:lnTo>
                    <a:pt x="0" y="3543"/>
                  </a:lnTo>
                  <a:cubicBezTo>
                    <a:pt x="979" y="3543"/>
                    <a:pt x="1771" y="2749"/>
                    <a:pt x="1771" y="1772"/>
                  </a:cubicBezTo>
                  <a:cubicBezTo>
                    <a:pt x="1771" y="794"/>
                    <a:pt x="979" y="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7" name="Google Shape;617;p44"/>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44"/>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4"/>
          <p:cNvSpPr/>
          <p:nvPr/>
        </p:nvSpPr>
        <p:spPr>
          <a:xfrm>
            <a:off x="8568775" y="3251677"/>
            <a:ext cx="162900" cy="204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4"/>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4"/>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4"/>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4"/>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5"/>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RECOMMENDATIONS</a:t>
            </a:r>
            <a:endParaRPr/>
          </a:p>
        </p:txBody>
      </p:sp>
      <p:sp>
        <p:nvSpPr>
          <p:cNvPr id="629" name="Google Shape;629;p45"/>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630" name="Google Shape;630;p45"/>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631" name="Google Shape;631;p45"/>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632" name="Google Shape;632;p45"/>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633" name="Google Shape;633;p45"/>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634" name="Google Shape;634;p45"/>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635" name="Google Shape;635;p45"/>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636" name="Google Shape;636;p45"/>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637" name="Google Shape;637;p45"/>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638" name="Google Shape;638;p45"/>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639" name="Google Shape;639;p45"/>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640" name="Google Shape;640;p45"/>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pic>
        <p:nvPicPr>
          <p:cNvPr id="641" name="Google Shape;641;p45"/>
          <p:cNvPicPr preferRelativeResize="0"/>
          <p:nvPr/>
        </p:nvPicPr>
        <p:blipFill>
          <a:blip r:embed="rId3">
            <a:alphaModFix/>
          </a:blip>
          <a:stretch>
            <a:fillRect/>
          </a:stretch>
        </p:blipFill>
        <p:spPr>
          <a:xfrm rot="-469007">
            <a:off x="1635881" y="2479532"/>
            <a:ext cx="1663439" cy="1907487"/>
          </a:xfrm>
          <a:prstGeom prst="rect">
            <a:avLst/>
          </a:prstGeom>
          <a:noFill/>
          <a:ln>
            <a:noFill/>
          </a:ln>
        </p:spPr>
      </p:pic>
      <p:pic>
        <p:nvPicPr>
          <p:cNvPr id="642" name="Google Shape;642;p45"/>
          <p:cNvPicPr preferRelativeResize="0"/>
          <p:nvPr/>
        </p:nvPicPr>
        <p:blipFill>
          <a:blip r:embed="rId4">
            <a:alphaModFix/>
          </a:blip>
          <a:stretch>
            <a:fillRect/>
          </a:stretch>
        </p:blipFill>
        <p:spPr>
          <a:xfrm rot="-751749">
            <a:off x="873088" y="1180159"/>
            <a:ext cx="1910474" cy="135383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Images reveal large amounts of data, so remember: use an image instead of a long text. Your audience will appreciate it</a:t>
            </a:r>
            <a:endParaRPr/>
          </a:p>
        </p:txBody>
      </p:sp>
      <p:sp>
        <p:nvSpPr>
          <p:cNvPr id="681" name="Google Shape;681;p50"/>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ALWAYS REINFORCES THE CONCEPT</a:t>
            </a:r>
            <a:endParaRPr/>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5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754" name="Google Shape;754;p56"/>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r>
              <a:rPr lang="en" b="1"/>
              <a:t> </a:t>
            </a:r>
            <a:r>
              <a:rPr lang="en"/>
              <a:t>has a beautiful name and is the second planet from the Sun. It’s terribly hot, even hotter than Mercury, and its atmosphere is extremely poisonous. It’s the second-brightest natural object in the night sky after the Moon</a:t>
            </a:r>
            <a:endParaRPr/>
          </a:p>
        </p:txBody>
      </p:sp>
      <p:sp>
        <p:nvSpPr>
          <p:cNvPr id="755" name="Google Shape;755;p56"/>
          <p:cNvSpPr/>
          <p:nvPr/>
        </p:nvSpPr>
        <p:spPr>
          <a:xfrm>
            <a:off x="1418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6"/>
          <p:cNvSpPr/>
          <p:nvPr/>
        </p:nvSpPr>
        <p:spPr>
          <a:xfrm>
            <a:off x="3187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6"/>
          <p:cNvSpPr/>
          <p:nvPr/>
        </p:nvSpPr>
        <p:spPr>
          <a:xfrm>
            <a:off x="4956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56"/>
          <p:cNvCxnSpPr>
            <a:stCxn id="755" idx="6"/>
            <a:endCxn id="756" idx="2"/>
          </p:cNvCxnSpPr>
          <p:nvPr/>
        </p:nvCxnSpPr>
        <p:spPr>
          <a:xfrm>
            <a:off x="2422163" y="3349225"/>
            <a:ext cx="765600" cy="0"/>
          </a:xfrm>
          <a:prstGeom prst="straightConnector1">
            <a:avLst/>
          </a:prstGeom>
          <a:noFill/>
          <a:ln w="19050" cap="flat" cmpd="sng">
            <a:solidFill>
              <a:schemeClr val="lt2"/>
            </a:solidFill>
            <a:prstDash val="solid"/>
            <a:round/>
            <a:headEnd type="none" w="med" len="med"/>
            <a:tailEnd type="none" w="med" len="med"/>
          </a:ln>
        </p:spPr>
      </p:cxnSp>
      <p:cxnSp>
        <p:nvCxnSpPr>
          <p:cNvPr id="759" name="Google Shape;759;p56"/>
          <p:cNvCxnSpPr>
            <a:stCxn id="756" idx="6"/>
            <a:endCxn id="757" idx="2"/>
          </p:cNvCxnSpPr>
          <p:nvPr/>
        </p:nvCxnSpPr>
        <p:spPr>
          <a:xfrm>
            <a:off x="4191163" y="3349225"/>
            <a:ext cx="765600" cy="0"/>
          </a:xfrm>
          <a:prstGeom prst="straightConnector1">
            <a:avLst/>
          </a:prstGeom>
          <a:noFill/>
          <a:ln w="19050" cap="flat" cmpd="sng">
            <a:solidFill>
              <a:schemeClr val="lt2"/>
            </a:solidFill>
            <a:prstDash val="solid"/>
            <a:round/>
            <a:headEnd type="none" w="med" len="med"/>
            <a:tailEnd type="none" w="med" len="med"/>
          </a:ln>
        </p:spPr>
      </p:cxnSp>
      <p:sp>
        <p:nvSpPr>
          <p:cNvPr id="760" name="Google Shape;760;p56"/>
          <p:cNvSpPr txBox="1"/>
          <p:nvPr/>
        </p:nvSpPr>
        <p:spPr>
          <a:xfrm>
            <a:off x="2882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2</a:t>
            </a:r>
            <a:endParaRPr sz="2500">
              <a:solidFill>
                <a:schemeClr val="lt2"/>
              </a:solidFill>
              <a:latin typeface="Righteous"/>
              <a:ea typeface="Righteous"/>
              <a:cs typeface="Righteous"/>
              <a:sym typeface="Righteous"/>
            </a:endParaRPr>
          </a:p>
        </p:txBody>
      </p:sp>
      <p:sp>
        <p:nvSpPr>
          <p:cNvPr id="761" name="Google Shape;761;p56"/>
          <p:cNvSpPr txBox="1"/>
          <p:nvPr/>
        </p:nvSpPr>
        <p:spPr>
          <a:xfrm>
            <a:off x="1113562"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1</a:t>
            </a:r>
            <a:endParaRPr sz="2500">
              <a:solidFill>
                <a:schemeClr val="lt2"/>
              </a:solidFill>
              <a:latin typeface="Righteous"/>
              <a:ea typeface="Righteous"/>
              <a:cs typeface="Righteous"/>
              <a:sym typeface="Righteous"/>
            </a:endParaRPr>
          </a:p>
        </p:txBody>
      </p:sp>
      <p:sp>
        <p:nvSpPr>
          <p:cNvPr id="762" name="Google Shape;762;p56"/>
          <p:cNvSpPr txBox="1"/>
          <p:nvPr/>
        </p:nvSpPr>
        <p:spPr>
          <a:xfrm>
            <a:off x="4651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3</a:t>
            </a:r>
            <a:endParaRPr sz="2500">
              <a:solidFill>
                <a:schemeClr val="lt2"/>
              </a:solidFill>
              <a:latin typeface="Righteous"/>
              <a:ea typeface="Righteous"/>
              <a:cs typeface="Righteous"/>
              <a:sym typeface="Righteous"/>
            </a:endParaRPr>
          </a:p>
        </p:txBody>
      </p:sp>
      <p:sp>
        <p:nvSpPr>
          <p:cNvPr id="763" name="Google Shape;763;p56"/>
          <p:cNvSpPr/>
          <p:nvPr/>
        </p:nvSpPr>
        <p:spPr>
          <a:xfrm>
            <a:off x="6721844"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4" name="Google Shape;764;p56"/>
          <p:cNvCxnSpPr>
            <a:stCxn id="757" idx="6"/>
            <a:endCxn id="763" idx="2"/>
          </p:cNvCxnSpPr>
          <p:nvPr/>
        </p:nvCxnSpPr>
        <p:spPr>
          <a:xfrm>
            <a:off x="5960163" y="3349225"/>
            <a:ext cx="761700" cy="0"/>
          </a:xfrm>
          <a:prstGeom prst="straightConnector1">
            <a:avLst/>
          </a:prstGeom>
          <a:noFill/>
          <a:ln w="19050" cap="flat" cmpd="sng">
            <a:solidFill>
              <a:schemeClr val="lt2"/>
            </a:solidFill>
            <a:prstDash val="solid"/>
            <a:round/>
            <a:headEnd type="none" w="med" len="med"/>
            <a:tailEnd type="none" w="med" len="med"/>
          </a:ln>
        </p:spPr>
      </p:cxnSp>
      <p:sp>
        <p:nvSpPr>
          <p:cNvPr id="765" name="Google Shape;765;p56"/>
          <p:cNvSpPr txBox="1"/>
          <p:nvPr/>
        </p:nvSpPr>
        <p:spPr>
          <a:xfrm>
            <a:off x="6416744"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4</a:t>
            </a:r>
            <a:endParaRPr sz="2500">
              <a:solidFill>
                <a:schemeClr val="lt2"/>
              </a:solidFill>
              <a:latin typeface="Righteous"/>
              <a:ea typeface="Righteous"/>
              <a:cs typeface="Righteous"/>
              <a:sym typeface="Righteous"/>
            </a:endParaRPr>
          </a:p>
        </p:txBody>
      </p:sp>
      <p:grpSp>
        <p:nvGrpSpPr>
          <p:cNvPr id="766" name="Google Shape;766;p56"/>
          <p:cNvGrpSpPr/>
          <p:nvPr/>
        </p:nvGrpSpPr>
        <p:grpSpPr>
          <a:xfrm>
            <a:off x="1701017" y="3128878"/>
            <a:ext cx="438774" cy="440693"/>
            <a:chOff x="-49764975" y="3551225"/>
            <a:chExt cx="299300" cy="300650"/>
          </a:xfrm>
        </p:grpSpPr>
        <p:sp>
          <p:nvSpPr>
            <p:cNvPr id="767" name="Google Shape;767;p56"/>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6"/>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56"/>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6"/>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56"/>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56"/>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56"/>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6"/>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6"/>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56"/>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6"/>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 name="Google Shape;778;p56"/>
          <p:cNvGrpSpPr/>
          <p:nvPr/>
        </p:nvGrpSpPr>
        <p:grpSpPr>
          <a:xfrm>
            <a:off x="7000333" y="3128682"/>
            <a:ext cx="438776" cy="441085"/>
            <a:chOff x="-49027775" y="3550975"/>
            <a:chExt cx="300100" cy="301700"/>
          </a:xfrm>
        </p:grpSpPr>
        <p:sp>
          <p:nvSpPr>
            <p:cNvPr id="779" name="Google Shape;779;p56"/>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56"/>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56"/>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6"/>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56"/>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6"/>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6"/>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56"/>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56"/>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6"/>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 name="Google Shape;789;p56"/>
          <p:cNvGrpSpPr/>
          <p:nvPr/>
        </p:nvGrpSpPr>
        <p:grpSpPr>
          <a:xfrm>
            <a:off x="5233938" y="3118562"/>
            <a:ext cx="438765" cy="461326"/>
            <a:chOff x="-9949025" y="3615575"/>
            <a:chExt cx="335550" cy="352750"/>
          </a:xfrm>
        </p:grpSpPr>
        <p:sp>
          <p:nvSpPr>
            <p:cNvPr id="790" name="Google Shape;790;p56"/>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6"/>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6"/>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 name="Google Shape;793;p56"/>
          <p:cNvGrpSpPr/>
          <p:nvPr/>
        </p:nvGrpSpPr>
        <p:grpSpPr>
          <a:xfrm>
            <a:off x="3467474" y="3131541"/>
            <a:ext cx="438786" cy="435368"/>
            <a:chOff x="-47892800" y="3200500"/>
            <a:chExt cx="301675" cy="299325"/>
          </a:xfrm>
        </p:grpSpPr>
        <p:sp>
          <p:nvSpPr>
            <p:cNvPr id="794" name="Google Shape;794;p56"/>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56"/>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56"/>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6"/>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56"/>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56"/>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0" name="Google Shape;800;p56"/>
          <p:cNvSpPr txBox="1"/>
          <p:nvPr/>
        </p:nvSpPr>
        <p:spPr>
          <a:xfrm>
            <a:off x="1113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Mercury is a very small planet</a:t>
            </a:r>
            <a:endParaRPr>
              <a:solidFill>
                <a:schemeClr val="lt2"/>
              </a:solidFill>
              <a:latin typeface="Comic Neue"/>
              <a:ea typeface="Comic Neue"/>
              <a:cs typeface="Comic Neue"/>
              <a:sym typeface="Comic Neue"/>
            </a:endParaRPr>
          </a:p>
        </p:txBody>
      </p:sp>
      <p:sp>
        <p:nvSpPr>
          <p:cNvPr id="801" name="Google Shape;801;p56"/>
          <p:cNvSpPr txBox="1"/>
          <p:nvPr/>
        </p:nvSpPr>
        <p:spPr>
          <a:xfrm>
            <a:off x="6416744"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Jupiter is a very big planet</a:t>
            </a:r>
            <a:endParaRPr>
              <a:solidFill>
                <a:schemeClr val="dk1"/>
              </a:solidFill>
              <a:latin typeface="Comic Neue"/>
              <a:ea typeface="Comic Neue"/>
              <a:cs typeface="Comic Neue"/>
              <a:sym typeface="Comic Neue"/>
            </a:endParaRPr>
          </a:p>
        </p:txBody>
      </p:sp>
      <p:sp>
        <p:nvSpPr>
          <p:cNvPr id="802" name="Google Shape;802;p56"/>
          <p:cNvSpPr txBox="1"/>
          <p:nvPr/>
        </p:nvSpPr>
        <p:spPr>
          <a:xfrm>
            <a:off x="4651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Mars is actually a very cold place</a:t>
            </a:r>
            <a:endParaRPr>
              <a:solidFill>
                <a:schemeClr val="dk1"/>
              </a:solidFill>
              <a:latin typeface="Comic Neue"/>
              <a:ea typeface="Comic Neue"/>
              <a:cs typeface="Comic Neue"/>
              <a:sym typeface="Comic Neue"/>
            </a:endParaRPr>
          </a:p>
        </p:txBody>
      </p:sp>
      <p:sp>
        <p:nvSpPr>
          <p:cNvPr id="803" name="Google Shape;803;p56"/>
          <p:cNvSpPr txBox="1"/>
          <p:nvPr/>
        </p:nvSpPr>
        <p:spPr>
          <a:xfrm>
            <a:off x="2882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Saturn is a gas giant with rings</a:t>
            </a:r>
            <a:endParaRPr>
              <a:solidFill>
                <a:schemeClr val="dk1"/>
              </a:solidFill>
              <a:latin typeface="Comic Neue"/>
              <a:ea typeface="Comic Neue"/>
              <a:cs typeface="Comic Neue"/>
              <a:sym typeface="Comic Neue"/>
            </a:endParaRPr>
          </a:p>
        </p:txBody>
      </p:sp>
    </p:spTree>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1190</TotalTime>
  <Words>1905</Words>
  <Application>Microsoft Office PowerPoint</Application>
  <PresentationFormat>On-screen Show (16:9)</PresentationFormat>
  <Paragraphs>254</Paragraphs>
  <Slides>35</Slides>
  <Notes>33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35</vt:i4>
      </vt:variant>
    </vt:vector>
  </HeadingPairs>
  <TitlesOfParts>
    <vt:vector size="43" baseType="lpstr">
      <vt:lpstr>Arial</vt:lpstr>
      <vt:lpstr>Wingdings</vt:lpstr>
      <vt:lpstr>Comic Neue</vt:lpstr>
      <vt:lpstr>Cambria Math</vt:lpstr>
      <vt:lpstr>Roboto Mono</vt:lpstr>
      <vt:lpstr>Righteous</vt:lpstr>
      <vt:lpstr>Bebas Neue</vt:lpstr>
      <vt:lpstr>Movie Maker Animation Studios Style Workshop by Slidesgo</vt:lpstr>
      <vt:lpstr>Auditions Analysis System</vt:lpstr>
      <vt:lpstr>Architecture Recap</vt:lpstr>
      <vt:lpstr>Architectural Diagram</vt:lpstr>
      <vt:lpstr>COMPONENT DIAGRAM</vt:lpstr>
      <vt:lpstr>Implementation Overview</vt:lpstr>
      <vt:lpstr>Overview</vt:lpstr>
      <vt:lpstr>Implementation Overview – System Workflow</vt:lpstr>
      <vt:lpstr>Functional Coverage Mapping</vt:lpstr>
      <vt:lpstr>PowerPoint Presentation</vt:lpstr>
      <vt:lpstr>Code Structure &amp; Core Modules</vt:lpstr>
      <vt:lpstr> System Overview &amp; Code Format</vt:lpstr>
      <vt:lpstr>Architectural Structure</vt:lpstr>
      <vt:lpstr>Machine Learning Pipeline &amp; Data Flow</vt:lpstr>
      <vt:lpstr>Core Modules:</vt:lpstr>
      <vt:lpstr>Architecture vs Implementation Alignment</vt:lpstr>
      <vt:lpstr>Design Rationale &amp; Technical Background</vt:lpstr>
      <vt:lpstr>Design Rationale - Architecture</vt:lpstr>
      <vt:lpstr>Alternatives Acknowledgement</vt:lpstr>
      <vt:lpstr>Technological Background</vt:lpstr>
      <vt:lpstr>Technological Background</vt:lpstr>
      <vt:lpstr>Technological Background</vt:lpstr>
      <vt:lpstr>Technological Background</vt:lpstr>
      <vt:lpstr>Evaluation Methodology</vt:lpstr>
      <vt:lpstr>Quantitative</vt:lpstr>
      <vt:lpstr>System Stability, Risks, Challenges &amp;Next Steps</vt:lpstr>
      <vt:lpstr>System Stability &amp; Risks</vt:lpstr>
      <vt:lpstr>Challenges &amp; Next Steps</vt:lpstr>
      <vt:lpstr>Live Demo</vt:lpstr>
      <vt:lpstr>Theoretical lesson</vt:lpstr>
      <vt:lpstr>IMPORTANT LESSON</vt:lpstr>
      <vt:lpstr>WHAT IS THIS TOPIC ABOUT?</vt:lpstr>
      <vt:lpstr>Mercury</vt:lpstr>
      <vt:lpstr>RECOMMENDATIONS</vt:lpstr>
      <vt:lpstr>A PICTURE ALWAYS REINFORCES THE CONCEPT</vt:lpstr>
      <vt:lpstr>PRACTICAL EXERCISE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66</cp:revision>
  <dcterms:modified xsi:type="dcterms:W3CDTF">2026-03-31T09:25:00Z</dcterms:modified>
</cp:coreProperties>
</file>