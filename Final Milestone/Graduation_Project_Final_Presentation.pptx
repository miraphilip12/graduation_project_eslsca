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Default Extension="jp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29"/>
  </p:notesMasterIdLst>
  <p:sldIdLst>
    <p:sldId id="256" r:id="rId2"/>
    <p:sldId id="262" r:id="rId3"/>
    <p:sldId id="260" r:id="rId4"/>
    <p:sldId id="298" r:id="rId5"/>
    <p:sldId id="264" r:id="rId6"/>
    <p:sldId id="263" r:id="rId7"/>
    <p:sldId id="258" r:id="rId8"/>
    <p:sldId id="292" r:id="rId9"/>
    <p:sldId id="268" r:id="rId10"/>
    <p:sldId id="272" r:id="rId11"/>
    <p:sldId id="293" r:id="rId12"/>
    <p:sldId id="301" r:id="rId13"/>
    <p:sldId id="302" r:id="rId14"/>
    <p:sldId id="294" r:id="rId15"/>
    <p:sldId id="270" r:id="rId16"/>
    <p:sldId id="289" r:id="rId17"/>
    <p:sldId id="295" r:id="rId18"/>
    <p:sldId id="303" r:id="rId19"/>
    <p:sldId id="257" r:id="rId20"/>
    <p:sldId id="304" r:id="rId21"/>
    <p:sldId id="296" r:id="rId22"/>
    <p:sldId id="277" r:id="rId23"/>
    <p:sldId id="305" r:id="rId24"/>
    <p:sldId id="306" r:id="rId25"/>
    <p:sldId id="308" r:id="rId26"/>
    <p:sldId id="309" r:id="rId27"/>
    <p:sldId id="307" r:id="rId28"/>
  </p:sldIdLst>
  <p:sldSz cx="9144000" cy="5143500" type="screen16x9"/>
  <p:notesSz cx="6858000" cy="9144000"/>
  <p:embeddedFontLst>
    <p:embeddedFont>
      <p:font typeface="Akatab" panose="020B0604020202020204" charset="0"/>
      <p:regular r:id="rId30"/>
      <p:bold r:id="rId31"/>
    </p:embeddedFont>
    <p:embeddedFont>
      <p:font typeface="Noto Serif Ethiopic" panose="020B0604020202020204" charset="0"/>
      <p:regular r:id="rId32"/>
      <p:bold r:id="rId33"/>
    </p:embeddedFont>
    <p:embeddedFont>
      <p:font typeface="Bebas Neue" panose="020B0604020202020204" charset="0"/>
      <p:regular r:id="rId34"/>
    </p:embeddedFont>
    <p:embeddedFont>
      <p:font typeface="Comic Neue" panose="020B0604020202020204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245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FFBF228-6F98-4F8E-B3A5-E3E8A43EDDBD}">
  <a:tblStyle styleId="{1FFBF228-6F98-4F8E-B3A5-E3E8A43EDD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5a5b44800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25a5b44800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5a78353f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5a78353f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59dc3832df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259dc3832df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5425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25a78353f5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25a78353f5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5a78353f55_0_27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5a78353f55_0_27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5a5b4480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5a5b4480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25a78353f5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25a78353f5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25a78353f55_0_27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25a78353f55_0_27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25a78353f55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25a78353f55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59dc3832df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259dc3832df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82755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ecaf1dbd25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ecaf1dbd25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93686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ecaf1dbd25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ecaf1dbd25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4570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5a78353f55_0_27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5a78353f55_0_27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84149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25a78353f55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25a78353f55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g25a78353f55_0_278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9" name="Google Shape;909;g25a78353f55_0_278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25a78353f55_0_279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25a78353f55_0_279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89489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25a78353f5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25a78353f5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86877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44239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59dc3832df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259dc3832df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53808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5a78353f55_0_279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25a78353f55_0_279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59dc3832df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59dc3832df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30933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25a78353f5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25a78353f5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46217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5a78353f55_0_27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25a78353f55_0_27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199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51700" y="1050088"/>
            <a:ext cx="4890300" cy="199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51700" y="3040063"/>
            <a:ext cx="48903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393550" y="2502950"/>
            <a:ext cx="4360200" cy="128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1393550" y="3743512"/>
            <a:ext cx="4360200" cy="4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21" name="Google Shape;21;p4"/>
          <p:cNvGrpSpPr/>
          <p:nvPr/>
        </p:nvGrpSpPr>
        <p:grpSpPr>
          <a:xfrm flipH="1">
            <a:off x="435875" y="1292300"/>
            <a:ext cx="90900" cy="3705900"/>
            <a:chOff x="7952125" y="1292300"/>
            <a:chExt cx="90900" cy="3705900"/>
          </a:xfrm>
        </p:grpSpPr>
        <p:sp>
          <p:nvSpPr>
            <p:cNvPr id="22" name="Google Shape;22;p4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3" name="Google Shape;23;p4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" name="Google Shape;24;p4"/>
          <p:cNvGrpSpPr/>
          <p:nvPr/>
        </p:nvGrpSpPr>
        <p:grpSpPr>
          <a:xfrm rot="10800000">
            <a:off x="8617225" y="97275"/>
            <a:ext cx="90900" cy="3705900"/>
            <a:chOff x="7952125" y="1292300"/>
            <a:chExt cx="90900" cy="3705900"/>
          </a:xfrm>
        </p:grpSpPr>
        <p:sp>
          <p:nvSpPr>
            <p:cNvPr id="25" name="Google Shape;25;p4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6" name="Google Shape;26;p4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19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53" name="Google Shape;53;p7"/>
          <p:cNvGrpSpPr/>
          <p:nvPr/>
        </p:nvGrpSpPr>
        <p:grpSpPr>
          <a:xfrm rot="10800000" flipH="1">
            <a:off x="2502023" y="4741850"/>
            <a:ext cx="6506400" cy="90900"/>
            <a:chOff x="1239825" y="571500"/>
            <a:chExt cx="6506400" cy="90900"/>
          </a:xfrm>
        </p:grpSpPr>
        <p:cxnSp>
          <p:nvCxnSpPr>
            <p:cNvPr id="54" name="Google Shape;54;p7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" name="Google Shape;55;p7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hasCustomPrompt="1"/>
          </p:nvPr>
        </p:nvSpPr>
        <p:spPr>
          <a:xfrm>
            <a:off x="1245650" y="1073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2211355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3931900" y="1073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3"/>
          </p:nvPr>
        </p:nvSpPr>
        <p:spPr>
          <a:xfrm>
            <a:off x="3403800" y="2211355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4" hasCustomPrompt="1"/>
          </p:nvPr>
        </p:nvSpPr>
        <p:spPr>
          <a:xfrm>
            <a:off x="6623050" y="1073400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5"/>
          </p:nvPr>
        </p:nvSpPr>
        <p:spPr>
          <a:xfrm>
            <a:off x="6087600" y="2211355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6" hasCustomPrompt="1"/>
          </p:nvPr>
        </p:nvSpPr>
        <p:spPr>
          <a:xfrm>
            <a:off x="2590000" y="282452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7"/>
          </p:nvPr>
        </p:nvSpPr>
        <p:spPr>
          <a:xfrm>
            <a:off x="2064350" y="3970706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8" hasCustomPrompt="1"/>
          </p:nvPr>
        </p:nvSpPr>
        <p:spPr>
          <a:xfrm>
            <a:off x="5276250" y="282452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9"/>
          </p:nvPr>
        </p:nvSpPr>
        <p:spPr>
          <a:xfrm>
            <a:off x="4748150" y="3970706"/>
            <a:ext cx="2336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13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14"/>
          </p:nvPr>
        </p:nvSpPr>
        <p:spPr>
          <a:xfrm>
            <a:off x="715100" y="15906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5"/>
          </p:nvPr>
        </p:nvSpPr>
        <p:spPr>
          <a:xfrm>
            <a:off x="3403800" y="15906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6"/>
          </p:nvPr>
        </p:nvSpPr>
        <p:spPr>
          <a:xfrm>
            <a:off x="6092500" y="15906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17"/>
          </p:nvPr>
        </p:nvSpPr>
        <p:spPr>
          <a:xfrm>
            <a:off x="2059450" y="33500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8"/>
          </p:nvPr>
        </p:nvSpPr>
        <p:spPr>
          <a:xfrm>
            <a:off x="4748150" y="3350000"/>
            <a:ext cx="2336400" cy="71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0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grpSp>
        <p:nvGrpSpPr>
          <p:cNvPr id="101" name="Google Shape;101;p13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102" name="Google Shape;102;p13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3" name="Google Shape;103;p13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/>
          </p:nvPr>
        </p:nvSpPr>
        <p:spPr>
          <a:xfrm>
            <a:off x="1717938" y="3040950"/>
            <a:ext cx="57081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2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subTitle" idx="1"/>
          </p:nvPr>
        </p:nvSpPr>
        <p:spPr>
          <a:xfrm>
            <a:off x="1717960" y="1570650"/>
            <a:ext cx="5708100" cy="147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grpSp>
        <p:nvGrpSpPr>
          <p:cNvPr id="108" name="Google Shape;108;p14"/>
          <p:cNvGrpSpPr/>
          <p:nvPr/>
        </p:nvGrpSpPr>
        <p:grpSpPr>
          <a:xfrm>
            <a:off x="435875" y="97275"/>
            <a:ext cx="8272250" cy="4900925"/>
            <a:chOff x="435875" y="97275"/>
            <a:chExt cx="8272250" cy="4900925"/>
          </a:xfrm>
        </p:grpSpPr>
        <p:grpSp>
          <p:nvGrpSpPr>
            <p:cNvPr id="109" name="Google Shape;109;p14"/>
            <p:cNvGrpSpPr/>
            <p:nvPr/>
          </p:nvGrpSpPr>
          <p:grpSpPr>
            <a:xfrm rot="10800000">
              <a:off x="435875" y="97275"/>
              <a:ext cx="90900" cy="3705900"/>
              <a:chOff x="7952125" y="1292300"/>
              <a:chExt cx="90900" cy="3705900"/>
            </a:xfrm>
          </p:grpSpPr>
          <p:sp>
            <p:nvSpPr>
              <p:cNvPr id="110" name="Google Shape;110;p14"/>
              <p:cNvSpPr/>
              <p:nvPr/>
            </p:nvSpPr>
            <p:spPr>
              <a:xfrm rot="5400000">
                <a:off x="7744975" y="1499450"/>
                <a:ext cx="505200" cy="9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1" name="Google Shape;111;p14"/>
              <p:cNvCxnSpPr/>
              <p:nvPr/>
            </p:nvCxnSpPr>
            <p:spPr>
              <a:xfrm>
                <a:off x="8043025" y="1292300"/>
                <a:ext cx="0" cy="370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2" name="Google Shape;112;p14"/>
            <p:cNvGrpSpPr/>
            <p:nvPr/>
          </p:nvGrpSpPr>
          <p:grpSpPr>
            <a:xfrm flipH="1">
              <a:off x="8617225" y="1292300"/>
              <a:ext cx="90900" cy="3705900"/>
              <a:chOff x="7952125" y="1292300"/>
              <a:chExt cx="90900" cy="3705900"/>
            </a:xfrm>
          </p:grpSpPr>
          <p:sp>
            <p:nvSpPr>
              <p:cNvPr id="113" name="Google Shape;113;p14"/>
              <p:cNvSpPr/>
              <p:nvPr/>
            </p:nvSpPr>
            <p:spPr>
              <a:xfrm rot="5400000">
                <a:off x="7744975" y="1499450"/>
                <a:ext cx="505200" cy="90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4" name="Google Shape;114;p14"/>
              <p:cNvCxnSpPr/>
              <p:nvPr/>
            </p:nvCxnSpPr>
            <p:spPr>
              <a:xfrm>
                <a:off x="8043025" y="1292300"/>
                <a:ext cx="0" cy="370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title"/>
          </p:nvPr>
        </p:nvSpPr>
        <p:spPr>
          <a:xfrm>
            <a:off x="2352125" y="2350750"/>
            <a:ext cx="3555300" cy="13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 idx="2" hasCustomPrompt="1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19" name="Google Shape;119;p15"/>
          <p:cNvSpPr txBox="1">
            <a:spLocks noGrp="1"/>
          </p:cNvSpPr>
          <p:nvPr>
            <p:ph type="subTitle" idx="1"/>
          </p:nvPr>
        </p:nvSpPr>
        <p:spPr>
          <a:xfrm>
            <a:off x="2352125" y="3718300"/>
            <a:ext cx="3555300" cy="4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1_1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title"/>
          </p:nvPr>
        </p:nvSpPr>
        <p:spPr>
          <a:xfrm>
            <a:off x="3854900" y="2450375"/>
            <a:ext cx="3733800" cy="14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 idx="2" hasCustomPrompt="1"/>
          </p:nvPr>
        </p:nvSpPr>
        <p:spPr>
          <a:xfrm>
            <a:off x="5121800" y="16430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24" name="Google Shape;124;p16"/>
          <p:cNvSpPr txBox="1">
            <a:spLocks noGrp="1"/>
          </p:cNvSpPr>
          <p:nvPr>
            <p:ph type="subTitle" idx="1"/>
          </p:nvPr>
        </p:nvSpPr>
        <p:spPr>
          <a:xfrm>
            <a:off x="3854900" y="3855551"/>
            <a:ext cx="3733800" cy="40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8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34" name="Google Shape;134;p18"/>
          <p:cNvGrpSpPr/>
          <p:nvPr/>
        </p:nvGrpSpPr>
        <p:grpSpPr>
          <a:xfrm flipH="1">
            <a:off x="8617225" y="1292300"/>
            <a:ext cx="90900" cy="3705900"/>
            <a:chOff x="7952125" y="1292300"/>
            <a:chExt cx="90900" cy="3705900"/>
          </a:xfrm>
        </p:grpSpPr>
        <p:sp>
          <p:nvSpPr>
            <p:cNvPr id="135" name="Google Shape;135;p18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8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ubTitle" idx="1"/>
          </p:nvPr>
        </p:nvSpPr>
        <p:spPr>
          <a:xfrm>
            <a:off x="1068813" y="2004274"/>
            <a:ext cx="3615600" cy="16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41" name="Google Shape;141;p19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142" name="Google Shape;142;p19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3" name="Google Shape;143;p19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" name="Google Shape;144;p19"/>
          <p:cNvGrpSpPr/>
          <p:nvPr/>
        </p:nvGrpSpPr>
        <p:grpSpPr>
          <a:xfrm rot="10800000" flipH="1">
            <a:off x="402371" y="298450"/>
            <a:ext cx="8394600" cy="90900"/>
            <a:chOff x="1239825" y="571500"/>
            <a:chExt cx="8394600" cy="90900"/>
          </a:xfrm>
        </p:grpSpPr>
        <p:cxnSp>
          <p:nvCxnSpPr>
            <p:cNvPr id="145" name="Google Shape;145;p19"/>
            <p:cNvCxnSpPr/>
            <p:nvPr/>
          </p:nvCxnSpPr>
          <p:spPr>
            <a:xfrm>
              <a:off x="1239825" y="571500"/>
              <a:ext cx="8394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" name="Google Shape;146;p19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7" name="Google Shape;147;p19"/>
          <p:cNvSpPr>
            <a:spLocks noGrp="1"/>
          </p:cNvSpPr>
          <p:nvPr>
            <p:ph type="pic" idx="2"/>
          </p:nvPr>
        </p:nvSpPr>
        <p:spPr>
          <a:xfrm>
            <a:off x="4789588" y="1603025"/>
            <a:ext cx="3285600" cy="2476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1"/>
          </p:nvPr>
        </p:nvSpPr>
        <p:spPr>
          <a:xfrm>
            <a:off x="4507381" y="3382988"/>
            <a:ext cx="36156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title"/>
          </p:nvPr>
        </p:nvSpPr>
        <p:spPr>
          <a:xfrm>
            <a:off x="4507456" y="1055513"/>
            <a:ext cx="3615600" cy="232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2"/>
          </p:nvPr>
        </p:nvSpPr>
        <p:spPr>
          <a:xfrm>
            <a:off x="1020944" y="1333499"/>
            <a:ext cx="3285600" cy="24765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53" name="Google Shape;153;p20"/>
          <p:cNvGrpSpPr/>
          <p:nvPr/>
        </p:nvGrpSpPr>
        <p:grpSpPr>
          <a:xfrm>
            <a:off x="435875" y="97275"/>
            <a:ext cx="90900" cy="3705900"/>
            <a:chOff x="435875" y="97275"/>
            <a:chExt cx="90900" cy="3705900"/>
          </a:xfrm>
        </p:grpSpPr>
        <p:cxnSp>
          <p:nvCxnSpPr>
            <p:cNvPr id="154" name="Google Shape;154;p20"/>
            <p:cNvCxnSpPr/>
            <p:nvPr/>
          </p:nvCxnSpPr>
          <p:spPr>
            <a:xfrm rot="10800000">
              <a:off x="435875" y="97275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5" name="Google Shape;155;p20"/>
            <p:cNvSpPr/>
            <p:nvPr/>
          </p:nvSpPr>
          <p:spPr>
            <a:xfrm rot="-5400000">
              <a:off x="228725" y="3505125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5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5"/>
          <p:cNvSpPr txBox="1">
            <a:spLocks noGrp="1"/>
          </p:cNvSpPr>
          <p:nvPr>
            <p:ph type="subTitle" idx="1"/>
          </p:nvPr>
        </p:nvSpPr>
        <p:spPr>
          <a:xfrm>
            <a:off x="948188" y="23031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subTitle" idx="2"/>
          </p:nvPr>
        </p:nvSpPr>
        <p:spPr>
          <a:xfrm>
            <a:off x="4984609" y="23031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subTitle" idx="3"/>
          </p:nvPr>
        </p:nvSpPr>
        <p:spPr>
          <a:xfrm>
            <a:off x="948188" y="2779225"/>
            <a:ext cx="3211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5"/>
          <p:cNvSpPr txBox="1">
            <a:spLocks noGrp="1"/>
          </p:cNvSpPr>
          <p:nvPr>
            <p:ph type="subTitle" idx="4"/>
          </p:nvPr>
        </p:nvSpPr>
        <p:spPr>
          <a:xfrm>
            <a:off x="4984609" y="2779225"/>
            <a:ext cx="3211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03" name="Google Shape;203;p25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204" name="Google Shape;204;p25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5" name="Google Shape;205;p2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" name="Google Shape;206;p25"/>
          <p:cNvGrpSpPr/>
          <p:nvPr/>
        </p:nvGrpSpPr>
        <p:grpSpPr>
          <a:xfrm rot="10800000" flipH="1">
            <a:off x="456371" y="298450"/>
            <a:ext cx="8307000" cy="90900"/>
            <a:chOff x="1239825" y="571500"/>
            <a:chExt cx="8307000" cy="90900"/>
          </a:xfrm>
        </p:grpSpPr>
        <p:cxnSp>
          <p:nvCxnSpPr>
            <p:cNvPr id="207" name="Google Shape;207;p25"/>
            <p:cNvCxnSpPr/>
            <p:nvPr/>
          </p:nvCxnSpPr>
          <p:spPr>
            <a:xfrm>
              <a:off x="1239825" y="571500"/>
              <a:ext cx="8307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8" name="Google Shape;208;p2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6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26"/>
          <p:cNvSpPr txBox="1">
            <a:spLocks noGrp="1"/>
          </p:cNvSpPr>
          <p:nvPr>
            <p:ph type="subTitle" idx="1"/>
          </p:nvPr>
        </p:nvSpPr>
        <p:spPr>
          <a:xfrm>
            <a:off x="4572000" y="1598050"/>
            <a:ext cx="2505600" cy="4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subTitle" idx="2"/>
          </p:nvPr>
        </p:nvSpPr>
        <p:spPr>
          <a:xfrm>
            <a:off x="2066400" y="2938825"/>
            <a:ext cx="2505600" cy="4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erif Ethiopic"/>
              <a:buNone/>
              <a:defRPr sz="24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9pPr>
          </a:lstStyle>
          <a:p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subTitle" idx="3"/>
          </p:nvPr>
        </p:nvSpPr>
        <p:spPr>
          <a:xfrm>
            <a:off x="4572000" y="209215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ubTitle" idx="4"/>
          </p:nvPr>
        </p:nvSpPr>
        <p:spPr>
          <a:xfrm>
            <a:off x="2066400" y="34329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16" name="Google Shape;216;p26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217" name="Google Shape;217;p2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18" name="Google Shape;218;p2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9" name="Google Shape;219;p26"/>
          <p:cNvGrpSpPr/>
          <p:nvPr/>
        </p:nvGrpSpPr>
        <p:grpSpPr>
          <a:xfrm rot="10800000" flipH="1">
            <a:off x="2467871" y="298450"/>
            <a:ext cx="6506400" cy="90900"/>
            <a:chOff x="1239825" y="571500"/>
            <a:chExt cx="6506400" cy="90900"/>
          </a:xfrm>
        </p:grpSpPr>
        <p:cxnSp>
          <p:nvCxnSpPr>
            <p:cNvPr id="220" name="Google Shape;220;p2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21" name="Google Shape;221;p2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5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" name="Google Shape;354;p35"/>
          <p:cNvGrpSpPr/>
          <p:nvPr/>
        </p:nvGrpSpPr>
        <p:grpSpPr>
          <a:xfrm rot="5400000">
            <a:off x="-1374375" y="3095450"/>
            <a:ext cx="3697200" cy="90900"/>
            <a:chOff x="1239825" y="571500"/>
            <a:chExt cx="3697200" cy="90900"/>
          </a:xfrm>
        </p:grpSpPr>
        <p:cxnSp>
          <p:nvCxnSpPr>
            <p:cNvPr id="355" name="Google Shape;355;p35"/>
            <p:cNvCxnSpPr/>
            <p:nvPr/>
          </p:nvCxnSpPr>
          <p:spPr>
            <a:xfrm rot="10800000">
              <a:off x="3088425" y="-1277100"/>
              <a:ext cx="0" cy="369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56" name="Google Shape;356;p3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7" name="Google Shape;357;p35"/>
          <p:cNvGrpSpPr/>
          <p:nvPr/>
        </p:nvGrpSpPr>
        <p:grpSpPr>
          <a:xfrm rot="-5400000">
            <a:off x="6802600" y="1948950"/>
            <a:ext cx="3697200" cy="90900"/>
            <a:chOff x="1239825" y="571500"/>
            <a:chExt cx="3697200" cy="90900"/>
          </a:xfrm>
        </p:grpSpPr>
        <p:cxnSp>
          <p:nvCxnSpPr>
            <p:cNvPr id="358" name="Google Shape;358;p35"/>
            <p:cNvCxnSpPr/>
            <p:nvPr/>
          </p:nvCxnSpPr>
          <p:spPr>
            <a:xfrm rot="10800000">
              <a:off x="3088425" y="-1277100"/>
              <a:ext cx="0" cy="369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59" name="Google Shape;359;p35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6"/>
          <p:cNvSpPr/>
          <p:nvPr/>
        </p:nvSpPr>
        <p:spPr>
          <a:xfrm>
            <a:off x="171450" y="145800"/>
            <a:ext cx="8801100" cy="48519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7150" dist="19050" dir="5400000" algn="bl" rotWithShape="0">
              <a:schemeClr val="dk1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2" name="Google Shape;362;p36"/>
          <p:cNvGrpSpPr/>
          <p:nvPr/>
        </p:nvGrpSpPr>
        <p:grpSpPr>
          <a:xfrm rot="10800000">
            <a:off x="165548" y="4741850"/>
            <a:ext cx="6506400" cy="90900"/>
            <a:chOff x="1239825" y="571500"/>
            <a:chExt cx="6506400" cy="90900"/>
          </a:xfrm>
        </p:grpSpPr>
        <p:cxnSp>
          <p:nvCxnSpPr>
            <p:cNvPr id="363" name="Google Shape;363;p3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4" name="Google Shape;364;p3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6"/>
          <p:cNvGrpSpPr/>
          <p:nvPr/>
        </p:nvGrpSpPr>
        <p:grpSpPr>
          <a:xfrm rot="10800000" flipH="1">
            <a:off x="2467871" y="298450"/>
            <a:ext cx="6506400" cy="90900"/>
            <a:chOff x="1239825" y="571500"/>
            <a:chExt cx="6506400" cy="90900"/>
          </a:xfrm>
        </p:grpSpPr>
        <p:cxnSp>
          <p:nvCxnSpPr>
            <p:cNvPr id="366" name="Google Shape;366;p36"/>
            <p:cNvCxnSpPr/>
            <p:nvPr/>
          </p:nvCxnSpPr>
          <p:spPr>
            <a:xfrm>
              <a:off x="1239825" y="571500"/>
              <a:ext cx="6506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7" name="Google Shape;367;p36"/>
            <p:cNvSpPr/>
            <p:nvPr/>
          </p:nvSpPr>
          <p:spPr>
            <a:xfrm>
              <a:off x="1239825" y="5715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Akatab"/>
              <a:buChar char="■"/>
              <a:defRPr sz="1200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4" r:id="rId10"/>
    <p:sldLayoutId id="2147483665" r:id="rId11"/>
    <p:sldLayoutId id="2147483666" r:id="rId12"/>
    <p:sldLayoutId id="2147483671" r:id="rId13"/>
    <p:sldLayoutId id="2147483672" r:id="rId14"/>
    <p:sldLayoutId id="2147483681" r:id="rId15"/>
    <p:sldLayoutId id="2147483682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7.png"/><Relationship Id="rId5" Type="http://schemas.openxmlformats.org/officeDocument/2006/relationships/image" Target="../media/image6.JP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0"/>
          <p:cNvSpPr txBox="1">
            <a:spLocks noGrp="1"/>
          </p:cNvSpPr>
          <p:nvPr>
            <p:ph type="ctrTitle"/>
          </p:nvPr>
        </p:nvSpPr>
        <p:spPr>
          <a:xfrm>
            <a:off x="597150" y="1211173"/>
            <a:ext cx="5509318" cy="199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sz="5400" dirty="0" smtClean="0"/>
              <a:t>AuditionSense</a:t>
            </a:r>
            <a:br>
              <a:rPr lang="en" sz="5400" dirty="0" smtClean="0"/>
            </a:br>
            <a:r>
              <a:rPr lang="en-US" sz="2000" dirty="0"/>
              <a:t>A Modular Multi-modal AI System</a:t>
            </a:r>
            <a:br>
              <a:rPr lang="en-US" sz="2000" dirty="0"/>
            </a:br>
            <a:r>
              <a:rPr lang="en-US" sz="2000" dirty="0"/>
              <a:t>for Human Performance Analysis</a:t>
            </a:r>
            <a:endParaRPr sz="2000" dirty="0"/>
          </a:p>
        </p:txBody>
      </p:sp>
      <p:sp>
        <p:nvSpPr>
          <p:cNvPr id="379" name="Google Shape;379;p40"/>
          <p:cNvSpPr txBox="1">
            <a:spLocks noGrp="1"/>
          </p:cNvSpPr>
          <p:nvPr>
            <p:ph type="subTitle" idx="1"/>
          </p:nvPr>
        </p:nvSpPr>
        <p:spPr>
          <a:xfrm>
            <a:off x="597150" y="3201373"/>
            <a:ext cx="4890300" cy="13449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latin typeface="Akatab"/>
                <a:ea typeface="Akatab"/>
                <a:cs typeface="Akatab"/>
                <a:sym typeface="Akatab"/>
              </a:rPr>
              <a:t>Prepared by:</a:t>
            </a:r>
            <a:br>
              <a:rPr lang="en" dirty="0" smtClean="0">
                <a:latin typeface="Akatab"/>
                <a:ea typeface="Akatab"/>
                <a:cs typeface="Akatab"/>
                <a:sym typeface="Akatab"/>
              </a:rPr>
            </a:br>
            <a:r>
              <a:rPr lang="en" dirty="0" smtClean="0">
                <a:latin typeface="Akatab"/>
                <a:ea typeface="Akatab"/>
                <a:cs typeface="Akatab"/>
                <a:sym typeface="Akatab"/>
              </a:rPr>
              <a:t>Mehraeel Philip, Fatma Milad, Sama Gehad,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Marwan Ahmed and Mo’men Mohie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katab"/>
                <a:ea typeface="Akatab"/>
                <a:cs typeface="Akatab"/>
                <a:sym typeface="Akatab"/>
              </a:rPr>
              <a:t>Supervisor: </a:t>
            </a:r>
            <a:r>
              <a:rPr lang="en-US" dirty="0" err="1" smtClean="0">
                <a:latin typeface="Akatab"/>
                <a:ea typeface="Akatab"/>
                <a:cs typeface="Akatab"/>
                <a:sym typeface="Akatab"/>
              </a:rPr>
              <a:t>Dr</a:t>
            </a:r>
            <a:r>
              <a:rPr lang="en-US" dirty="0" smtClean="0">
                <a:latin typeface="Akatab"/>
                <a:ea typeface="Akatab"/>
                <a:cs typeface="Akatab"/>
                <a:sym typeface="Akatab"/>
              </a:rPr>
              <a:t> Ayman </a:t>
            </a:r>
            <a:r>
              <a:rPr lang="en-US" dirty="0" err="1" smtClean="0">
                <a:latin typeface="Akatab"/>
                <a:ea typeface="Akatab"/>
                <a:cs typeface="Akatab"/>
                <a:sym typeface="Akatab"/>
              </a:rPr>
              <a:t>Ezzat</a:t>
            </a:r>
            <a:endParaRPr dirty="0">
              <a:latin typeface="Akatab"/>
              <a:ea typeface="Akatab"/>
              <a:cs typeface="Akatab"/>
              <a:sym typeface="Akatab"/>
            </a:endParaRPr>
          </a:p>
        </p:txBody>
      </p:sp>
      <p:grpSp>
        <p:nvGrpSpPr>
          <p:cNvPr id="380" name="Google Shape;380;p40"/>
          <p:cNvGrpSpPr/>
          <p:nvPr/>
        </p:nvGrpSpPr>
        <p:grpSpPr>
          <a:xfrm rot="10800000">
            <a:off x="597150" y="4546275"/>
            <a:ext cx="8385900" cy="90900"/>
            <a:chOff x="160950" y="480600"/>
            <a:chExt cx="8385900" cy="90900"/>
          </a:xfrm>
        </p:grpSpPr>
        <p:cxnSp>
          <p:nvCxnSpPr>
            <p:cNvPr id="381" name="Google Shape;381;p40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82" name="Google Shape;382;p40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" name="Google Shape;383;p40"/>
          <p:cNvGrpSpPr/>
          <p:nvPr/>
        </p:nvGrpSpPr>
        <p:grpSpPr>
          <a:xfrm>
            <a:off x="6061018" y="1211173"/>
            <a:ext cx="90900" cy="3705900"/>
            <a:chOff x="7952125" y="1292300"/>
            <a:chExt cx="90900" cy="3705900"/>
          </a:xfrm>
        </p:grpSpPr>
        <p:sp>
          <p:nvSpPr>
            <p:cNvPr id="384" name="Google Shape;384;p40"/>
            <p:cNvSpPr/>
            <p:nvPr/>
          </p:nvSpPr>
          <p:spPr>
            <a:xfrm rot="5400000">
              <a:off x="7744975" y="1499450"/>
              <a:ext cx="505200" cy="9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85" name="Google Shape;385;p40"/>
            <p:cNvCxnSpPr/>
            <p:nvPr/>
          </p:nvCxnSpPr>
          <p:spPr>
            <a:xfrm>
              <a:off x="8043025" y="1292300"/>
              <a:ext cx="0" cy="3705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174" y="152400"/>
            <a:ext cx="3903508" cy="48463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6"/>
          <p:cNvSpPr txBox="1">
            <a:spLocks noGrp="1"/>
          </p:cNvSpPr>
          <p:nvPr>
            <p:ph type="subTitle" idx="1"/>
          </p:nvPr>
        </p:nvSpPr>
        <p:spPr>
          <a:xfrm>
            <a:off x="416561" y="1138258"/>
            <a:ext cx="5262879" cy="3640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dirty="0" smtClean="0"/>
              <a:t>What is </a:t>
            </a:r>
            <a:r>
              <a:rPr lang="en-US" dirty="0" err="1" smtClean="0"/>
              <a:t>AuditionSense</a:t>
            </a:r>
            <a:r>
              <a:rPr lang="en-US" dirty="0" smtClean="0"/>
              <a:t>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/>
              <a:t>A multi-modal AI system that analyzes human performance by combining visual, auditory, and behavioral data from audition videos (1–5 minutes</a:t>
            </a:r>
            <a:r>
              <a:rPr lang="en-US" sz="1100" dirty="0" smtClean="0"/>
              <a:t>).</a:t>
            </a:r>
          </a:p>
          <a:p>
            <a:pPr marL="171450" indent="-171450">
              <a:lnSpc>
                <a:spcPct val="150000"/>
              </a:lnSpc>
            </a:pPr>
            <a:r>
              <a:rPr lang="en-US" dirty="0" smtClean="0"/>
              <a:t>Why is it needed?</a:t>
            </a:r>
          </a:p>
          <a:p>
            <a:pPr marL="628650" lvl="1" indent="-171450" algn="l">
              <a:lnSpc>
                <a:spcPct val="150000"/>
              </a:lnSpc>
            </a:pPr>
            <a:r>
              <a:rPr lang="en-US" sz="1050" dirty="0"/>
              <a:t>Traditional audition evaluations are subjective (fatigue, personal bias, inconsistent standards</a:t>
            </a:r>
            <a:r>
              <a:rPr lang="en-US" sz="1050" dirty="0" smtClean="0"/>
              <a:t>).</a:t>
            </a:r>
            <a:endParaRPr lang="en-US" sz="1050" dirty="0"/>
          </a:p>
          <a:p>
            <a:pPr marL="628650" lvl="1" indent="-171450" algn="l">
              <a:lnSpc>
                <a:spcPct val="150000"/>
              </a:lnSpc>
            </a:pPr>
            <a:r>
              <a:rPr lang="en-US" sz="1050" dirty="0"/>
              <a:t>Directors need objective, quantitative feedback on eye engagement, emotion, voice, and gestures</a:t>
            </a:r>
            <a:r>
              <a:rPr lang="en-US" sz="1050" dirty="0" smtClean="0"/>
              <a:t>.</a:t>
            </a:r>
            <a:endParaRPr lang="en-US" sz="1050" dirty="0"/>
          </a:p>
          <a:p>
            <a:pPr marL="628650" lvl="1" indent="-171450" algn="l">
              <a:lnSpc>
                <a:spcPct val="150000"/>
              </a:lnSpc>
            </a:pPr>
            <a:r>
              <a:rPr lang="en-US" sz="1050" dirty="0"/>
              <a:t>No integrated tool exists that processes all modalities in director-preferred order (eyes → voice → posture</a:t>
            </a:r>
            <a:r>
              <a:rPr lang="en-US" sz="1050" dirty="0" smtClean="0"/>
              <a:t>).</a:t>
            </a:r>
          </a:p>
          <a:p>
            <a:pPr marL="171450" indent="-171450">
              <a:lnSpc>
                <a:spcPct val="150000"/>
              </a:lnSpc>
            </a:pPr>
            <a:r>
              <a:rPr lang="en-US" dirty="0"/>
              <a:t>Our Solution: </a:t>
            </a:r>
            <a:r>
              <a:rPr lang="en-US" sz="1100" dirty="0"/>
              <a:t>Uploads video → extracts multimodal features → generates score + 1–3 sentence summary → displays interactive report.</a:t>
            </a:r>
          </a:p>
          <a:p>
            <a:pPr marL="171450" indent="-171450">
              <a:lnSpc>
                <a:spcPct val="150000"/>
              </a:lnSpc>
            </a:pPr>
            <a:r>
              <a:rPr lang="en-US" dirty="0" smtClean="0"/>
              <a:t>Target </a:t>
            </a:r>
            <a:r>
              <a:rPr lang="en-US" dirty="0"/>
              <a:t>Users: </a:t>
            </a:r>
            <a:r>
              <a:rPr lang="en-US" sz="1100" dirty="0"/>
              <a:t>Casting directors, talent agents, production </a:t>
            </a:r>
            <a:r>
              <a:rPr lang="en-US" sz="1100" dirty="0" smtClean="0"/>
              <a:t>companies.</a:t>
            </a:r>
          </a:p>
        </p:txBody>
      </p:sp>
      <p:sp>
        <p:nvSpPr>
          <p:cNvPr id="452" name="Google Shape;452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INTRODUCTION</a:t>
            </a:r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1860"/>
          <a:stretch/>
        </p:blipFill>
        <p:spPr>
          <a:xfrm>
            <a:off x="5679440" y="1262950"/>
            <a:ext cx="3098800" cy="35157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4"/>
          <p:cNvSpPr txBox="1">
            <a:spLocks noGrp="1"/>
          </p:cNvSpPr>
          <p:nvPr>
            <p:ph type="title"/>
          </p:nvPr>
        </p:nvSpPr>
        <p:spPr>
          <a:xfrm>
            <a:off x="1393550" y="2502950"/>
            <a:ext cx="4723232" cy="128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 smtClean="0"/>
              <a:t>Related Work</a:t>
            </a:r>
            <a:endParaRPr sz="5400" dirty="0"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2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34" name="Google Shape;434;p44"/>
          <p:cNvGrpSpPr/>
          <p:nvPr/>
        </p:nvGrpSpPr>
        <p:grpSpPr>
          <a:xfrm flipH="1">
            <a:off x="576156" y="508623"/>
            <a:ext cx="8385900" cy="90900"/>
            <a:chOff x="160950" y="480600"/>
            <a:chExt cx="8385900" cy="90900"/>
          </a:xfrm>
        </p:grpSpPr>
        <p:cxnSp>
          <p:nvCxnSpPr>
            <p:cNvPr id="435" name="Google Shape;435;p44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6" name="Google Shape;436;p44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" name="Google Shape;437;p44"/>
          <p:cNvGrpSpPr/>
          <p:nvPr/>
        </p:nvGrpSpPr>
        <p:grpSpPr>
          <a:xfrm rot="10800000">
            <a:off x="7961770" y="1295598"/>
            <a:ext cx="90900" cy="3697200"/>
            <a:chOff x="1113520" y="156298"/>
            <a:chExt cx="90900" cy="3697200"/>
          </a:xfrm>
        </p:grpSpPr>
        <p:sp>
          <p:nvSpPr>
            <p:cNvPr id="438" name="Google Shape;438;p44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44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Related Work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313762"/>
              </p:ext>
            </p:extLst>
          </p:nvPr>
        </p:nvGraphicFramePr>
        <p:xfrm>
          <a:off x="1213440" y="1278486"/>
          <a:ext cx="6717120" cy="3390496"/>
        </p:xfrm>
        <a:graphic>
          <a:graphicData uri="http://schemas.openxmlformats.org/drawingml/2006/table">
            <a:tbl>
              <a:tblPr firstRow="1" firstCol="1">
                <a:tableStyleId>{3C2FFA5D-87B4-456A-9821-1D502468CF0F}</a:tableStyleId>
              </a:tblPr>
              <a:tblGrid>
                <a:gridCol w="2239040">
                  <a:extLst>
                    <a:ext uri="{9D8B030D-6E8A-4147-A177-3AD203B41FA5}">
                      <a16:colId xmlns:a16="http://schemas.microsoft.com/office/drawing/2014/main" val="2853155956"/>
                    </a:ext>
                  </a:extLst>
                </a:gridCol>
                <a:gridCol w="2239040">
                  <a:extLst>
                    <a:ext uri="{9D8B030D-6E8A-4147-A177-3AD203B41FA5}">
                      <a16:colId xmlns:a16="http://schemas.microsoft.com/office/drawing/2014/main" val="883293869"/>
                    </a:ext>
                  </a:extLst>
                </a:gridCol>
                <a:gridCol w="2239040">
                  <a:extLst>
                    <a:ext uri="{9D8B030D-6E8A-4147-A177-3AD203B41FA5}">
                      <a16:colId xmlns:a16="http://schemas.microsoft.com/office/drawing/2014/main" val="876377218"/>
                    </a:ext>
                  </a:extLst>
                </a:gridCol>
              </a:tblGrid>
              <a:tr h="398882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Approach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Strengths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</a:rPr>
                        <a:t>Limitations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2173037637"/>
                  </a:ext>
                </a:extLst>
              </a:tr>
              <a:tr h="631563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Traditional manual auditions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effectLst/>
                        </a:rPr>
                        <a:t>Human</a:t>
                      </a:r>
                      <a:endParaRPr lang="ja-JP" alt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Subjective, inconsistent, slow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266446546"/>
                  </a:ext>
                </a:extLst>
              </a:tr>
              <a:tr h="631563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Single-modality AI (e.g., only emotion)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Focused analysis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Misses voice/gesture context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474267606"/>
                  </a:ext>
                </a:extLst>
              </a:tr>
              <a:tr h="864244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Human action recognition (Kuang &amp; Tie, 2022)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Good for group activity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Not designed for individual acting performance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571271013"/>
                  </a:ext>
                </a:extLst>
              </a:tr>
              <a:tr h="864244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Tennis performance ML (Jindo et al., 2023)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Quantitative metrics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Domain-specific, not generalizable to acting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115489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9731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913552" y="1670861"/>
            <a:ext cx="3211200" cy="13494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sz="1600" dirty="0"/>
              <a:t>No existing system provides integrated multi-modal analysis (emotion + gaze + voice + gesture) with director-facing natural language summaries and per-action segmentation.</a:t>
            </a:r>
            <a:endParaRPr sz="1600" dirty="0"/>
          </a:p>
        </p:txBody>
      </p:sp>
      <p:sp>
        <p:nvSpPr>
          <p:cNvPr id="473" name="Google Shape;473;p48"/>
          <p:cNvSpPr txBox="1">
            <a:spLocks noGrp="1"/>
          </p:cNvSpPr>
          <p:nvPr>
            <p:ph type="subTitle" idx="1"/>
          </p:nvPr>
        </p:nvSpPr>
        <p:spPr>
          <a:xfrm>
            <a:off x="913552" y="1194761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 smtClean="0"/>
              <a:t>Gap Identified</a:t>
            </a:r>
            <a:endParaRPr sz="2800" dirty="0"/>
          </a:p>
        </p:txBody>
      </p:sp>
      <p:sp>
        <p:nvSpPr>
          <p:cNvPr id="474" name="Google Shape;474;p48"/>
          <p:cNvSpPr txBox="1">
            <a:spLocks noGrp="1"/>
          </p:cNvSpPr>
          <p:nvPr>
            <p:ph type="subTitle" idx="2"/>
          </p:nvPr>
        </p:nvSpPr>
        <p:spPr>
          <a:xfrm>
            <a:off x="4949973" y="1194761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 smtClean="0"/>
              <a:t>Our Contribution</a:t>
            </a:r>
            <a:endParaRPr sz="2800" dirty="0"/>
          </a:p>
        </p:txBody>
      </p:sp>
      <p:sp>
        <p:nvSpPr>
          <p:cNvPr id="475" name="Google Shape;475;p48"/>
          <p:cNvSpPr txBox="1">
            <a:spLocks noGrp="1"/>
          </p:cNvSpPr>
          <p:nvPr>
            <p:ph type="subTitle" idx="4"/>
          </p:nvPr>
        </p:nvSpPr>
        <p:spPr>
          <a:xfrm>
            <a:off x="4949973" y="1670860"/>
            <a:ext cx="3211200" cy="21599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sz="1600" dirty="0" err="1"/>
              <a:t>AuditionSense</a:t>
            </a:r>
            <a:r>
              <a:rPr lang="en-US" sz="1600" dirty="0"/>
              <a:t> fills this gap with a modular, extensible pipeline and an 85/100 SUS score for </a:t>
            </a:r>
            <a:r>
              <a:rPr lang="en-US" sz="1600" dirty="0" smtClean="0"/>
              <a:t>usability fulfilled using multi-modal analysis.</a:t>
            </a:r>
            <a:endParaRPr sz="1600"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502724" y="706582"/>
            <a:ext cx="0" cy="3657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7"/>
          <p:cNvSpPr txBox="1">
            <a:spLocks noGrp="1"/>
          </p:cNvSpPr>
          <p:nvPr>
            <p:ph type="title"/>
          </p:nvPr>
        </p:nvSpPr>
        <p:spPr>
          <a:xfrm>
            <a:off x="2352125" y="2350752"/>
            <a:ext cx="3555300" cy="17771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 smtClean="0"/>
              <a:t>Problem Statement</a:t>
            </a:r>
            <a:endParaRPr sz="5400" dirty="0"/>
          </a:p>
        </p:txBody>
      </p:sp>
      <p:sp>
        <p:nvSpPr>
          <p:cNvPr id="459" name="Google Shape;459;p47"/>
          <p:cNvSpPr txBox="1">
            <a:spLocks noGrp="1"/>
          </p:cNvSpPr>
          <p:nvPr>
            <p:ph type="title" idx="2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grpSp>
        <p:nvGrpSpPr>
          <p:cNvPr id="461" name="Google Shape;461;p47"/>
          <p:cNvGrpSpPr/>
          <p:nvPr/>
        </p:nvGrpSpPr>
        <p:grpSpPr>
          <a:xfrm flipH="1">
            <a:off x="577491" y="508623"/>
            <a:ext cx="8385900" cy="90900"/>
            <a:chOff x="160950" y="480600"/>
            <a:chExt cx="8385900" cy="90900"/>
          </a:xfrm>
        </p:grpSpPr>
        <p:cxnSp>
          <p:nvCxnSpPr>
            <p:cNvPr id="462" name="Google Shape;462;p47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3" name="Google Shape;463;p47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" name="Google Shape;464;p47"/>
          <p:cNvGrpSpPr/>
          <p:nvPr/>
        </p:nvGrpSpPr>
        <p:grpSpPr>
          <a:xfrm flipH="1">
            <a:off x="7988270" y="150698"/>
            <a:ext cx="90900" cy="4415700"/>
            <a:chOff x="1113520" y="-562202"/>
            <a:chExt cx="90900" cy="4415700"/>
          </a:xfrm>
        </p:grpSpPr>
        <p:sp>
          <p:nvSpPr>
            <p:cNvPr id="465" name="Google Shape;465;p47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6" name="Google Shape;466;p47"/>
            <p:cNvCxnSpPr/>
            <p:nvPr/>
          </p:nvCxnSpPr>
          <p:spPr>
            <a:xfrm rot="10800000">
              <a:off x="1121185" y="-562202"/>
              <a:ext cx="0" cy="4153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2"/>
          <p:cNvSpPr txBox="1">
            <a:spLocks noGrp="1"/>
          </p:cNvSpPr>
          <p:nvPr>
            <p:ph type="title"/>
          </p:nvPr>
        </p:nvSpPr>
        <p:spPr>
          <a:xfrm>
            <a:off x="1245650" y="4508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401" name="Google Shape;401;p42"/>
          <p:cNvSpPr txBox="1">
            <a:spLocks noGrp="1"/>
          </p:cNvSpPr>
          <p:nvPr>
            <p:ph type="subTitle" idx="1"/>
          </p:nvPr>
        </p:nvSpPr>
        <p:spPr>
          <a:xfrm>
            <a:off x="720000" y="948763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Directors face difficulties evaluating actors objectively due to subjective human judgment.</a:t>
            </a:r>
            <a:endParaRPr sz="1400" dirty="0"/>
          </a:p>
        </p:txBody>
      </p:sp>
      <p:sp>
        <p:nvSpPr>
          <p:cNvPr id="402" name="Google Shape;402;p42"/>
          <p:cNvSpPr txBox="1">
            <a:spLocks noGrp="1"/>
          </p:cNvSpPr>
          <p:nvPr>
            <p:ph type="title" idx="2"/>
          </p:nvPr>
        </p:nvSpPr>
        <p:spPr>
          <a:xfrm>
            <a:off x="3931900" y="4508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403" name="Google Shape;403;p42"/>
          <p:cNvSpPr txBox="1">
            <a:spLocks noGrp="1"/>
          </p:cNvSpPr>
          <p:nvPr>
            <p:ph type="subTitle" idx="3"/>
          </p:nvPr>
        </p:nvSpPr>
        <p:spPr>
          <a:xfrm>
            <a:off x="3403800" y="948763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Nonverbal cues like facial expressions, posture, and gestures are often missed or misinterpreted.</a:t>
            </a:r>
            <a:endParaRPr sz="1400" dirty="0"/>
          </a:p>
        </p:txBody>
      </p:sp>
      <p:sp>
        <p:nvSpPr>
          <p:cNvPr id="404" name="Google Shape;404;p42"/>
          <p:cNvSpPr txBox="1">
            <a:spLocks noGrp="1"/>
          </p:cNvSpPr>
          <p:nvPr>
            <p:ph type="title" idx="4"/>
          </p:nvPr>
        </p:nvSpPr>
        <p:spPr>
          <a:xfrm>
            <a:off x="6623050" y="45088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5" name="Google Shape;405;p42"/>
          <p:cNvSpPr txBox="1">
            <a:spLocks noGrp="1"/>
          </p:cNvSpPr>
          <p:nvPr>
            <p:ph type="subTitle" idx="5"/>
          </p:nvPr>
        </p:nvSpPr>
        <p:spPr>
          <a:xfrm>
            <a:off x="6087600" y="948763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Manual audition review is time-consuming and inconsistent.</a:t>
            </a:r>
            <a:endParaRPr sz="1400" dirty="0"/>
          </a:p>
        </p:txBody>
      </p:sp>
      <p:sp>
        <p:nvSpPr>
          <p:cNvPr id="406" name="Google Shape;406;p42"/>
          <p:cNvSpPr txBox="1">
            <a:spLocks noGrp="1"/>
          </p:cNvSpPr>
          <p:nvPr>
            <p:ph type="title" idx="6"/>
          </p:nvPr>
        </p:nvSpPr>
        <p:spPr>
          <a:xfrm>
            <a:off x="1081975" y="237748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407" name="Google Shape;407;p42"/>
          <p:cNvSpPr txBox="1">
            <a:spLocks noGrp="1"/>
          </p:cNvSpPr>
          <p:nvPr>
            <p:ph type="subTitle" idx="7"/>
          </p:nvPr>
        </p:nvSpPr>
        <p:spPr>
          <a:xfrm>
            <a:off x="556325" y="2883586"/>
            <a:ext cx="233640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Existing tools lack integrated analysis of visual, emotional, vocal, and physical performance aspects.</a:t>
            </a:r>
            <a:endParaRPr sz="1400" dirty="0"/>
          </a:p>
        </p:txBody>
      </p:sp>
      <p:sp>
        <p:nvSpPr>
          <p:cNvPr id="408" name="Google Shape;408;p42"/>
          <p:cNvSpPr txBox="1">
            <a:spLocks noGrp="1"/>
          </p:cNvSpPr>
          <p:nvPr>
            <p:ph type="title" idx="8"/>
          </p:nvPr>
        </p:nvSpPr>
        <p:spPr>
          <a:xfrm>
            <a:off x="3768225" y="2377485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409" name="Google Shape;409;p42"/>
          <p:cNvSpPr txBox="1">
            <a:spLocks noGrp="1"/>
          </p:cNvSpPr>
          <p:nvPr>
            <p:ph type="subTitle" idx="9"/>
          </p:nvPr>
        </p:nvSpPr>
        <p:spPr>
          <a:xfrm>
            <a:off x="3071550" y="2883586"/>
            <a:ext cx="2668650" cy="1253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There is a need for an AI-driven system that provides fast, accurate, and comprehensive audition evaluations and reports.</a:t>
            </a:r>
            <a:endParaRPr sz="1400" dirty="0"/>
          </a:p>
        </p:txBody>
      </p:sp>
      <p:pic>
        <p:nvPicPr>
          <p:cNvPr id="2050" name="Picture 2" descr="Tired Film Director Stock Photos - Free &amp; Royalty-Free Stock Photos from  Dreamsti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0674" y="1900811"/>
            <a:ext cx="2950965" cy="3603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7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Problem Statement</a:t>
            </a:r>
            <a:endParaRPr dirty="0"/>
          </a:p>
        </p:txBody>
      </p:sp>
      <p:sp>
        <p:nvSpPr>
          <p:cNvPr id="986" name="Google Shape;986;p76"/>
          <p:cNvSpPr txBox="1">
            <a:spLocks noGrp="1"/>
          </p:cNvSpPr>
          <p:nvPr>
            <p:ph type="body" idx="1"/>
          </p:nvPr>
        </p:nvSpPr>
        <p:spPr>
          <a:xfrm>
            <a:off x="720000" y="903717"/>
            <a:ext cx="7704000" cy="16556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 smtClean="0"/>
              <a:t>Formal Definition</a:t>
            </a:r>
          </a:p>
          <a:p>
            <a:pPr marL="0" lv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dirty="0"/>
              <a:t>Given an audition video V</a:t>
            </a:r>
            <a:r>
              <a:rPr lang="en-US" i="1" dirty="0"/>
              <a:t>V</a:t>
            </a:r>
            <a:r>
              <a:rPr lang="en-US" dirty="0"/>
              <a:t> of length 1–5 minutes, extract features F={</a:t>
            </a:r>
            <a:r>
              <a:rPr lang="en-US" dirty="0" smtClean="0"/>
              <a:t>E,G,V,P}</a:t>
            </a:r>
            <a:r>
              <a:rPr lang="en-US" i="1" dirty="0" smtClean="0"/>
              <a:t> </a:t>
            </a:r>
            <a:r>
              <a:rPr lang="en-US" dirty="0" smtClean="0"/>
              <a:t>where</a:t>
            </a:r>
            <a:r>
              <a:rPr lang="en-US" dirty="0"/>
              <a:t>:</a:t>
            </a:r>
            <a:endParaRPr b="1" dirty="0"/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E = facial emotions </a:t>
            </a:r>
            <a:endParaRPr lang="en-US" dirty="0" smtClean="0">
              <a:solidFill>
                <a:schemeClr val="hlink"/>
              </a:solidFill>
            </a:endParaRPr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 smtClean="0">
                <a:solidFill>
                  <a:schemeClr val="hlink"/>
                </a:solidFill>
              </a:rPr>
              <a:t>G </a:t>
            </a:r>
            <a:r>
              <a:rPr lang="en-US" dirty="0">
                <a:solidFill>
                  <a:schemeClr val="hlink"/>
                </a:solidFill>
              </a:rPr>
              <a:t>= gaze direction and fixation </a:t>
            </a:r>
            <a:r>
              <a:rPr lang="en-US" dirty="0" err="1" smtClean="0">
                <a:solidFill>
                  <a:schemeClr val="hlink"/>
                </a:solidFill>
              </a:rPr>
              <a:t>heatmaps</a:t>
            </a:r>
            <a:endParaRPr lang="en-US" dirty="0">
              <a:solidFill>
                <a:schemeClr val="hlink"/>
              </a:solidFill>
            </a:endParaRPr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V </a:t>
            </a:r>
            <a:r>
              <a:rPr lang="en-US" dirty="0" smtClean="0">
                <a:solidFill>
                  <a:schemeClr val="hlink"/>
                </a:solidFill>
              </a:rPr>
              <a:t>= </a:t>
            </a:r>
            <a:r>
              <a:rPr lang="en-US" dirty="0">
                <a:solidFill>
                  <a:schemeClr val="hlink"/>
                </a:solidFill>
              </a:rPr>
              <a:t>voice prosody (pitch, intensity, tempo) + transcription</a:t>
            </a:r>
          </a:p>
          <a:p>
            <a:pPr lvl="0" indent="-304800">
              <a:lnSpc>
                <a:spcPct val="100000"/>
              </a:lnSpc>
              <a:buSzPts val="1200"/>
            </a:pPr>
            <a:r>
              <a:rPr lang="en-US" dirty="0" smtClean="0">
                <a:solidFill>
                  <a:schemeClr val="hlink"/>
                </a:solidFill>
              </a:rPr>
              <a:t>P </a:t>
            </a:r>
            <a:r>
              <a:rPr lang="en-US" dirty="0">
                <a:solidFill>
                  <a:schemeClr val="hlink"/>
                </a:solidFill>
              </a:rPr>
              <a:t>= pose and gesture </a:t>
            </a:r>
            <a:r>
              <a:rPr lang="en-US" dirty="0" err="1">
                <a:solidFill>
                  <a:schemeClr val="hlink"/>
                </a:solidFill>
              </a:rPr>
              <a:t>keypoints</a:t>
            </a:r>
            <a:r>
              <a:rPr lang="en-US" dirty="0">
                <a:solidFill>
                  <a:schemeClr val="hlink"/>
                </a:solidFill>
              </a:rPr>
              <a:t> (33 landmarks via MediaPipe)</a:t>
            </a:r>
            <a:endParaRPr dirty="0"/>
          </a:p>
        </p:txBody>
      </p:sp>
      <p:sp>
        <p:nvSpPr>
          <p:cNvPr id="4" name="Google Shape;986;p76"/>
          <p:cNvSpPr txBox="1">
            <a:spLocks/>
          </p:cNvSpPr>
          <p:nvPr/>
        </p:nvSpPr>
        <p:spPr>
          <a:xfrm>
            <a:off x="720000" y="2349545"/>
            <a:ext cx="7704000" cy="1336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000"/>
              </a:spcBef>
              <a:buFont typeface="Akatab"/>
              <a:buNone/>
            </a:pPr>
            <a:r>
              <a:rPr lang="en-US" b="1" dirty="0" smtClean="0"/>
              <a:t>Key Challenges</a:t>
            </a: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Synchronizing audio/video/pose streams in real </a:t>
            </a:r>
            <a:r>
              <a:rPr lang="en-US" dirty="0" smtClean="0">
                <a:solidFill>
                  <a:schemeClr val="hlink"/>
                </a:solidFill>
              </a:rPr>
              <a:t>time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Detecting emotions under variable lighting and </a:t>
            </a:r>
            <a:r>
              <a:rPr lang="en-US" dirty="0" smtClean="0">
                <a:solidFill>
                  <a:schemeClr val="hlink"/>
                </a:solidFill>
              </a:rPr>
              <a:t>occlusions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Segmenting continuous video into 10 discrete </a:t>
            </a:r>
            <a:r>
              <a:rPr lang="en-US" dirty="0" smtClean="0">
                <a:solidFill>
                  <a:schemeClr val="hlink"/>
                </a:solidFill>
              </a:rPr>
              <a:t>actions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Generating human-readable summaries from numerical metrics</a:t>
            </a:r>
            <a:endParaRPr lang="en-US" dirty="0"/>
          </a:p>
        </p:txBody>
      </p:sp>
      <p:sp>
        <p:nvSpPr>
          <p:cNvPr id="5" name="Google Shape;986;p76"/>
          <p:cNvSpPr txBox="1">
            <a:spLocks/>
          </p:cNvSpPr>
          <p:nvPr/>
        </p:nvSpPr>
        <p:spPr>
          <a:xfrm>
            <a:off x="720000" y="3388637"/>
            <a:ext cx="7704000" cy="1336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1000"/>
              </a:spcBef>
              <a:buFont typeface="Akatab"/>
              <a:buNone/>
            </a:pPr>
            <a:r>
              <a:rPr lang="en-US" b="1" dirty="0" smtClean="0"/>
              <a:t>Success Criteria</a:t>
            </a: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Emotion detection accuracy ≥60% (baseline for human variability</a:t>
            </a:r>
            <a:r>
              <a:rPr lang="en-US" dirty="0" smtClean="0">
                <a:solidFill>
                  <a:schemeClr val="hlink"/>
                </a:solidFill>
              </a:rPr>
              <a:t>)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Gesture matching via $1 </a:t>
            </a:r>
            <a:r>
              <a:rPr lang="en-US" dirty="0" smtClean="0">
                <a:solidFill>
                  <a:schemeClr val="hlink"/>
                </a:solidFill>
              </a:rPr>
              <a:t>recognizer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Report generation within 5 seconds for 1-minute </a:t>
            </a:r>
            <a:r>
              <a:rPr lang="en-US" dirty="0" smtClean="0">
                <a:solidFill>
                  <a:schemeClr val="hlink"/>
                </a:solidFill>
              </a:rPr>
              <a:t>video</a:t>
            </a:r>
            <a:endParaRPr lang="en-US" dirty="0">
              <a:solidFill>
                <a:schemeClr val="hlink"/>
              </a:solidFill>
            </a:endParaRPr>
          </a:p>
          <a:p>
            <a:pPr indent="-304800">
              <a:lnSpc>
                <a:spcPct val="100000"/>
              </a:lnSpc>
              <a:buSzPts val="1200"/>
            </a:pPr>
            <a:r>
              <a:rPr lang="en-US" dirty="0">
                <a:solidFill>
                  <a:schemeClr val="hlink"/>
                </a:solidFill>
              </a:rPr>
              <a:t>SUS score ≥68 (achieved: 85)</a:t>
            </a:r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720000" y="2459182"/>
            <a:ext cx="74541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720000" y="3539836"/>
            <a:ext cx="74541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2"/>
          <p:cNvSpPr txBox="1">
            <a:spLocks noGrp="1"/>
          </p:cNvSpPr>
          <p:nvPr>
            <p:ph type="title"/>
          </p:nvPr>
        </p:nvSpPr>
        <p:spPr>
          <a:xfrm>
            <a:off x="3854900" y="2595848"/>
            <a:ext cx="3733800" cy="14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smtClean="0"/>
              <a:t>System Overview</a:t>
            </a:r>
            <a:endParaRPr sz="4800" dirty="0"/>
          </a:p>
        </p:txBody>
      </p:sp>
      <p:sp>
        <p:nvSpPr>
          <p:cNvPr id="523" name="Google Shape;523;p52"/>
          <p:cNvSpPr txBox="1">
            <a:spLocks noGrp="1"/>
          </p:cNvSpPr>
          <p:nvPr>
            <p:ph type="title" idx="2"/>
          </p:nvPr>
        </p:nvSpPr>
        <p:spPr>
          <a:xfrm>
            <a:off x="5121800" y="16430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524" name="Google Shape;524;p52"/>
          <p:cNvGrpSpPr/>
          <p:nvPr/>
        </p:nvGrpSpPr>
        <p:grpSpPr>
          <a:xfrm>
            <a:off x="181160" y="508623"/>
            <a:ext cx="8385900" cy="90900"/>
            <a:chOff x="160950" y="480600"/>
            <a:chExt cx="8385900" cy="90900"/>
          </a:xfrm>
        </p:grpSpPr>
        <p:cxnSp>
          <p:nvCxnSpPr>
            <p:cNvPr id="525" name="Google Shape;525;p52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26" name="Google Shape;526;p52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52"/>
          <p:cNvGrpSpPr/>
          <p:nvPr/>
        </p:nvGrpSpPr>
        <p:grpSpPr>
          <a:xfrm>
            <a:off x="1113520" y="156298"/>
            <a:ext cx="90900" cy="3697200"/>
            <a:chOff x="1113520" y="156298"/>
            <a:chExt cx="90900" cy="3697200"/>
          </a:xfrm>
        </p:grpSpPr>
        <p:sp>
          <p:nvSpPr>
            <p:cNvPr id="528" name="Google Shape;528;p52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29" name="Google Shape;529;p52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56"/>
          <p:cNvSpPr txBox="1">
            <a:spLocks noGrp="1"/>
          </p:cNvSpPr>
          <p:nvPr>
            <p:ph type="subTitle" idx="1"/>
          </p:nvPr>
        </p:nvSpPr>
        <p:spPr>
          <a:xfrm>
            <a:off x="4124960" y="1076960"/>
            <a:ext cx="4797367" cy="35920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/>
              <a:t>Data Ingestion</a:t>
            </a:r>
            <a:r>
              <a:rPr lang="en-US" dirty="0" smtClean="0"/>
              <a:t>: through file upload (video </a:t>
            </a:r>
            <a:r>
              <a:rPr lang="en-US" dirty="0"/>
              <a:t>+ audio).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Data </a:t>
            </a:r>
            <a:r>
              <a:rPr lang="en-US" dirty="0"/>
              <a:t>Pre-processing: extracting frames, extracting audio, detecting face/pose </a:t>
            </a:r>
            <a:r>
              <a:rPr lang="en-US" dirty="0" smtClean="0"/>
              <a:t>bounding boxes</a:t>
            </a:r>
            <a:r>
              <a:rPr lang="en-US" dirty="0"/>
              <a:t>, synchronizing timestamps</a:t>
            </a:r>
            <a:r>
              <a:rPr lang="en-US" dirty="0" smtClean="0"/>
              <a:t>.</a:t>
            </a:r>
            <a:endParaRPr lang="en-US" dirty="0"/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Per-modality analyzers: Eye/Gaze Estimator – </a:t>
            </a:r>
            <a:r>
              <a:rPr lang="en-US" dirty="0"/>
              <a:t>Facial Emotion </a:t>
            </a:r>
            <a:r>
              <a:rPr lang="en-US" dirty="0" smtClean="0"/>
              <a:t>Detector – </a:t>
            </a:r>
            <a:r>
              <a:rPr lang="en-US" dirty="0"/>
              <a:t>Voice </a:t>
            </a:r>
            <a:r>
              <a:rPr lang="en-US" dirty="0" smtClean="0"/>
              <a:t>Analyzer – </a:t>
            </a:r>
            <a:r>
              <a:rPr lang="en-US" dirty="0"/>
              <a:t>Pose and Gesture </a:t>
            </a:r>
            <a:r>
              <a:rPr lang="en-US" dirty="0" smtClean="0"/>
              <a:t>Pipeline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/>
              <a:t>A</a:t>
            </a:r>
            <a:r>
              <a:rPr lang="en-US" dirty="0" smtClean="0"/>
              <a:t>ction </a:t>
            </a:r>
            <a:r>
              <a:rPr lang="en-US" dirty="0"/>
              <a:t>Segmentation Module: temporal segmentation of streaming videos 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Scoring </a:t>
            </a:r>
            <a:r>
              <a:rPr lang="en-US" dirty="0"/>
              <a:t>and Interpretation: rule aggregator + ML-based </a:t>
            </a:r>
            <a:r>
              <a:rPr lang="en-US" dirty="0" smtClean="0"/>
              <a:t>model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UI</a:t>
            </a:r>
            <a:r>
              <a:rPr lang="en-US" dirty="0"/>
              <a:t>: Flask web app to show scores, short textual summaries, and PDF reports.</a:t>
            </a:r>
          </a:p>
          <a:p>
            <a:pPr marL="171450" indent="-171450">
              <a:lnSpc>
                <a:spcPct val="150000"/>
              </a:lnSpc>
              <a:buSzPct val="80000"/>
            </a:pPr>
            <a:r>
              <a:rPr lang="en-US" dirty="0" smtClean="0"/>
              <a:t>Storage </a:t>
            </a:r>
            <a:r>
              <a:rPr lang="en-US" dirty="0"/>
              <a:t>and Artifacts: local file structure to store video samples, extracted features, </a:t>
            </a:r>
            <a:r>
              <a:rPr lang="en-US" dirty="0" smtClean="0"/>
              <a:t>models</a:t>
            </a:r>
            <a:r>
              <a:rPr lang="en-US" dirty="0"/>
              <a:t>, reports, and evaluation</a:t>
            </a:r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503" y="162559"/>
            <a:ext cx="3583457" cy="4832449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263616" y="344313"/>
            <a:ext cx="3615600" cy="580247"/>
          </a:xfrm>
        </p:spPr>
        <p:txBody>
          <a:bodyPr/>
          <a:lstStyle/>
          <a:p>
            <a:r>
              <a:rPr lang="en-US" sz="2800" dirty="0" smtClean="0"/>
              <a:t>Key Components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4"/>
          <p:cNvSpPr txBox="1">
            <a:spLocks noGrp="1"/>
          </p:cNvSpPr>
          <p:nvPr>
            <p:ph type="title"/>
          </p:nvPr>
        </p:nvSpPr>
        <p:spPr>
          <a:xfrm>
            <a:off x="1393550" y="2502950"/>
            <a:ext cx="4723232" cy="128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5400" dirty="0"/>
              <a:t>Approach</a:t>
            </a:r>
            <a:endParaRPr sz="5400" dirty="0"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2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  <p:grpSp>
        <p:nvGrpSpPr>
          <p:cNvPr id="434" name="Google Shape;434;p44"/>
          <p:cNvGrpSpPr/>
          <p:nvPr/>
        </p:nvGrpSpPr>
        <p:grpSpPr>
          <a:xfrm flipH="1">
            <a:off x="576156" y="508623"/>
            <a:ext cx="8385900" cy="90900"/>
            <a:chOff x="160950" y="480600"/>
            <a:chExt cx="8385900" cy="90900"/>
          </a:xfrm>
        </p:grpSpPr>
        <p:cxnSp>
          <p:nvCxnSpPr>
            <p:cNvPr id="435" name="Google Shape;435;p44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6" name="Google Shape;436;p44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" name="Google Shape;437;p44"/>
          <p:cNvGrpSpPr/>
          <p:nvPr/>
        </p:nvGrpSpPr>
        <p:grpSpPr>
          <a:xfrm rot="10800000">
            <a:off x="7961770" y="1295598"/>
            <a:ext cx="90900" cy="3697200"/>
            <a:chOff x="1113520" y="156298"/>
            <a:chExt cx="90900" cy="3697200"/>
          </a:xfrm>
        </p:grpSpPr>
        <p:sp>
          <p:nvSpPr>
            <p:cNvPr id="438" name="Google Shape;438;p44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44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565767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37"/>
          <p:cNvSpPr txBox="1">
            <a:spLocks noGrp="1"/>
          </p:cNvSpPr>
          <p:nvPr>
            <p:ph type="title"/>
          </p:nvPr>
        </p:nvSpPr>
        <p:spPr>
          <a:xfrm>
            <a:off x="720001" y="243365"/>
            <a:ext cx="7704000" cy="44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Pipeline Stages</a:t>
            </a:r>
            <a:endParaRPr dirty="0"/>
          </a:p>
        </p:txBody>
      </p:sp>
      <p:sp>
        <p:nvSpPr>
          <p:cNvPr id="475" name="Google Shape;475;p37"/>
          <p:cNvSpPr txBox="1">
            <a:spLocks noGrp="1"/>
          </p:cNvSpPr>
          <p:nvPr>
            <p:ph type="body" idx="1"/>
          </p:nvPr>
        </p:nvSpPr>
        <p:spPr>
          <a:xfrm>
            <a:off x="988186" y="830814"/>
            <a:ext cx="7809452" cy="3858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>
              <a:buFont typeface="+mj-lt"/>
              <a:buAutoNum type="arabicPeriod"/>
            </a:pPr>
            <a:r>
              <a:rPr lang="en-US" dirty="0"/>
              <a:t>Data </a:t>
            </a:r>
            <a:r>
              <a:rPr lang="en-US" dirty="0" smtClean="0"/>
              <a:t>Ingestion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Accepts .mp4, .</a:t>
            </a:r>
            <a:r>
              <a:rPr lang="en-US" dirty="0" err="1"/>
              <a:t>avi</a:t>
            </a:r>
            <a:r>
              <a:rPr lang="en-US" dirty="0"/>
              <a:t>, .</a:t>
            </a:r>
            <a:r>
              <a:rPr lang="en-US" dirty="0" err="1"/>
              <a:t>mov</a:t>
            </a:r>
            <a:r>
              <a:rPr lang="en-US" dirty="0"/>
              <a:t> (max 5 minutes, 500MB</a:t>
            </a:r>
            <a:r>
              <a:rPr lang="en-US" dirty="0" smtClean="0"/>
              <a:t>)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Extracts audio (16kHz WAV) and synchronized frame </a:t>
            </a:r>
            <a:r>
              <a:rPr lang="en-US" dirty="0" smtClean="0"/>
              <a:t>timestamps</a:t>
            </a:r>
            <a:endParaRPr lang="en-US" dirty="0"/>
          </a:p>
          <a:p>
            <a:pPr marL="228600" lvl="0" indent="-228600">
              <a:buFont typeface="+mj-lt"/>
              <a:buAutoNum type="arabicPeriod"/>
            </a:pPr>
            <a:r>
              <a:rPr lang="en-US" dirty="0"/>
              <a:t>Per-Modality Analyzers (Parallel</a:t>
            </a:r>
            <a:r>
              <a:rPr lang="en-US" dirty="0" smtClean="0"/>
              <a:t>)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Emotion: </a:t>
            </a:r>
            <a:r>
              <a:rPr lang="en-US" dirty="0" err="1"/>
              <a:t>DeepFace</a:t>
            </a:r>
            <a:r>
              <a:rPr lang="en-US" dirty="0"/>
              <a:t> → 7 emotions per frame, aggregated to scene-level </a:t>
            </a:r>
            <a:r>
              <a:rPr lang="en-US" dirty="0" smtClean="0"/>
              <a:t>profile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Eye Tracking: MediaPipe Iris → gaze vector + fixation </a:t>
            </a:r>
            <a:r>
              <a:rPr lang="en-US" dirty="0" err="1" smtClean="0"/>
              <a:t>heatmap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Voice: Speech-to-text + prosody (pitch, tempo, intensity</a:t>
            </a:r>
            <a:r>
              <a:rPr lang="en-US" dirty="0" smtClean="0"/>
              <a:t>)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Pose: MediaPipe Pose → 33 landmarks normalized to [0,1</a:t>
            </a:r>
            <a:r>
              <a:rPr lang="en-US" dirty="0" smtClean="0"/>
              <a:t>]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Gesture: Custom 3D landmark heuristics + $1 recognizer for template </a:t>
            </a:r>
            <a:r>
              <a:rPr lang="en-US" dirty="0" smtClean="0"/>
              <a:t>matching</a:t>
            </a:r>
            <a:endParaRPr lang="en-US" dirty="0"/>
          </a:p>
          <a:p>
            <a:pPr marL="228600" lvl="0" indent="-228600">
              <a:buFont typeface="+mj-lt"/>
              <a:buAutoNum type="arabicPeriod"/>
            </a:pPr>
            <a:r>
              <a:rPr lang="en-US" dirty="0"/>
              <a:t>Temporal Action </a:t>
            </a:r>
            <a:r>
              <a:rPr lang="en-US" dirty="0" smtClean="0"/>
              <a:t>Segmentation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Segments long video into 10 discrete actions (e.g., "monologue start," "emotional peak</a:t>
            </a:r>
            <a:r>
              <a:rPr lang="en-US" dirty="0" smtClean="0"/>
              <a:t>")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Each action gets per-segment emotion/gesture confidence </a:t>
            </a:r>
            <a:r>
              <a:rPr lang="en-US" dirty="0" smtClean="0"/>
              <a:t>scores</a:t>
            </a:r>
            <a:endParaRPr lang="en-US" dirty="0"/>
          </a:p>
          <a:p>
            <a:pPr marL="228600" lvl="0" indent="-228600">
              <a:buFont typeface="+mj-lt"/>
              <a:buAutoNum type="arabicPeriod"/>
            </a:pPr>
            <a:r>
              <a:rPr lang="en-US" dirty="0"/>
              <a:t>Scoring &amp; Report </a:t>
            </a:r>
            <a:r>
              <a:rPr lang="en-US" dirty="0" smtClean="0"/>
              <a:t>Generation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Eye/Emotion weight = highest priority (director preference</a:t>
            </a:r>
            <a:r>
              <a:rPr lang="en-US" dirty="0" smtClean="0"/>
              <a:t>)</a:t>
            </a:r>
            <a:endParaRPr lang="en-US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Aggregation </a:t>
            </a:r>
            <a:r>
              <a:rPr lang="en-US" dirty="0" smtClean="0"/>
              <a:t>formula: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 smtClean="0"/>
              <a:t>Score</a:t>
            </a:r>
            <a:r>
              <a:rPr lang="en-US" dirty="0"/>
              <a:t>=(Emotion Std.Dev.×0.5)+(Face Confidence×0.3)+((1−Mean)×0.2)</a:t>
            </a:r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Output: 1–3 sentence summary + numeric scores (0–100) + radar/bar charts</a:t>
            </a:r>
            <a:endParaRPr lang="en-US" dirty="0">
              <a:solidFill>
                <a:schemeClr val="dk1"/>
              </a:solidFill>
            </a:endParaRPr>
          </a:p>
        </p:txBody>
      </p:sp>
      <p:pic>
        <p:nvPicPr>
          <p:cNvPr id="476" name="Google Shape;47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68998">
            <a:off x="7727493" y="3399927"/>
            <a:ext cx="1393016" cy="16565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488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37"/>
          <p:cNvSpPr txBox="1">
            <a:spLocks noGrp="1"/>
          </p:cNvSpPr>
          <p:nvPr>
            <p:ph type="title"/>
          </p:nvPr>
        </p:nvSpPr>
        <p:spPr>
          <a:xfrm>
            <a:off x="720001" y="243365"/>
            <a:ext cx="7704000" cy="44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Design Rationale - Architecture</a:t>
            </a:r>
            <a:endParaRPr dirty="0"/>
          </a:p>
        </p:txBody>
      </p:sp>
      <p:sp>
        <p:nvSpPr>
          <p:cNvPr id="475" name="Google Shape;475;p37"/>
          <p:cNvSpPr txBox="1">
            <a:spLocks noGrp="1"/>
          </p:cNvSpPr>
          <p:nvPr>
            <p:ph type="body" idx="1"/>
          </p:nvPr>
        </p:nvSpPr>
        <p:spPr>
          <a:xfrm>
            <a:off x="219257" y="1087124"/>
            <a:ext cx="4947103" cy="3858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 smtClean="0">
                <a:solidFill>
                  <a:schemeClr val="dk1"/>
                </a:solidFill>
              </a:rPr>
              <a:t>Why we chose this architecture ?</a:t>
            </a:r>
            <a:endParaRPr sz="1600" b="1" dirty="0">
              <a:solidFill>
                <a:schemeClr val="dk1"/>
              </a:solidFill>
            </a:endParaRP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Layered architecture ensures clarity and maintainability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Presentation Layer: UI and user interaction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Processing Layer: detection, logic, evaluation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Data Layer: metrics storage and reporting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Separation enables easier debugging and upgrades</a:t>
            </a:r>
          </a:p>
          <a:p>
            <a:pPr lvl="0">
              <a:spcBef>
                <a:spcPts val="1000"/>
              </a:spcBef>
            </a:pPr>
            <a:r>
              <a:rPr lang="en-US" sz="1600" dirty="0">
                <a:solidFill>
                  <a:schemeClr val="dk1"/>
                </a:solidFill>
              </a:rPr>
              <a:t>Modular design supports flexibility and </a:t>
            </a:r>
            <a:r>
              <a:rPr lang="en-US" sz="1600" dirty="0" smtClean="0">
                <a:solidFill>
                  <a:schemeClr val="dk1"/>
                </a:solidFill>
              </a:rPr>
              <a:t>reuse</a:t>
            </a:r>
            <a:endParaRPr lang="en-US" sz="1600" dirty="0">
              <a:solidFill>
                <a:schemeClr val="dk1"/>
              </a:solidFill>
            </a:endParaRPr>
          </a:p>
        </p:txBody>
      </p:sp>
      <p:pic>
        <p:nvPicPr>
          <p:cNvPr id="476" name="Google Shape;47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68998">
            <a:off x="7727493" y="3399927"/>
            <a:ext cx="1393016" cy="165654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475;p37"/>
          <p:cNvSpPr txBox="1">
            <a:spLocks/>
          </p:cNvSpPr>
          <p:nvPr/>
        </p:nvSpPr>
        <p:spPr>
          <a:xfrm>
            <a:off x="4541520" y="1087124"/>
            <a:ext cx="4322263" cy="385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omic Neue"/>
              <a:buChar char="●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○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■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●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○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■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●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○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omic Neue"/>
              <a:buChar char="■"/>
              <a:defRPr sz="1400" b="0" i="0" u="none" strike="noStrike" cap="none">
                <a:solidFill>
                  <a:schemeClr val="lt1"/>
                </a:solidFill>
                <a:latin typeface="Comic Neue"/>
                <a:ea typeface="Comic Neue"/>
                <a:cs typeface="Comic Neue"/>
                <a:sym typeface="Comic Neue"/>
              </a:defRPr>
            </a:lvl9pPr>
          </a:lstStyle>
          <a:p>
            <a:pPr marL="0" indent="0" algn="ctr">
              <a:buFont typeface="Comic Neue"/>
              <a:buNone/>
            </a:pPr>
            <a:r>
              <a:rPr lang="en-US" sz="1600" b="1" dirty="0" smtClean="0">
                <a:solidFill>
                  <a:schemeClr val="dk1"/>
                </a:solidFill>
              </a:rPr>
              <a:t>Why we chose this design ?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Layered </a:t>
            </a:r>
            <a:r>
              <a:rPr lang="en-US" sz="1600" dirty="0" smtClean="0">
                <a:solidFill>
                  <a:schemeClr val="dk1"/>
                </a:solidFill>
              </a:rPr>
              <a:t>Architecture</a:t>
            </a:r>
          </a:p>
          <a:p>
            <a:pPr marL="0" indent="0" algn="ctr">
              <a:buNone/>
            </a:pPr>
            <a:r>
              <a:rPr lang="en-US" sz="1600" dirty="0" smtClean="0">
                <a:solidFill>
                  <a:schemeClr val="dk1"/>
                </a:solidFill>
              </a:rPr>
              <a:t>    |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</a:t>
            </a:r>
            <a:r>
              <a:rPr lang="en-US" sz="1600" dirty="0" smtClean="0">
                <a:solidFill>
                  <a:schemeClr val="dk1"/>
                </a:solidFill>
              </a:rPr>
              <a:t>   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Separation of Concerns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|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Modular Components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|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Easy Maintenance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|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    </a:t>
            </a:r>
            <a:r>
              <a:rPr lang="en-US" sz="1600" dirty="0" smtClean="0">
                <a:solidFill>
                  <a:schemeClr val="dk1"/>
                </a:solidFill>
              </a:rPr>
              <a:t>v</a:t>
            </a:r>
            <a:endParaRPr lang="en-US" sz="1600" dirty="0">
              <a:solidFill>
                <a:schemeClr val="dk1"/>
              </a:solidFill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chemeClr val="dk1"/>
                </a:solidFill>
              </a:rPr>
              <a:t>Scalable System</a:t>
            </a:r>
          </a:p>
          <a:p>
            <a:pPr marL="0" indent="0">
              <a:buFont typeface="Comic Neue"/>
              <a:buNone/>
            </a:pPr>
            <a:endParaRPr lang="en-US" sz="1600" dirty="0" smtClean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505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7"/>
          <p:cNvSpPr txBox="1">
            <a:spLocks noGrp="1"/>
          </p:cNvSpPr>
          <p:nvPr>
            <p:ph type="title"/>
          </p:nvPr>
        </p:nvSpPr>
        <p:spPr>
          <a:xfrm>
            <a:off x="2352125" y="2350752"/>
            <a:ext cx="3555300" cy="9674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6000" dirty="0"/>
              <a:t>Dataset</a:t>
            </a:r>
            <a:endParaRPr sz="6000" dirty="0"/>
          </a:p>
        </p:txBody>
      </p:sp>
      <p:sp>
        <p:nvSpPr>
          <p:cNvPr id="459" name="Google Shape;459;p47"/>
          <p:cNvSpPr txBox="1">
            <a:spLocks noGrp="1"/>
          </p:cNvSpPr>
          <p:nvPr>
            <p:ph type="title" idx="2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05</a:t>
            </a:r>
            <a:endParaRPr dirty="0"/>
          </a:p>
        </p:txBody>
      </p:sp>
      <p:grpSp>
        <p:nvGrpSpPr>
          <p:cNvPr id="461" name="Google Shape;461;p47"/>
          <p:cNvGrpSpPr/>
          <p:nvPr/>
        </p:nvGrpSpPr>
        <p:grpSpPr>
          <a:xfrm flipH="1">
            <a:off x="577491" y="508623"/>
            <a:ext cx="8385900" cy="90900"/>
            <a:chOff x="160950" y="480600"/>
            <a:chExt cx="8385900" cy="90900"/>
          </a:xfrm>
        </p:grpSpPr>
        <p:cxnSp>
          <p:nvCxnSpPr>
            <p:cNvPr id="462" name="Google Shape;462;p47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3" name="Google Shape;463;p47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" name="Google Shape;464;p47"/>
          <p:cNvGrpSpPr/>
          <p:nvPr/>
        </p:nvGrpSpPr>
        <p:grpSpPr>
          <a:xfrm flipH="1">
            <a:off x="7988270" y="150698"/>
            <a:ext cx="90900" cy="4415700"/>
            <a:chOff x="1113520" y="-562202"/>
            <a:chExt cx="90900" cy="4415700"/>
          </a:xfrm>
        </p:grpSpPr>
        <p:sp>
          <p:nvSpPr>
            <p:cNvPr id="465" name="Google Shape;465;p47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6" name="Google Shape;466;p47"/>
            <p:cNvCxnSpPr/>
            <p:nvPr/>
          </p:nvCxnSpPr>
          <p:spPr>
            <a:xfrm rot="10800000">
              <a:off x="1121185" y="-562202"/>
              <a:ext cx="0" cy="4153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70523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13428"/>
              </p:ext>
            </p:extLst>
          </p:nvPr>
        </p:nvGraphicFramePr>
        <p:xfrm>
          <a:off x="858983" y="1122219"/>
          <a:ext cx="7379042" cy="3511567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849582">
                  <a:extLst>
                    <a:ext uri="{9D8B030D-6E8A-4147-A177-3AD203B41FA5}">
                      <a16:colId xmlns:a16="http://schemas.microsoft.com/office/drawing/2014/main" val="3119105847"/>
                    </a:ext>
                  </a:extLst>
                </a:gridCol>
                <a:gridCol w="727363">
                  <a:extLst>
                    <a:ext uri="{9D8B030D-6E8A-4147-A177-3AD203B41FA5}">
                      <a16:colId xmlns:a16="http://schemas.microsoft.com/office/drawing/2014/main" val="3181294751"/>
                    </a:ext>
                  </a:extLst>
                </a:gridCol>
                <a:gridCol w="1782103">
                  <a:extLst>
                    <a:ext uri="{9D8B030D-6E8A-4147-A177-3AD203B41FA5}">
                      <a16:colId xmlns:a16="http://schemas.microsoft.com/office/drawing/2014/main" val="1626384795"/>
                    </a:ext>
                  </a:extLst>
                </a:gridCol>
                <a:gridCol w="1509997">
                  <a:extLst>
                    <a:ext uri="{9D8B030D-6E8A-4147-A177-3AD203B41FA5}">
                      <a16:colId xmlns:a16="http://schemas.microsoft.com/office/drawing/2014/main" val="1896743721"/>
                    </a:ext>
                  </a:extLst>
                </a:gridCol>
                <a:gridCol w="1509997">
                  <a:extLst>
                    <a:ext uri="{9D8B030D-6E8A-4147-A177-3AD203B41FA5}">
                      <a16:colId xmlns:a16="http://schemas.microsoft.com/office/drawing/2014/main" val="497454277"/>
                    </a:ext>
                  </a:extLst>
                </a:gridCol>
              </a:tblGrid>
              <a:tr h="357109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Dataset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Type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Size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Content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effectLst/>
                        </a:rPr>
                        <a:t>Usage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extLst>
                  <a:ext uri="{0D108BD9-81ED-4DB2-BD59-A6C34878D82A}">
                    <a16:rowId xmlns:a16="http://schemas.microsoft.com/office/drawing/2014/main" val="3783116129"/>
                  </a:ext>
                </a:extLst>
              </a:tr>
              <a:tr h="1190362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Locally recorded videos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Video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20 clips (1–5 min each)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Acting performances (happy, sad, angry, neutral, gestures)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Primary training &amp; testing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74809" marT="62341" marB="62341" anchor="ctr"/>
                </a:tc>
                <a:extLst>
                  <a:ext uri="{0D108BD9-81ED-4DB2-BD59-A6C34878D82A}">
                    <a16:rowId xmlns:a16="http://schemas.microsoft.com/office/drawing/2014/main" val="2859407815"/>
                  </a:ext>
                </a:extLst>
              </a:tr>
              <a:tr h="982048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Kaggle: Human Action Recognition (HAR)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Video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~15,000 clips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Walking, jumping, hand-waving, etc.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Gesture &amp; pose pretraining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74809" marT="62341" marB="62341" anchor="ctr"/>
                </a:tc>
                <a:extLst>
                  <a:ext uri="{0D108BD9-81ED-4DB2-BD59-A6C34878D82A}">
                    <a16:rowId xmlns:a16="http://schemas.microsoft.com/office/drawing/2014/main" val="633464770"/>
                  </a:ext>
                </a:extLst>
              </a:tr>
              <a:tr h="982048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Kaggle: Human Activity Recognition Video Dataset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74809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Video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~1,000 clips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Daily activities (sitting, standing, clapping)</a:t>
                      </a:r>
                      <a:endParaRPr lang="en-US" sz="1100" b="0">
                        <a:effectLst/>
                        <a:latin typeface="quote-cjk-patch"/>
                      </a:endParaRPr>
                    </a:p>
                  </a:txBody>
                  <a:tcPr marL="99746" marR="99746" marT="62341" marB="62341" anchor="ctr"/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Action segmentation validation</a:t>
                      </a:r>
                      <a:endParaRPr lang="en-US" sz="1100" b="0" dirty="0">
                        <a:effectLst/>
                        <a:latin typeface="quote-cjk-patch"/>
                      </a:endParaRPr>
                    </a:p>
                  </a:txBody>
                  <a:tcPr marL="99746" marR="74809" marT="62341" marB="62341" anchor="ctr"/>
                </a:tc>
                <a:extLst>
                  <a:ext uri="{0D108BD9-81ED-4DB2-BD59-A6C34878D82A}">
                    <a16:rowId xmlns:a16="http://schemas.microsoft.com/office/drawing/2014/main" val="2764510983"/>
                  </a:ext>
                </a:extLst>
              </a:tr>
            </a:tbl>
          </a:graphicData>
        </a:graphic>
      </p:graphicFrame>
      <p:sp>
        <p:nvSpPr>
          <p:cNvPr id="7" name="Google Shape;474;p37"/>
          <p:cNvSpPr txBox="1">
            <a:spLocks noGrp="1"/>
          </p:cNvSpPr>
          <p:nvPr>
            <p:ph type="title"/>
          </p:nvPr>
        </p:nvSpPr>
        <p:spPr>
          <a:xfrm>
            <a:off x="720001" y="243365"/>
            <a:ext cx="7704000" cy="44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Dataset Sources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73"/>
          <p:cNvSpPr txBox="1">
            <a:spLocks noGrp="1"/>
          </p:cNvSpPr>
          <p:nvPr>
            <p:ph type="subTitle" idx="4"/>
          </p:nvPr>
        </p:nvSpPr>
        <p:spPr>
          <a:xfrm>
            <a:off x="480053" y="380200"/>
            <a:ext cx="5421983" cy="25660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b="1" dirty="0"/>
              <a:t>Preprocessing Steps</a:t>
            </a:r>
            <a:endParaRPr lang="en-US" dirty="0"/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Resize frames to 224×224 (MediaPipe requirement)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Normalize pose landmarks to [0,1] using image width/height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Extract audio at 16kHz mono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Split: 70% train, 15% validation, 15% test </a:t>
            </a:r>
            <a:r>
              <a:rPr lang="en-US" dirty="0" smtClean="0"/>
              <a:t>(</a:t>
            </a:r>
            <a:r>
              <a:rPr lang="en-US" dirty="0"/>
              <a:t>per-actor stratification)</a:t>
            </a:r>
          </a:p>
          <a:p>
            <a:pPr algn="l">
              <a:lnSpc>
                <a:spcPct val="150000"/>
              </a:lnSpc>
            </a:pPr>
            <a:r>
              <a:rPr lang="en-US" b="1" dirty="0"/>
              <a:t>Ethical Considerations</a:t>
            </a:r>
            <a:endParaRPr lang="en-US" dirty="0"/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All local recordings with informed consent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cloud storage; videos deleted on request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638" y="2732612"/>
            <a:ext cx="3264362" cy="20503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Backhand2_Bad.mp4">
            <a:hlinkClick r:id="" action="ppaction://media"/>
            <a:extLst>
              <a:ext uri="{FF2B5EF4-FFF2-40B4-BE49-F238E27FC236}">
                <a16:creationId xmlns:a16="http://schemas.microsoft.com/office/drawing/2014/main" id="{51F28A0F-257C-C4B0-F138-C85E0286471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091720" y="679893"/>
            <a:ext cx="2248715" cy="41030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2"/>
          <p:cNvSpPr txBox="1">
            <a:spLocks noGrp="1"/>
          </p:cNvSpPr>
          <p:nvPr>
            <p:ph type="title"/>
          </p:nvPr>
        </p:nvSpPr>
        <p:spPr>
          <a:xfrm>
            <a:off x="3615138" y="2645698"/>
            <a:ext cx="4213323" cy="14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4800" dirty="0" smtClean="0"/>
              <a:t>Experiments/Results</a:t>
            </a:r>
            <a:endParaRPr sz="4800" dirty="0"/>
          </a:p>
        </p:txBody>
      </p:sp>
      <p:sp>
        <p:nvSpPr>
          <p:cNvPr id="523" name="Google Shape;523;p52"/>
          <p:cNvSpPr txBox="1">
            <a:spLocks noGrp="1"/>
          </p:cNvSpPr>
          <p:nvPr>
            <p:ph type="title" idx="2"/>
          </p:nvPr>
        </p:nvSpPr>
        <p:spPr>
          <a:xfrm>
            <a:off x="5121800" y="16430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06</a:t>
            </a:r>
            <a:endParaRPr dirty="0"/>
          </a:p>
        </p:txBody>
      </p:sp>
      <p:grpSp>
        <p:nvGrpSpPr>
          <p:cNvPr id="524" name="Google Shape;524;p52"/>
          <p:cNvGrpSpPr/>
          <p:nvPr/>
        </p:nvGrpSpPr>
        <p:grpSpPr>
          <a:xfrm>
            <a:off x="181160" y="508623"/>
            <a:ext cx="8385900" cy="90900"/>
            <a:chOff x="160950" y="480600"/>
            <a:chExt cx="8385900" cy="90900"/>
          </a:xfrm>
        </p:grpSpPr>
        <p:cxnSp>
          <p:nvCxnSpPr>
            <p:cNvPr id="525" name="Google Shape;525;p52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26" name="Google Shape;526;p52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7" name="Google Shape;527;p52"/>
          <p:cNvGrpSpPr/>
          <p:nvPr/>
        </p:nvGrpSpPr>
        <p:grpSpPr>
          <a:xfrm>
            <a:off x="1113520" y="156298"/>
            <a:ext cx="90900" cy="3697200"/>
            <a:chOff x="1113520" y="156298"/>
            <a:chExt cx="90900" cy="3697200"/>
          </a:xfrm>
        </p:grpSpPr>
        <p:sp>
          <p:nvSpPr>
            <p:cNvPr id="528" name="Google Shape;528;p52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29" name="Google Shape;529;p52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2653385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876736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Hardware: Laptop with CPU i7, 16GB RAM, no GPU (some experiments</a:t>
            </a:r>
            <a:r>
              <a:rPr lang="en-US" dirty="0" smtClean="0"/>
              <a:t>)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Software: Python 3.9+, </a:t>
            </a:r>
            <a:r>
              <a:rPr lang="en-US" dirty="0" err="1"/>
              <a:t>TensorFlow</a:t>
            </a:r>
            <a:r>
              <a:rPr lang="en-US" dirty="0"/>
              <a:t> 2.10, MediaPipe 0.10, Flask </a:t>
            </a:r>
            <a:r>
              <a:rPr lang="en-US" dirty="0" smtClean="0"/>
              <a:t>2.0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Baselines: Compared 8 model architectures (CNN, RNN, LSTM, GRU, </a:t>
            </a:r>
            <a:r>
              <a:rPr lang="en-US" dirty="0" err="1"/>
              <a:t>BiLSTM</a:t>
            </a:r>
            <a:r>
              <a:rPr lang="en-US" dirty="0"/>
              <a:t>, CNN-LSTM, CNN-RNN, </a:t>
            </a:r>
            <a:r>
              <a:rPr lang="en-US" dirty="0" err="1"/>
              <a:t>Keras</a:t>
            </a:r>
            <a:r>
              <a:rPr lang="en-US" dirty="0"/>
              <a:t> DNN, </a:t>
            </a:r>
            <a:r>
              <a:rPr lang="en-US" dirty="0" err="1" smtClean="0"/>
              <a:t>PyCaret</a:t>
            </a:r>
            <a:r>
              <a:rPr lang="en-US" dirty="0" smtClean="0"/>
              <a:t>)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Metrics</a:t>
            </a:r>
            <a:r>
              <a:rPr lang="en-US" dirty="0"/>
              <a:t>: Accuracy, Precision, Recall, F1, SUS score, processing latency</a:t>
            </a:r>
            <a:endParaRPr dirty="0"/>
          </a:p>
        </p:txBody>
      </p:sp>
      <p:sp>
        <p:nvSpPr>
          <p:cNvPr id="473" name="Google Shape;473;p48"/>
          <p:cNvSpPr txBox="1">
            <a:spLocks noGrp="1"/>
          </p:cNvSpPr>
          <p:nvPr>
            <p:ph type="subTitle" idx="1"/>
          </p:nvPr>
        </p:nvSpPr>
        <p:spPr>
          <a:xfrm>
            <a:off x="913552" y="8553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Experimental Setup</a:t>
            </a:r>
            <a:endParaRPr dirty="0"/>
          </a:p>
        </p:txBody>
      </p:sp>
      <p:sp>
        <p:nvSpPr>
          <p:cNvPr id="474" name="Google Shape;474;p48"/>
          <p:cNvSpPr txBox="1">
            <a:spLocks noGrp="1"/>
          </p:cNvSpPr>
          <p:nvPr>
            <p:ph type="subTitle" idx="2"/>
          </p:nvPr>
        </p:nvSpPr>
        <p:spPr>
          <a:xfrm>
            <a:off x="4949973" y="8553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Error Analysis</a:t>
            </a:r>
            <a:endParaRPr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502724" y="706582"/>
            <a:ext cx="0" cy="3657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4589754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Emotion misclassifications: neutral → sad (low lighting)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Gaze failures: 20% of frames when face partially occluded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Action segmentation: 10 actions detected, 8 correct labels (80% frame-wise accuracy)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7831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390;p41"/>
          <p:cNvSpPr txBox="1">
            <a:spLocks/>
          </p:cNvSpPr>
          <p:nvPr/>
        </p:nvSpPr>
        <p:spPr>
          <a:xfrm>
            <a:off x="719998" y="3034688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dirty="0" smtClean="0"/>
              <a:t>Performance Metrics</a:t>
            </a:r>
            <a:endParaRPr lang="en-US" sz="2000" dirty="0"/>
          </a:p>
        </p:txBody>
      </p:sp>
      <p:sp>
        <p:nvSpPr>
          <p:cNvPr id="12" name="Google Shape;556;p56"/>
          <p:cNvSpPr txBox="1">
            <a:spLocks/>
          </p:cNvSpPr>
          <p:nvPr/>
        </p:nvSpPr>
        <p:spPr>
          <a:xfrm>
            <a:off x="2239115" y="3321038"/>
            <a:ext cx="5179993" cy="1586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Emotion detection accuracy: 61.5% (meets 60% baseline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Gesture matching via $1 recognizer: 14/20 correct (70% accuracy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Report generation latency: &lt;5 seconds for 1-minute </a:t>
            </a:r>
            <a:r>
              <a:rPr lang="en-US" dirty="0" smtClean="0"/>
              <a:t>video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SUS score: 85/100 (exceeds 68 threshold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Processing time: 1 min video → 9.5 min (meets 10 min target)</a:t>
            </a:r>
          </a:p>
        </p:txBody>
      </p:sp>
      <p:sp>
        <p:nvSpPr>
          <p:cNvPr id="13" name="Google Shape;390;p41"/>
          <p:cNvSpPr txBox="1">
            <a:spLocks/>
          </p:cNvSpPr>
          <p:nvPr/>
        </p:nvSpPr>
        <p:spPr>
          <a:xfrm>
            <a:off x="719999" y="165263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smtClean="0"/>
              <a:t>Quantitative Results</a:t>
            </a:r>
            <a:endParaRPr lang="en-US" sz="2000" dirty="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696653"/>
              </p:ext>
            </p:extLst>
          </p:nvPr>
        </p:nvGraphicFramePr>
        <p:xfrm>
          <a:off x="1213894" y="737963"/>
          <a:ext cx="6716208" cy="2244078"/>
        </p:xfrm>
        <a:graphic>
          <a:graphicData uri="http://schemas.openxmlformats.org/drawingml/2006/table">
            <a:tbl>
              <a:tblPr firstRow="1" firstCol="1">
                <a:tableStyleId>{3C2FFA5D-87B4-456A-9821-1D502468CF0F}</a:tableStyleId>
              </a:tblPr>
              <a:tblGrid>
                <a:gridCol w="2313708">
                  <a:extLst>
                    <a:ext uri="{9D8B030D-6E8A-4147-A177-3AD203B41FA5}">
                      <a16:colId xmlns:a16="http://schemas.microsoft.com/office/drawing/2014/main" val="1009647615"/>
                    </a:ext>
                  </a:extLst>
                </a:gridCol>
                <a:gridCol w="969819">
                  <a:extLst>
                    <a:ext uri="{9D8B030D-6E8A-4147-A177-3AD203B41FA5}">
                      <a16:colId xmlns:a16="http://schemas.microsoft.com/office/drawing/2014/main" val="1959120601"/>
                    </a:ext>
                  </a:extLst>
                </a:gridCol>
                <a:gridCol w="1299081">
                  <a:extLst>
                    <a:ext uri="{9D8B030D-6E8A-4147-A177-3AD203B41FA5}">
                      <a16:colId xmlns:a16="http://schemas.microsoft.com/office/drawing/2014/main" val="923486982"/>
                    </a:ext>
                  </a:extLst>
                </a:gridCol>
                <a:gridCol w="928254">
                  <a:extLst>
                    <a:ext uri="{9D8B030D-6E8A-4147-A177-3AD203B41FA5}">
                      <a16:colId xmlns:a16="http://schemas.microsoft.com/office/drawing/2014/main" val="574982113"/>
                    </a:ext>
                  </a:extLst>
                </a:gridCol>
                <a:gridCol w="1205346">
                  <a:extLst>
                    <a:ext uri="{9D8B030D-6E8A-4147-A177-3AD203B41FA5}">
                      <a16:colId xmlns:a16="http://schemas.microsoft.com/office/drawing/2014/main" val="1601832976"/>
                    </a:ext>
                  </a:extLst>
                </a:gridCol>
              </a:tblGrid>
              <a:tr h="260681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effectLst/>
                        </a:rPr>
                        <a:t>Model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Accuracy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Precision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Recall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>
                          <a:effectLst/>
                        </a:rPr>
                        <a:t>F1 Score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3007145553"/>
                  </a:ext>
                </a:extLst>
              </a:tr>
              <a:tr h="412746">
                <a:tc>
                  <a:txBody>
                    <a:bodyPr/>
                    <a:lstStyle/>
                    <a:p>
                      <a:r>
                        <a:rPr lang="en-US" sz="1200" dirty="0" err="1">
                          <a:effectLst/>
                        </a:rPr>
                        <a:t>Keras</a:t>
                      </a:r>
                      <a:r>
                        <a:rPr lang="en-US" sz="1200" dirty="0">
                          <a:effectLst/>
                        </a:rPr>
                        <a:t> DNN (baseline)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65%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0.63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0.62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0.62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2450763035"/>
                  </a:ext>
                </a:extLst>
              </a:tr>
              <a:tr h="260681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LSTM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68%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0.67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141137754"/>
                  </a:ext>
                </a:extLst>
              </a:tr>
              <a:tr h="260681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GRU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70%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0.69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0.68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0.68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118131234"/>
                  </a:ext>
                </a:extLst>
              </a:tr>
              <a:tr h="412746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CNN-LSTM (our ensemble)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78%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0.77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0.76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476559881"/>
                  </a:ext>
                </a:extLst>
              </a:tr>
              <a:tr h="412746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PyCaret (classical ML)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72%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0.71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0.70</a:t>
                      </a:r>
                      <a:endParaRPr lang="en-US" sz="12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0.70</a:t>
                      </a:r>
                      <a:endParaRPr lang="en-US" sz="12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87637500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947" y="387927"/>
            <a:ext cx="7134035" cy="4497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65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4"/>
          <p:cNvSpPr txBox="1">
            <a:spLocks noGrp="1"/>
          </p:cNvSpPr>
          <p:nvPr>
            <p:ph type="title"/>
          </p:nvPr>
        </p:nvSpPr>
        <p:spPr>
          <a:xfrm>
            <a:off x="1393550" y="2240923"/>
            <a:ext cx="5893941" cy="20690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5400" dirty="0" smtClean="0"/>
              <a:t>Contributions &amp; Achievements</a:t>
            </a:r>
            <a:endParaRPr sz="5400" dirty="0"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2"/>
          </p:nvPr>
        </p:nvSpPr>
        <p:spPr>
          <a:xfrm>
            <a:off x="1393550" y="171390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07</a:t>
            </a:r>
            <a:endParaRPr dirty="0"/>
          </a:p>
        </p:txBody>
      </p:sp>
      <p:grpSp>
        <p:nvGrpSpPr>
          <p:cNvPr id="434" name="Google Shape;434;p44"/>
          <p:cNvGrpSpPr/>
          <p:nvPr/>
        </p:nvGrpSpPr>
        <p:grpSpPr>
          <a:xfrm flipH="1">
            <a:off x="576156" y="508623"/>
            <a:ext cx="8385900" cy="90900"/>
            <a:chOff x="160950" y="480600"/>
            <a:chExt cx="8385900" cy="90900"/>
          </a:xfrm>
        </p:grpSpPr>
        <p:cxnSp>
          <p:nvCxnSpPr>
            <p:cNvPr id="435" name="Google Shape;435;p44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6" name="Google Shape;436;p44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" name="Google Shape;437;p44"/>
          <p:cNvGrpSpPr/>
          <p:nvPr/>
        </p:nvGrpSpPr>
        <p:grpSpPr>
          <a:xfrm rot="10800000">
            <a:off x="7961770" y="1295598"/>
            <a:ext cx="90900" cy="3697200"/>
            <a:chOff x="1113520" y="156298"/>
            <a:chExt cx="90900" cy="3697200"/>
          </a:xfrm>
        </p:grpSpPr>
        <p:sp>
          <p:nvSpPr>
            <p:cNvPr id="438" name="Google Shape;438;p44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39" name="Google Shape;439;p44"/>
            <p:cNvCxnSpPr/>
            <p:nvPr/>
          </p:nvCxnSpPr>
          <p:spPr>
            <a:xfrm rot="10800000">
              <a:off x="1121185" y="156298"/>
              <a:ext cx="0" cy="3434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086549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61"/>
          <p:cNvSpPr txBox="1">
            <a:spLocks noGrp="1"/>
          </p:cNvSpPr>
          <p:nvPr>
            <p:ph type="title"/>
          </p:nvPr>
        </p:nvSpPr>
        <p:spPr>
          <a:xfrm>
            <a:off x="720000" y="20257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Contribution</a:t>
            </a:r>
            <a:endParaRPr dirty="0"/>
          </a:p>
        </p:txBody>
      </p:sp>
      <p:graphicFrame>
        <p:nvGraphicFramePr>
          <p:cNvPr id="615" name="Google Shape;615;p61"/>
          <p:cNvGraphicFramePr/>
          <p:nvPr>
            <p:extLst>
              <p:ext uri="{D42A27DB-BD31-4B8C-83A1-F6EECF244321}">
                <p14:modId xmlns:p14="http://schemas.microsoft.com/office/powerpoint/2010/main" val="36905983"/>
              </p:ext>
            </p:extLst>
          </p:nvPr>
        </p:nvGraphicFramePr>
        <p:xfrm>
          <a:off x="720000" y="1090936"/>
          <a:ext cx="7704000" cy="3629735"/>
        </p:xfrm>
        <a:graphic>
          <a:graphicData uri="http://schemas.openxmlformats.org/drawingml/2006/table">
            <a:tbl>
              <a:tblPr>
                <a:noFill/>
                <a:tableStyleId>{1FFBF228-6F98-4F8E-B3A5-E3E8A43EDDBD}</a:tableStyleId>
              </a:tblPr>
              <a:tblGrid>
                <a:gridCol w="385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8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Technical Contribution</a:t>
                      </a:r>
                      <a:endParaRPr sz="2000" dirty="0">
                        <a:solidFill>
                          <a:schemeClr val="dk1"/>
                        </a:solidFill>
                        <a:latin typeface="Noto Serif Ethiopic"/>
                        <a:ea typeface="Noto Serif Ethiopic"/>
                        <a:cs typeface="Noto Serif Ethiopic"/>
                        <a:sym typeface="Noto Serif Ethiopi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00">
                <a:tc gridSpan="2">
                  <a:txBody>
                    <a:bodyPr/>
                    <a:lstStyle/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First integrated multi-modal audition analysis system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combining emotion, gaze, voice, pose, and gesture in director-priority order</a:t>
                      </a:r>
                    </a:p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Custom gesture scoring equation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using 3D landmark heuristics + $1 recognizer:</a:t>
                      </a:r>
                    </a:p>
                    <a:p>
                      <a:pPr marL="720000" lvl="5" indent="0">
                        <a:buClr>
                          <a:schemeClr val="tx1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        Gesture Score=min⁡(Unique Gestures5,1.0)×0.4+(Accuracy)×0.6</a:t>
                      </a:r>
                    </a:p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Temporal action segmentation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for 10 discrete actions per audition</a:t>
                      </a:r>
                    </a:p>
                    <a:p>
                      <a:pPr marL="720000" indent="-285750">
                        <a:buClr>
                          <a:schemeClr val="tx1"/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Ensemble model (CNN-LSTM)</a:t>
                      </a:r>
                      <a:r>
                        <a:rPr lang="en-US" sz="1200" b="0" i="0" u="none" strike="noStrike" cap="none" dirty="0" smtClean="0">
                          <a:solidFill>
                            <a:srgbClr val="A24559"/>
                          </a:solidFill>
                          <a:effectLst/>
                          <a:latin typeface="Akatab" panose="020B0604020202020204" charset="0"/>
                          <a:ea typeface="Akatab" panose="020B0604020202020204" charset="0"/>
                          <a:cs typeface="Akatab" panose="020B0604020202020204" charset="0"/>
                          <a:sym typeface="Arial"/>
                        </a:rPr>
                        <a:t> achieving 78% accuracy vs. 65% baseline</a:t>
                      </a:r>
                      <a:endParaRPr lang="en-US" sz="1200" b="0" i="0" u="none" strike="noStrike" cap="none" dirty="0">
                        <a:solidFill>
                          <a:srgbClr val="A24559"/>
                        </a:solidFill>
                        <a:effectLst/>
                        <a:latin typeface="Akatab" panose="020B0604020202020204" charset="0"/>
                        <a:ea typeface="Akatab" panose="020B0604020202020204" charset="0"/>
                        <a:cs typeface="Akatab" panose="020B0604020202020204" charset="0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3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Practical</a:t>
                      </a:r>
                      <a:r>
                        <a:rPr lang="en" sz="2000" baseline="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 Contribution</a:t>
                      </a:r>
                      <a:endParaRPr sz="2000" dirty="0">
                        <a:solidFill>
                          <a:schemeClr val="dk1"/>
                        </a:solidFill>
                        <a:latin typeface="Noto Serif Ethiopic"/>
                        <a:ea typeface="Noto Serif Ethiopic"/>
                        <a:cs typeface="Noto Serif Ethiopic"/>
                        <a:sym typeface="Noto Serif Ethiopi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Research</a:t>
                      </a:r>
                      <a:r>
                        <a:rPr lang="en" sz="2000" baseline="0" dirty="0" smtClean="0">
                          <a:solidFill>
                            <a:schemeClr val="dk1"/>
                          </a:solidFill>
                          <a:latin typeface="Noto Serif Ethiopic"/>
                          <a:ea typeface="Noto Serif Ethiopic"/>
                          <a:cs typeface="Noto Serif Ethiopic"/>
                          <a:sym typeface="Noto Serif Ethiopic"/>
                        </a:rPr>
                        <a:t> Contribution</a:t>
                      </a:r>
                      <a:endParaRPr sz="2000" dirty="0">
                        <a:solidFill>
                          <a:schemeClr val="dk1"/>
                        </a:solidFill>
                        <a:latin typeface="Noto Serif Ethiopic"/>
                        <a:ea typeface="Noto Serif Ethiopic"/>
                        <a:cs typeface="Noto Serif Ethiopic"/>
                        <a:sym typeface="Noto Serif Ethiopic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125">
                <a:tc>
                  <a:txBody>
                    <a:bodyPr/>
                    <a:lstStyle/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Working Flask web application with upload → analyze → report workflow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Open-source code structure (modular: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web_app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/, analysis/, models/,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utils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/)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Reproducible evaluation logs (model versions, seeds, confusion matrices)</a:t>
                      </a:r>
                      <a:endParaRPr sz="1200" dirty="0">
                        <a:solidFill>
                          <a:schemeClr val="dk1"/>
                        </a:solidFill>
                        <a:latin typeface="Akatab"/>
                        <a:ea typeface="Akatab"/>
                        <a:cs typeface="Akatab"/>
                        <a:sym typeface="Akatab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New locally recorded acting dataset (20 videos, emotion + gesture labels)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Demonstrated that emotional variation (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Std.Dev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.) is a stronger acting quality predictor than mean intensity</a:t>
                      </a:r>
                    </a:p>
                    <a:p>
                      <a:pPr marL="457200" lvl="0" indent="-3048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katab"/>
                        <a:buChar char="●"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Research draft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Akatab"/>
                          <a:ea typeface="Akatab"/>
                          <a:cs typeface="Akatab"/>
                          <a:sym typeface="Akatab"/>
                        </a:rPr>
                        <a:t> paper ready to be submitted </a:t>
                      </a:r>
                      <a:endParaRPr sz="1200" dirty="0">
                        <a:solidFill>
                          <a:schemeClr val="dk1"/>
                        </a:solidFill>
                        <a:latin typeface="Akatab"/>
                        <a:ea typeface="Akatab"/>
                        <a:cs typeface="Akatab"/>
                        <a:sym typeface="Akatab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390;p41"/>
          <p:cNvSpPr txBox="1">
            <a:spLocks/>
          </p:cNvSpPr>
          <p:nvPr/>
        </p:nvSpPr>
        <p:spPr>
          <a:xfrm>
            <a:off x="719999" y="282687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dirty="0" smtClean="0"/>
              <a:t>Key Milestones Completed</a:t>
            </a:r>
            <a:endParaRPr lang="en-US" sz="2000" dirty="0"/>
          </a:p>
        </p:txBody>
      </p:sp>
      <p:sp>
        <p:nvSpPr>
          <p:cNvPr id="12" name="Google Shape;556;p56"/>
          <p:cNvSpPr txBox="1">
            <a:spLocks/>
          </p:cNvSpPr>
          <p:nvPr/>
        </p:nvSpPr>
        <p:spPr>
          <a:xfrm>
            <a:off x="2682461" y="3161711"/>
            <a:ext cx="4286375" cy="1586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●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○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katab"/>
              <a:buChar char="■"/>
              <a:defRPr sz="1200" b="0" i="0" u="none" strike="noStrike" cap="none">
                <a:solidFill>
                  <a:schemeClr val="dk1"/>
                </a:solidFill>
                <a:latin typeface="Akatab"/>
                <a:ea typeface="Akatab"/>
                <a:cs typeface="Akatab"/>
                <a:sym typeface="Akatab"/>
              </a:defRPr>
            </a:lvl9pPr>
          </a:lstStyle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/>
              <a:t>5 AI modules integrated and </a:t>
            </a:r>
            <a:r>
              <a:rPr lang="en-US" dirty="0" smtClean="0"/>
              <a:t>tested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8 </a:t>
            </a:r>
            <a:r>
              <a:rPr lang="en-US" dirty="0"/>
              <a:t>models compared, best selected (CNN-LSTM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41 </a:t>
            </a:r>
            <a:r>
              <a:rPr lang="en-US" dirty="0"/>
              <a:t>test cases executed, 40 passed (97.6% pass rate</a:t>
            </a:r>
            <a:r>
              <a:rPr lang="en-US" dirty="0" smtClean="0"/>
              <a:t>)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User </a:t>
            </a:r>
            <a:r>
              <a:rPr lang="en-US" dirty="0"/>
              <a:t>acceptance: 100% task completion, 2 errors </a:t>
            </a:r>
            <a:r>
              <a:rPr lang="en-US" dirty="0" smtClean="0"/>
              <a:t>only</a:t>
            </a:r>
            <a:endParaRPr lang="en-US" dirty="0"/>
          </a:p>
          <a:p>
            <a:pPr marL="171450" indent="-171450" algn="l">
              <a:lnSpc>
                <a:spcPct val="150000"/>
              </a:lnSpc>
              <a:buSzPct val="80000"/>
            </a:pPr>
            <a:r>
              <a:rPr lang="en-US" dirty="0" smtClean="0"/>
              <a:t>Mean </a:t>
            </a:r>
            <a:r>
              <a:rPr lang="en-US" dirty="0"/>
              <a:t>Time To Repair (MTTR): &lt;3 seconds after crash</a:t>
            </a:r>
            <a:endParaRPr lang="en-US" dirty="0"/>
          </a:p>
        </p:txBody>
      </p:sp>
      <p:sp>
        <p:nvSpPr>
          <p:cNvPr id="13" name="Google Shape;390;p41"/>
          <p:cNvSpPr txBox="1">
            <a:spLocks/>
          </p:cNvSpPr>
          <p:nvPr/>
        </p:nvSpPr>
        <p:spPr>
          <a:xfrm>
            <a:off x="719999" y="165263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Noto Serif Ethiopic"/>
              <a:buNone/>
              <a:defRPr sz="3500" b="0" i="0" u="none" strike="noStrike" cap="none">
                <a:solidFill>
                  <a:schemeClr val="dk1"/>
                </a:solidFill>
                <a:latin typeface="Noto Serif Ethiopic"/>
                <a:ea typeface="Noto Serif Ethiopic"/>
                <a:cs typeface="Noto Serif Ethiopic"/>
                <a:sym typeface="Noto Serif Ethiop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2000" dirty="0" smtClean="0"/>
              <a:t>Met Success Criteria</a:t>
            </a:r>
            <a:endParaRPr lang="en-US" sz="2000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277214"/>
              </p:ext>
            </p:extLst>
          </p:nvPr>
        </p:nvGraphicFramePr>
        <p:xfrm>
          <a:off x="983673" y="634054"/>
          <a:ext cx="7281140" cy="1960242"/>
        </p:xfrm>
        <a:graphic>
          <a:graphicData uri="http://schemas.openxmlformats.org/drawingml/2006/table">
            <a:tbl>
              <a:tblPr firstRow="1" firstCol="1">
                <a:tableStyleId>{3C2FFA5D-87B4-456A-9821-1D502468CF0F}</a:tableStyleId>
              </a:tblPr>
              <a:tblGrid>
                <a:gridCol w="1661231">
                  <a:extLst>
                    <a:ext uri="{9D8B030D-6E8A-4147-A177-3AD203B41FA5}">
                      <a16:colId xmlns:a16="http://schemas.microsoft.com/office/drawing/2014/main" val="1222181062"/>
                    </a:ext>
                  </a:extLst>
                </a:gridCol>
                <a:gridCol w="1873303">
                  <a:extLst>
                    <a:ext uri="{9D8B030D-6E8A-4147-A177-3AD203B41FA5}">
                      <a16:colId xmlns:a16="http://schemas.microsoft.com/office/drawing/2014/main" val="2041674042"/>
                    </a:ext>
                  </a:extLst>
                </a:gridCol>
                <a:gridCol w="1873303">
                  <a:extLst>
                    <a:ext uri="{9D8B030D-6E8A-4147-A177-3AD203B41FA5}">
                      <a16:colId xmlns:a16="http://schemas.microsoft.com/office/drawing/2014/main" val="3894972831"/>
                    </a:ext>
                  </a:extLst>
                </a:gridCol>
                <a:gridCol w="1873303">
                  <a:extLst>
                    <a:ext uri="{9D8B030D-6E8A-4147-A177-3AD203B41FA5}">
                      <a16:colId xmlns:a16="http://schemas.microsoft.com/office/drawing/2014/main" val="344390835"/>
                    </a:ext>
                  </a:extLst>
                </a:gridCol>
              </a:tblGrid>
              <a:tr h="275521"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Criterion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Target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Achieved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effectLst/>
                        </a:rPr>
                        <a:t>Status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344605653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Emotion accuracy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≥60%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61.5%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 smtClean="0">
                          <a:effectLst/>
                          <a:latin typeface="+mn-lt"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2876123"/>
                  </a:ext>
                </a:extLst>
              </a:tr>
              <a:tr h="436242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Gaze detection frames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≥80%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80%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 smtClean="0">
                          <a:effectLst/>
                          <a:latin typeface="+mn-lt"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619231188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Report generation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&lt;5 sec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4.8 sec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 smtClean="0">
                          <a:effectLst/>
                          <a:latin typeface="+mn-lt"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1992147729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SUS score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≥68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85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 smtClean="0">
                          <a:effectLst/>
                          <a:latin typeface="+mn-lt"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036318297"/>
                  </a:ext>
                </a:extLst>
              </a:tr>
              <a:tr h="275521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Processing time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&lt;10 min/min video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9.5 min</a:t>
                      </a:r>
                      <a:endParaRPr lang="en-US" sz="10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r>
                        <a:rPr lang="en-US" sz="1000" b="0" dirty="0" smtClean="0">
                          <a:effectLst/>
                          <a:latin typeface="+mn-lt"/>
                        </a:rPr>
                        <a:t>PASS</a:t>
                      </a:r>
                      <a:endParaRPr lang="en-US" sz="1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/>
                </a:tc>
                <a:extLst>
                  <a:ext uri="{0D108BD9-81ED-4DB2-BD59-A6C34878D82A}">
                    <a16:rowId xmlns:a16="http://schemas.microsoft.com/office/drawing/2014/main" val="3025188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7027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876736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Multi-modal synchronization → solved with timestamp mapping in preprocessing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experienced director testing → used SUS + field study with non-expert users as proxy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Limited dataset → augmented with </a:t>
            </a:r>
            <a:r>
              <a:rPr lang="en-US" dirty="0" err="1"/>
              <a:t>Kaggle</a:t>
            </a:r>
            <a:r>
              <a:rPr lang="en-US" dirty="0"/>
              <a:t> HAR datasets + custom recordings</a:t>
            </a:r>
            <a:endParaRPr dirty="0"/>
          </a:p>
        </p:txBody>
      </p:sp>
      <p:sp>
        <p:nvSpPr>
          <p:cNvPr id="473" name="Google Shape;473;p48"/>
          <p:cNvSpPr txBox="1">
            <a:spLocks noGrp="1"/>
          </p:cNvSpPr>
          <p:nvPr>
            <p:ph type="subTitle" idx="1"/>
          </p:nvPr>
        </p:nvSpPr>
        <p:spPr>
          <a:xfrm>
            <a:off x="727365" y="855325"/>
            <a:ext cx="3397388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Overcome Challenges</a:t>
            </a:r>
            <a:endParaRPr dirty="0"/>
          </a:p>
        </p:txBody>
      </p:sp>
      <p:sp>
        <p:nvSpPr>
          <p:cNvPr id="474" name="Google Shape;474;p48"/>
          <p:cNvSpPr txBox="1">
            <a:spLocks noGrp="1"/>
          </p:cNvSpPr>
          <p:nvPr>
            <p:ph type="subTitle" idx="2"/>
          </p:nvPr>
        </p:nvSpPr>
        <p:spPr>
          <a:xfrm>
            <a:off x="4949973" y="855325"/>
            <a:ext cx="3211200" cy="47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Quantifiable Wins</a:t>
            </a:r>
            <a:endParaRPr dirty="0"/>
          </a:p>
        </p:txBody>
      </p:sp>
      <p:cxnSp>
        <p:nvCxnSpPr>
          <p:cNvPr id="4" name="Straight Connector 3"/>
          <p:cNvCxnSpPr/>
          <p:nvPr/>
        </p:nvCxnSpPr>
        <p:spPr>
          <a:xfrm>
            <a:off x="4502724" y="706582"/>
            <a:ext cx="0" cy="3657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471;p48"/>
          <p:cNvSpPr txBox="1">
            <a:spLocks noGrp="1"/>
          </p:cNvSpPr>
          <p:nvPr>
            <p:ph type="subTitle" idx="3"/>
          </p:nvPr>
        </p:nvSpPr>
        <p:spPr>
          <a:xfrm>
            <a:off x="4589754" y="1456116"/>
            <a:ext cx="3625988" cy="30604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78% accuracy vs. 65% baseline → 20% relative improvement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40/41 tests passed → 97.6% reliability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SUS 85 → "Excellent" usability (top 10th percentile)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4955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7"/>
          <p:cNvSpPr txBox="1">
            <a:spLocks noGrp="1"/>
          </p:cNvSpPr>
          <p:nvPr>
            <p:ph type="title"/>
          </p:nvPr>
        </p:nvSpPr>
        <p:spPr>
          <a:xfrm>
            <a:off x="2352124" y="2350752"/>
            <a:ext cx="4637493" cy="177715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 smtClean="0"/>
              <a:t>Conclusion &amp; Future Work</a:t>
            </a:r>
            <a:endParaRPr sz="5400" dirty="0"/>
          </a:p>
        </p:txBody>
      </p:sp>
      <p:sp>
        <p:nvSpPr>
          <p:cNvPr id="459" name="Google Shape;459;p47"/>
          <p:cNvSpPr txBox="1">
            <a:spLocks noGrp="1"/>
          </p:cNvSpPr>
          <p:nvPr>
            <p:ph type="title" idx="2"/>
          </p:nvPr>
        </p:nvSpPr>
        <p:spPr>
          <a:xfrm>
            <a:off x="1152125" y="2350752"/>
            <a:ext cx="1200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08</a:t>
            </a:r>
            <a:endParaRPr dirty="0"/>
          </a:p>
        </p:txBody>
      </p:sp>
      <p:grpSp>
        <p:nvGrpSpPr>
          <p:cNvPr id="461" name="Google Shape;461;p47"/>
          <p:cNvGrpSpPr/>
          <p:nvPr/>
        </p:nvGrpSpPr>
        <p:grpSpPr>
          <a:xfrm flipH="1">
            <a:off x="577491" y="508623"/>
            <a:ext cx="8385900" cy="90900"/>
            <a:chOff x="160950" y="480600"/>
            <a:chExt cx="8385900" cy="90900"/>
          </a:xfrm>
        </p:grpSpPr>
        <p:cxnSp>
          <p:nvCxnSpPr>
            <p:cNvPr id="462" name="Google Shape;462;p47"/>
            <p:cNvCxnSpPr/>
            <p:nvPr/>
          </p:nvCxnSpPr>
          <p:spPr>
            <a:xfrm>
              <a:off x="160950" y="571500"/>
              <a:ext cx="8385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3" name="Google Shape;463;p47"/>
            <p:cNvSpPr/>
            <p:nvPr/>
          </p:nvSpPr>
          <p:spPr>
            <a:xfrm>
              <a:off x="8041650" y="480600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4" name="Google Shape;464;p47"/>
          <p:cNvGrpSpPr/>
          <p:nvPr/>
        </p:nvGrpSpPr>
        <p:grpSpPr>
          <a:xfrm flipH="1">
            <a:off x="7988270" y="150698"/>
            <a:ext cx="90900" cy="4415700"/>
            <a:chOff x="1113520" y="-562202"/>
            <a:chExt cx="90900" cy="4415700"/>
          </a:xfrm>
        </p:grpSpPr>
        <p:sp>
          <p:nvSpPr>
            <p:cNvPr id="465" name="Google Shape;465;p47"/>
            <p:cNvSpPr/>
            <p:nvPr/>
          </p:nvSpPr>
          <p:spPr>
            <a:xfrm rot="-5400000">
              <a:off x="906370" y="3555448"/>
              <a:ext cx="505200" cy="90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66" name="Google Shape;466;p47"/>
            <p:cNvCxnSpPr/>
            <p:nvPr/>
          </p:nvCxnSpPr>
          <p:spPr>
            <a:xfrm rot="10800000">
              <a:off x="1121185" y="-562202"/>
              <a:ext cx="0" cy="4153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88515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493526" y="690545"/>
            <a:ext cx="4040873" cy="3790115"/>
          </a:xfrm>
        </p:spPr>
        <p:txBody>
          <a:bodyPr/>
          <a:lstStyle/>
          <a:p>
            <a:pPr marL="152400" indent="0">
              <a:lnSpc>
                <a:spcPct val="150000"/>
              </a:lnSpc>
              <a:buNone/>
            </a:pPr>
            <a:r>
              <a:rPr lang="en-US" b="1" dirty="0" err="1"/>
              <a:t>AuditionSense</a:t>
            </a:r>
            <a:r>
              <a:rPr lang="en-US" dirty="0"/>
              <a:t> successfully demonstrates that a modular, event-driven AI system can provide objective, multi-modal performance analysis for audition videos, reducing subjective bias and accelerating director feedback</a:t>
            </a:r>
            <a:r>
              <a:rPr lang="en-US" dirty="0" smtClean="0"/>
              <a:t>.</a:t>
            </a:r>
          </a:p>
          <a:p>
            <a:pPr marL="152400" indent="0">
              <a:buNone/>
            </a:pPr>
            <a:r>
              <a:rPr lang="en-US" dirty="0" smtClean="0"/>
              <a:t>Future Directions: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 smtClean="0"/>
              <a:t>Mobile </a:t>
            </a:r>
            <a:r>
              <a:rPr lang="en-US" b="1" dirty="0"/>
              <a:t>app</a:t>
            </a:r>
            <a:r>
              <a:rPr lang="en-US" dirty="0"/>
              <a:t> (React Native) for on-set auditions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Cloud scaling</a:t>
            </a:r>
            <a:r>
              <a:rPr lang="en-US" dirty="0"/>
              <a:t> (AWS/GCP) for 100+ concurrent analyses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Multi-language voice support</a:t>
            </a:r>
            <a:r>
              <a:rPr lang="en-US" dirty="0"/>
              <a:t> (beyond English)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Integration with casting platforms</a:t>
            </a:r>
            <a:r>
              <a:rPr lang="en-US" dirty="0"/>
              <a:t> (Zoom, Casting Networks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98" y="812220"/>
            <a:ext cx="3534457" cy="29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397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7960" y="969694"/>
            <a:ext cx="5708100" cy="2085233"/>
          </a:xfrm>
        </p:spPr>
        <p:txBody>
          <a:bodyPr/>
          <a:lstStyle/>
          <a:p>
            <a:r>
              <a:rPr lang="en-US" sz="5400" dirty="0" smtClean="0"/>
              <a:t>Time to watch demo videos!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7960" y="3262746"/>
            <a:ext cx="5618022" cy="609477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en-US" sz="1600" dirty="0"/>
              <a:t>https://drive.google.com/drive/folders/1vxdZAUS0mCCJd0KenIfqWXUlbNJ_Howo?usp=sharing</a:t>
            </a:r>
          </a:p>
        </p:txBody>
      </p:sp>
    </p:spTree>
    <p:extLst>
      <p:ext uri="{BB962C8B-B14F-4D97-AF65-F5344CB8AC3E}">
        <p14:creationId xmlns:p14="http://schemas.microsoft.com/office/powerpoint/2010/main" val="3251515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Executive Summary of Marketing Plan Red Variant by Slidesgo">
  <a:themeElements>
    <a:clrScheme name="Simple Light">
      <a:dk1>
        <a:srgbClr val="962E44"/>
      </a:dk1>
      <a:lt1>
        <a:srgbClr val="FCFCFC"/>
      </a:lt1>
      <a:dk2>
        <a:srgbClr val="EEE8C6"/>
      </a:dk2>
      <a:lt2>
        <a:srgbClr val="C9B54C"/>
      </a:lt2>
      <a:accent1>
        <a:srgbClr val="7E2638"/>
      </a:accent1>
      <a:accent2>
        <a:srgbClr val="4D172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962E4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1624</Words>
  <Application>Microsoft Office PowerPoint</Application>
  <PresentationFormat>On-screen Show (16:9)</PresentationFormat>
  <Paragraphs>268</Paragraphs>
  <Slides>27</Slides>
  <Notes>25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Akatab</vt:lpstr>
      <vt:lpstr>quote-cjk-patch</vt:lpstr>
      <vt:lpstr>Noto Serif Ethiopic</vt:lpstr>
      <vt:lpstr>Arial</vt:lpstr>
      <vt:lpstr>Bebas Neue</vt:lpstr>
      <vt:lpstr>Comic Neue</vt:lpstr>
      <vt:lpstr>Executive Summary of Marketing Plan Red Variant by Slidesgo</vt:lpstr>
      <vt:lpstr>AuditionSense A Modular Multi-modal AI System for Human Performance Analysis</vt:lpstr>
      <vt:lpstr>INTRODUCTION</vt:lpstr>
      <vt:lpstr>Related Work</vt:lpstr>
      <vt:lpstr>Related Work</vt:lpstr>
      <vt:lpstr>PowerPoint Presentation</vt:lpstr>
      <vt:lpstr>Problem Statement</vt:lpstr>
      <vt:lpstr>01</vt:lpstr>
      <vt:lpstr>Problem Statement</vt:lpstr>
      <vt:lpstr>System Overview</vt:lpstr>
      <vt:lpstr>Key Components</vt:lpstr>
      <vt:lpstr>Approach</vt:lpstr>
      <vt:lpstr>Pipeline Stages</vt:lpstr>
      <vt:lpstr>Design Rationale - Architecture</vt:lpstr>
      <vt:lpstr>Dataset</vt:lpstr>
      <vt:lpstr>Dataset Sources</vt:lpstr>
      <vt:lpstr>PowerPoint Presentation</vt:lpstr>
      <vt:lpstr>Experiments/Results</vt:lpstr>
      <vt:lpstr>PowerPoint Presentation</vt:lpstr>
      <vt:lpstr>PowerPoint Presentation</vt:lpstr>
      <vt:lpstr>PowerPoint Presentation</vt:lpstr>
      <vt:lpstr>Contributions &amp; Achievements</vt:lpstr>
      <vt:lpstr>Contribution</vt:lpstr>
      <vt:lpstr>PowerPoint Presentation</vt:lpstr>
      <vt:lpstr>PowerPoint Presentation</vt:lpstr>
      <vt:lpstr>Conclusion &amp; Future Work</vt:lpstr>
      <vt:lpstr>PowerPoint Presentation</vt:lpstr>
      <vt:lpstr>Time to watch demo videos!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AuditionSense Final Milestone</dc:title>
  <cp:lastModifiedBy>Mira William</cp:lastModifiedBy>
  <cp:revision>41</cp:revision>
  <dcterms:modified xsi:type="dcterms:W3CDTF">2026-05-13T15:42:18Z</dcterms:modified>
</cp:coreProperties>
</file>