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mp4" ContentType="video/mp4"/>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27"/>
  </p:notesMasterIdLst>
  <p:sldIdLst>
    <p:sldId id="256" r:id="rId2"/>
    <p:sldId id="317" r:id="rId3"/>
    <p:sldId id="318" r:id="rId4"/>
    <p:sldId id="298" r:id="rId5"/>
    <p:sldId id="299" r:id="rId6"/>
    <p:sldId id="300" r:id="rId7"/>
    <p:sldId id="301" r:id="rId8"/>
    <p:sldId id="302" r:id="rId9"/>
    <p:sldId id="304" r:id="rId10"/>
    <p:sldId id="305" r:id="rId11"/>
    <p:sldId id="306" r:id="rId12"/>
    <p:sldId id="307" r:id="rId13"/>
    <p:sldId id="308" r:id="rId14"/>
    <p:sldId id="261" r:id="rId15"/>
    <p:sldId id="259" r:id="rId16"/>
    <p:sldId id="309" r:id="rId17"/>
    <p:sldId id="310" r:id="rId18"/>
    <p:sldId id="265" r:id="rId19"/>
    <p:sldId id="314" r:id="rId20"/>
    <p:sldId id="315" r:id="rId21"/>
    <p:sldId id="316" r:id="rId22"/>
    <p:sldId id="311" r:id="rId23"/>
    <p:sldId id="290" r:id="rId24"/>
    <p:sldId id="312" r:id="rId25"/>
    <p:sldId id="313" r:id="rId26"/>
  </p:sldIdLst>
  <p:sldSz cx="9144000" cy="5143500" type="screen16x9"/>
  <p:notesSz cx="6858000" cy="9144000"/>
  <p:embeddedFontLst>
    <p:embeddedFont>
      <p:font typeface="Montserrat Black" panose="020B0604020202020204" charset="0"/>
      <p:bold r:id="rId28"/>
      <p:italic r:id="rId29"/>
      <p:boldItalic r:id="rId30"/>
    </p:embeddedFont>
    <p:embeddedFont>
      <p:font typeface="Montserrat Medium" panose="020B0604020202020204" charset="0"/>
      <p:regular r:id="rId31"/>
      <p:bold r:id="rId32"/>
      <p:italic r:id="rId33"/>
      <p:boldItalic r:id="rId34"/>
    </p:embeddedFont>
    <p:embeddedFont>
      <p:font typeface="Quicksand Medium" panose="020B0604020202020204" charset="0"/>
      <p:regular r:id="rId35"/>
      <p:bold r:id="rId36"/>
    </p:embeddedFont>
    <p:embeddedFont>
      <p:font typeface="Quicksand" panose="020B0604020202020204" charset="0"/>
      <p:regular r:id="rId37"/>
      <p:bold r:id="rId38"/>
    </p:embeddedFont>
    <p:embeddedFont>
      <p:font typeface="Montserrat" panose="020B0604020202020204" charset="0"/>
      <p:regular r:id="rId39"/>
      <p:bold r:id="rId40"/>
      <p:italic r:id="rId41"/>
      <p:boldItalic r:id="rId42"/>
    </p:embeddedFont>
    <p:embeddedFont>
      <p:font typeface="Bebas Neue" panose="020B0604020202020204" charset="0"/>
      <p:regular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4A799AC-BB72-4878-BA20-D60459698B90}">
  <a:tblStyle styleId="{B4A799AC-BB72-4878-BA20-D60459698B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658"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1578fe0731a_1_2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1578fe0731a_1_2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8510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g1578fe0731a_1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1" name="Google Shape;1611;g1578fe0731a_1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3384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g1578fe0731a_1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1" name="Google Shape;1611;g1578fe0731a_1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1305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g1578fe0731a_1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1" name="Google Shape;1611;g1578fe0731a_1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4316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g1578fe0731a_1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1" name="Google Shape;1611;g1578fe0731a_1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81291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g1578fe0731a_1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1" name="Google Shape;1611;g1578fe0731a_1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4577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g1578fe0731a_1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1" name="Google Shape;1611;g1578fe0731a_1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20477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g1578fe0731a_1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1" name="Google Shape;1611;g1578fe0731a_1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94902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g1578fe0731a_1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1" name="Google Shape;1611;g1578fe0731a_1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7365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g1578fe0731a_1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1" name="Google Shape;1611;g1578fe0731a_1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2522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435532658d_0_453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435532658d_0_45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1435532658d_0_449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1435532658d_0_449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1578fe0731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1578fe0731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41432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435532658d_0_453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435532658d_0_45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468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1435532658d_0_460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1435532658d_0_460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435532658d_0_453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435532658d_0_45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34483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435532658d_0_453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435532658d_0_45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92250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1435532658d_0_50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2" name="Google Shape;1002;g1435532658d_0_50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1435532658d_0_50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2" name="Google Shape;1002;g1435532658d_0_50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12490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1435532658d_0_50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2" name="Google Shape;1002;g1435532658d_0_50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8421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15000"/>
            <a:ext cx="4572000" cy="5173500"/>
          </a:xfrm>
          <a:prstGeom prst="rect">
            <a:avLst/>
          </a:prstGeom>
          <a:solidFill>
            <a:srgbClr val="3838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219150" y="209550"/>
            <a:ext cx="8705700" cy="4724400"/>
          </a:xfrm>
          <a:prstGeom prst="rect">
            <a:avLst/>
          </a:prstGeom>
          <a:noFill/>
          <a:ln w="9525" cap="flat" cmpd="sng">
            <a:solidFill>
              <a:srgbClr val="CECB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715100" y="963000"/>
            <a:ext cx="3704400" cy="2816400"/>
          </a:xfrm>
          <a:prstGeom prst="rect">
            <a:avLst/>
          </a:prstGeom>
        </p:spPr>
        <p:txBody>
          <a:bodyPr spcFirstLastPara="1" wrap="square" lIns="91425" tIns="0" rIns="91425" bIns="0" anchor="b" anchorCtr="0">
            <a:noAutofit/>
          </a:bodyPr>
          <a:lstStyle>
            <a:lvl1pPr lvl="0" algn="r" rtl="0">
              <a:lnSpc>
                <a:spcPct val="70000"/>
              </a:lnSpc>
              <a:spcBef>
                <a:spcPts val="0"/>
              </a:spcBef>
              <a:spcAft>
                <a:spcPts val="0"/>
              </a:spcAft>
              <a:buSzPts val="5200"/>
              <a:buNone/>
              <a:defRPr sz="85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715700" y="3779400"/>
            <a:ext cx="3703200" cy="409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solidFill>
                  <a:schemeClr val="lt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p:nvPr/>
        </p:nvSpPr>
        <p:spPr>
          <a:xfrm>
            <a:off x="0" y="-30125"/>
            <a:ext cx="4572000" cy="51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3"/>
          <p:cNvSpPr/>
          <p:nvPr/>
        </p:nvSpPr>
        <p:spPr>
          <a:xfrm>
            <a:off x="219150" y="209550"/>
            <a:ext cx="8705700" cy="4724400"/>
          </a:xfrm>
          <a:prstGeom prst="rect">
            <a:avLst/>
          </a:prstGeom>
          <a:noFill/>
          <a:ln w="9525" cap="flat" cmpd="sng">
            <a:solidFill>
              <a:srgbClr val="CECB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txBox="1">
            <a:spLocks noGrp="1"/>
          </p:cNvSpPr>
          <p:nvPr>
            <p:ph type="title"/>
          </p:nvPr>
        </p:nvSpPr>
        <p:spPr>
          <a:xfrm>
            <a:off x="715100" y="1748375"/>
            <a:ext cx="3733200" cy="1664100"/>
          </a:xfrm>
          <a:prstGeom prst="rect">
            <a:avLst/>
          </a:prstGeom>
        </p:spPr>
        <p:txBody>
          <a:bodyPr spcFirstLastPara="1" wrap="square" lIns="91425" tIns="0" rIns="91425" bIns="0" anchor="ctr" anchorCtr="0">
            <a:noAutofit/>
          </a:bodyPr>
          <a:lstStyle>
            <a:lvl1pPr lvl="0" algn="r">
              <a:lnSpc>
                <a:spcPct val="70000"/>
              </a:lnSpc>
              <a:spcBef>
                <a:spcPts val="0"/>
              </a:spcBef>
              <a:spcAft>
                <a:spcPts val="0"/>
              </a:spcAft>
              <a:buSzPts val="7200"/>
              <a:buNone/>
              <a:defRPr sz="7200">
                <a:solidFill>
                  <a:schemeClr val="accent3"/>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4648200" y="1748375"/>
            <a:ext cx="2286000" cy="1664100"/>
          </a:xfrm>
          <a:prstGeom prst="rect">
            <a:avLst/>
          </a:prstGeom>
        </p:spPr>
        <p:txBody>
          <a:bodyPr spcFirstLastPara="1" wrap="square" lIns="91425" tIns="0" rIns="91425" bIns="0" anchor="ctr" anchorCtr="0">
            <a:noAutofit/>
          </a:bodyPr>
          <a:lstStyle>
            <a:lvl1pPr lvl="0" rtl="0">
              <a:lnSpc>
                <a:spcPct val="70000"/>
              </a:lnSpc>
              <a:spcBef>
                <a:spcPts val="0"/>
              </a:spcBef>
              <a:spcAft>
                <a:spcPts val="0"/>
              </a:spcAft>
              <a:buSzPts val="12000"/>
              <a:buNone/>
              <a:defRPr sz="12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219150" y="209550"/>
            <a:ext cx="8705700" cy="4724400"/>
          </a:xfrm>
          <a:prstGeom prst="rect">
            <a:avLst/>
          </a:prstGeom>
          <a:noFill/>
          <a:ln w="9525" cap="flat" cmpd="sng">
            <a:solidFill>
              <a:srgbClr val="CECB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720000" y="534499"/>
            <a:ext cx="7704000" cy="572700"/>
          </a:xfrm>
          <a:prstGeom prst="rect">
            <a:avLst/>
          </a:prstGeom>
        </p:spPr>
        <p:txBody>
          <a:bodyPr spcFirstLastPara="1" wrap="square" lIns="91425" tIns="0" rIns="91425" bIns="0" anchor="b" anchorCtr="0">
            <a:noAutofit/>
          </a:bodyPr>
          <a:lstStyle>
            <a:lvl1pPr lvl="0" algn="ctr"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 name="Google Shape;21;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rgbClr val="434343"/>
              </a:buClr>
              <a:buSzPts val="1400"/>
              <a:buChar char="●"/>
              <a:defRPr sz="1400">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p:nvPr/>
        </p:nvSpPr>
        <p:spPr>
          <a:xfrm>
            <a:off x="219150" y="209550"/>
            <a:ext cx="8705700" cy="4724400"/>
          </a:xfrm>
          <a:prstGeom prst="rect">
            <a:avLst/>
          </a:prstGeom>
          <a:noFill/>
          <a:ln w="9525" cap="flat" cmpd="sng">
            <a:solidFill>
              <a:srgbClr val="CECB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title"/>
          </p:nvPr>
        </p:nvSpPr>
        <p:spPr>
          <a:xfrm>
            <a:off x="720000" y="529692"/>
            <a:ext cx="7704000" cy="572700"/>
          </a:xfrm>
          <a:prstGeom prst="rect">
            <a:avLst/>
          </a:prstGeom>
        </p:spPr>
        <p:txBody>
          <a:bodyPr spcFirstLastPara="1" wrap="square" lIns="91425" tIns="0" rIns="91425" bIns="0" anchor="b" anchorCtr="0">
            <a:noAutofit/>
          </a:bodyPr>
          <a:lstStyle>
            <a:lvl1pPr lvl="0" algn="ctr"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p:nvPr/>
        </p:nvSpPr>
        <p:spPr>
          <a:xfrm>
            <a:off x="219150" y="209550"/>
            <a:ext cx="8705700" cy="4724400"/>
          </a:xfrm>
          <a:prstGeom prst="rect">
            <a:avLst/>
          </a:prstGeom>
          <a:noFill/>
          <a:ln w="9525" cap="flat" cmpd="sng">
            <a:solidFill>
              <a:srgbClr val="CECB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8"/>
          <p:cNvSpPr txBox="1">
            <a:spLocks noGrp="1"/>
          </p:cNvSpPr>
          <p:nvPr>
            <p:ph type="title"/>
          </p:nvPr>
        </p:nvSpPr>
        <p:spPr>
          <a:xfrm>
            <a:off x="1388100" y="1202325"/>
            <a:ext cx="6367800" cy="2624400"/>
          </a:xfrm>
          <a:prstGeom prst="rect">
            <a:avLst/>
          </a:prstGeom>
        </p:spPr>
        <p:txBody>
          <a:bodyPr spcFirstLastPara="1" wrap="square" lIns="91425" tIns="0" rIns="91425" bIns="0" anchor="ctr" anchorCtr="0">
            <a:noAutofit/>
          </a:bodyPr>
          <a:lstStyle>
            <a:lvl1pPr lvl="0" algn="ctr">
              <a:lnSpc>
                <a:spcPct val="70000"/>
              </a:lnSpc>
              <a:spcBef>
                <a:spcPts val="0"/>
              </a:spcBef>
              <a:spcAft>
                <a:spcPts val="0"/>
              </a:spcAft>
              <a:buSzPts val="6000"/>
              <a:buNone/>
              <a:defRPr sz="12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01"/>
        <p:cNvGrpSpPr/>
        <p:nvPr/>
      </p:nvGrpSpPr>
      <p:grpSpPr>
        <a:xfrm>
          <a:off x="0" y="0"/>
          <a:ext cx="0" cy="0"/>
          <a:chOff x="0" y="0"/>
          <a:chExt cx="0" cy="0"/>
        </a:xfrm>
      </p:grpSpPr>
      <p:sp>
        <p:nvSpPr>
          <p:cNvPr id="102" name="Google Shape;102;p20"/>
          <p:cNvSpPr/>
          <p:nvPr/>
        </p:nvSpPr>
        <p:spPr>
          <a:xfrm flipH="1">
            <a:off x="4572000" y="-30125"/>
            <a:ext cx="4572000" cy="517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0"/>
          <p:cNvSpPr/>
          <p:nvPr/>
        </p:nvSpPr>
        <p:spPr>
          <a:xfrm>
            <a:off x="219150" y="209550"/>
            <a:ext cx="8705700" cy="4724400"/>
          </a:xfrm>
          <a:prstGeom prst="rect">
            <a:avLst/>
          </a:prstGeom>
          <a:noFill/>
          <a:ln w="9525" cap="flat" cmpd="sng">
            <a:solidFill>
              <a:srgbClr val="CECB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0"/>
          <p:cNvSpPr txBox="1">
            <a:spLocks noGrp="1"/>
          </p:cNvSpPr>
          <p:nvPr>
            <p:ph type="subTitle" idx="1"/>
          </p:nvPr>
        </p:nvSpPr>
        <p:spPr>
          <a:xfrm>
            <a:off x="4765575" y="1657350"/>
            <a:ext cx="3657600" cy="182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solidFill>
                  <a:schemeClr val="lt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 name="Google Shape;105;p20"/>
          <p:cNvSpPr txBox="1">
            <a:spLocks noGrp="1"/>
          </p:cNvSpPr>
          <p:nvPr>
            <p:ph type="title"/>
          </p:nvPr>
        </p:nvSpPr>
        <p:spPr>
          <a:xfrm>
            <a:off x="715100" y="1657350"/>
            <a:ext cx="3657600" cy="1828800"/>
          </a:xfrm>
          <a:prstGeom prst="rect">
            <a:avLst/>
          </a:prstGeom>
        </p:spPr>
        <p:txBody>
          <a:bodyPr spcFirstLastPara="1" wrap="square" lIns="91425" tIns="0" rIns="91425" bIns="0" anchor="ctr" anchorCtr="0">
            <a:noAutofit/>
          </a:bodyPr>
          <a:lstStyle>
            <a:lvl1pPr lvl="0" algn="r" rtl="0">
              <a:lnSpc>
                <a:spcPct val="70000"/>
              </a:lnSpc>
              <a:spcBef>
                <a:spcPts val="0"/>
              </a:spcBef>
              <a:spcAft>
                <a:spcPts val="0"/>
              </a:spcAft>
              <a:buSzPts val="4800"/>
              <a:buNone/>
              <a:defRPr sz="7200">
                <a:solidFill>
                  <a:schemeClr val="accent3"/>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10"/>
        <p:cNvGrpSpPr/>
        <p:nvPr/>
      </p:nvGrpSpPr>
      <p:grpSpPr>
        <a:xfrm>
          <a:off x="0" y="0"/>
          <a:ext cx="0" cy="0"/>
          <a:chOff x="0" y="0"/>
          <a:chExt cx="0" cy="0"/>
        </a:xfrm>
      </p:grpSpPr>
      <p:sp>
        <p:nvSpPr>
          <p:cNvPr id="111" name="Google Shape;111;p22"/>
          <p:cNvSpPr/>
          <p:nvPr/>
        </p:nvSpPr>
        <p:spPr>
          <a:xfrm>
            <a:off x="219150" y="209550"/>
            <a:ext cx="8705700" cy="4724400"/>
          </a:xfrm>
          <a:prstGeom prst="rect">
            <a:avLst/>
          </a:prstGeom>
          <a:noFill/>
          <a:ln w="9525" cap="flat" cmpd="sng">
            <a:solidFill>
              <a:srgbClr val="CECB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2"/>
          <p:cNvSpPr txBox="1">
            <a:spLocks noGrp="1"/>
          </p:cNvSpPr>
          <p:nvPr>
            <p:ph type="subTitle" idx="1"/>
          </p:nvPr>
        </p:nvSpPr>
        <p:spPr>
          <a:xfrm>
            <a:off x="720000" y="2330475"/>
            <a:ext cx="2336400" cy="347400"/>
          </a:xfrm>
          <a:prstGeom prst="rect">
            <a:avLst/>
          </a:prstGeom>
          <a:solidFill>
            <a:schemeClr val="lt2"/>
          </a:solid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1pPr>
            <a:lvl2pPr lvl="1"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2pPr>
            <a:lvl3pPr lvl="2"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3pPr>
            <a:lvl4pPr lvl="3"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4pPr>
            <a:lvl5pPr lvl="4"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5pPr>
            <a:lvl6pPr lvl="5"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6pPr>
            <a:lvl7pPr lvl="6"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7pPr>
            <a:lvl8pPr lvl="7"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8pPr>
            <a:lvl9pPr lvl="8"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9pPr>
          </a:lstStyle>
          <a:p>
            <a:endParaRPr/>
          </a:p>
        </p:txBody>
      </p:sp>
      <p:sp>
        <p:nvSpPr>
          <p:cNvPr id="113" name="Google Shape;113;p22"/>
          <p:cNvSpPr txBox="1">
            <a:spLocks noGrp="1"/>
          </p:cNvSpPr>
          <p:nvPr>
            <p:ph type="subTitle" idx="2"/>
          </p:nvPr>
        </p:nvSpPr>
        <p:spPr>
          <a:xfrm>
            <a:off x="720000" y="2677863"/>
            <a:ext cx="2336400" cy="121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4" name="Google Shape;114;p22"/>
          <p:cNvSpPr txBox="1">
            <a:spLocks noGrp="1"/>
          </p:cNvSpPr>
          <p:nvPr>
            <p:ph type="subTitle" idx="3"/>
          </p:nvPr>
        </p:nvSpPr>
        <p:spPr>
          <a:xfrm>
            <a:off x="3403800" y="2677863"/>
            <a:ext cx="2336400" cy="121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5" name="Google Shape;115;p22"/>
          <p:cNvSpPr txBox="1">
            <a:spLocks noGrp="1"/>
          </p:cNvSpPr>
          <p:nvPr>
            <p:ph type="subTitle" idx="4"/>
          </p:nvPr>
        </p:nvSpPr>
        <p:spPr>
          <a:xfrm>
            <a:off x="6087600" y="2677863"/>
            <a:ext cx="2336400" cy="121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 name="Google Shape;116;p22"/>
          <p:cNvSpPr txBox="1">
            <a:spLocks noGrp="1"/>
          </p:cNvSpPr>
          <p:nvPr>
            <p:ph type="title"/>
          </p:nvPr>
        </p:nvSpPr>
        <p:spPr>
          <a:xfrm>
            <a:off x="720000" y="536747"/>
            <a:ext cx="7704000" cy="572700"/>
          </a:xfrm>
          <a:prstGeom prst="rect">
            <a:avLst/>
          </a:prstGeom>
        </p:spPr>
        <p:txBody>
          <a:bodyPr spcFirstLastPara="1" wrap="square" lIns="91425" tIns="0" rIns="91425" bIns="0" anchor="b" anchorCtr="0">
            <a:noAutofit/>
          </a:bodyPr>
          <a:lstStyle>
            <a:lvl1pPr lvl="0" algn="ctr" rtl="0">
              <a:spcBef>
                <a:spcPts val="0"/>
              </a:spcBef>
              <a:spcAft>
                <a:spcPts val="0"/>
              </a:spcAft>
              <a:buSzPts val="4800"/>
              <a:buNone/>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17" name="Google Shape;117;p22"/>
          <p:cNvSpPr txBox="1">
            <a:spLocks noGrp="1"/>
          </p:cNvSpPr>
          <p:nvPr>
            <p:ph type="subTitle" idx="5"/>
          </p:nvPr>
        </p:nvSpPr>
        <p:spPr>
          <a:xfrm>
            <a:off x="3403800" y="2330475"/>
            <a:ext cx="2336400" cy="347400"/>
          </a:xfrm>
          <a:prstGeom prst="rect">
            <a:avLst/>
          </a:prstGeom>
          <a:solidFill>
            <a:schemeClr val="lt2"/>
          </a:solid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1pPr>
            <a:lvl2pPr lvl="1"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2pPr>
            <a:lvl3pPr lvl="2"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3pPr>
            <a:lvl4pPr lvl="3"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4pPr>
            <a:lvl5pPr lvl="4"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5pPr>
            <a:lvl6pPr lvl="5"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6pPr>
            <a:lvl7pPr lvl="6"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7pPr>
            <a:lvl8pPr lvl="7"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8pPr>
            <a:lvl9pPr lvl="8"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9pPr>
          </a:lstStyle>
          <a:p>
            <a:endParaRPr/>
          </a:p>
        </p:txBody>
      </p:sp>
      <p:sp>
        <p:nvSpPr>
          <p:cNvPr id="118" name="Google Shape;118;p22"/>
          <p:cNvSpPr txBox="1">
            <a:spLocks noGrp="1"/>
          </p:cNvSpPr>
          <p:nvPr>
            <p:ph type="subTitle" idx="6"/>
          </p:nvPr>
        </p:nvSpPr>
        <p:spPr>
          <a:xfrm>
            <a:off x="6087600" y="2330475"/>
            <a:ext cx="2336400" cy="347400"/>
          </a:xfrm>
          <a:prstGeom prst="rect">
            <a:avLst/>
          </a:prstGeom>
          <a:solidFill>
            <a:schemeClr val="lt2"/>
          </a:solid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1pPr>
            <a:lvl2pPr lvl="1"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2pPr>
            <a:lvl3pPr lvl="2"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3pPr>
            <a:lvl4pPr lvl="3"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4pPr>
            <a:lvl5pPr lvl="4"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5pPr>
            <a:lvl6pPr lvl="5"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6pPr>
            <a:lvl7pPr lvl="6"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7pPr>
            <a:lvl8pPr lvl="7"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8pPr>
            <a:lvl9pPr lvl="8" algn="ctr" rtl="0">
              <a:lnSpc>
                <a:spcPct val="100000"/>
              </a:lnSpc>
              <a:spcBef>
                <a:spcPts val="0"/>
              </a:spcBef>
              <a:spcAft>
                <a:spcPts val="0"/>
              </a:spcAft>
              <a:buClr>
                <a:schemeClr val="accent6"/>
              </a:buClr>
              <a:buSzPts val="2400"/>
              <a:buFont typeface="Bebas Neue"/>
              <a:buNone/>
              <a:defRPr sz="2400">
                <a:solidFill>
                  <a:schemeClr val="accent6"/>
                </a:solidFill>
                <a:latin typeface="Bebas Neue"/>
                <a:ea typeface="Bebas Neue"/>
                <a:cs typeface="Bebas Neue"/>
                <a:sym typeface="Bebas Neu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58"/>
        <p:cNvGrpSpPr/>
        <p:nvPr/>
      </p:nvGrpSpPr>
      <p:grpSpPr>
        <a:xfrm>
          <a:off x="0" y="0"/>
          <a:ext cx="0" cy="0"/>
          <a:chOff x="0" y="0"/>
          <a:chExt cx="0" cy="0"/>
        </a:xfrm>
      </p:grpSpPr>
      <p:sp>
        <p:nvSpPr>
          <p:cNvPr id="159" name="Google Shape;159;p27"/>
          <p:cNvSpPr/>
          <p:nvPr/>
        </p:nvSpPr>
        <p:spPr>
          <a:xfrm>
            <a:off x="219150" y="209550"/>
            <a:ext cx="8705700" cy="4724400"/>
          </a:xfrm>
          <a:prstGeom prst="rect">
            <a:avLst/>
          </a:prstGeom>
          <a:noFill/>
          <a:ln w="9525" cap="flat" cmpd="sng">
            <a:solidFill>
              <a:srgbClr val="CECB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BLANK_1_1_1_1_1_1_1_1_1">
    <p:bg>
      <p:bgPr>
        <a:solidFill>
          <a:schemeClr val="dk1"/>
        </a:solidFill>
        <a:effectLst/>
      </p:bgPr>
    </p:bg>
    <p:spTree>
      <p:nvGrpSpPr>
        <p:cNvPr id="1" name="Shape 160"/>
        <p:cNvGrpSpPr/>
        <p:nvPr/>
      </p:nvGrpSpPr>
      <p:grpSpPr>
        <a:xfrm>
          <a:off x="0" y="0"/>
          <a:ext cx="0" cy="0"/>
          <a:chOff x="0" y="0"/>
          <a:chExt cx="0" cy="0"/>
        </a:xfrm>
      </p:grpSpPr>
      <p:sp>
        <p:nvSpPr>
          <p:cNvPr id="161" name="Google Shape;161;p28"/>
          <p:cNvSpPr/>
          <p:nvPr/>
        </p:nvSpPr>
        <p:spPr>
          <a:xfrm>
            <a:off x="219150" y="209550"/>
            <a:ext cx="8705700" cy="4724400"/>
          </a:xfrm>
          <a:prstGeom prst="rect">
            <a:avLst/>
          </a:prstGeom>
          <a:noFill/>
          <a:ln w="9525" cap="flat" cmpd="sng">
            <a:solidFill>
              <a:srgbClr val="CECB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1_Table of contents">
    <p:spTree>
      <p:nvGrpSpPr>
        <p:cNvPr id="1" name="Shape 88"/>
        <p:cNvGrpSpPr/>
        <p:nvPr/>
      </p:nvGrpSpPr>
      <p:grpSpPr>
        <a:xfrm>
          <a:off x="0" y="0"/>
          <a:ext cx="0" cy="0"/>
          <a:chOff x="0" y="0"/>
          <a:chExt cx="0" cy="0"/>
        </a:xfrm>
      </p:grpSpPr>
      <p:sp>
        <p:nvSpPr>
          <p:cNvPr id="89" name="Google Shape;89;p13"/>
          <p:cNvSpPr/>
          <p:nvPr/>
        </p:nvSpPr>
        <p:spPr>
          <a:xfrm rot="10800000" flipH="1">
            <a:off x="9"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3"/>
          <p:cNvSpPr/>
          <p:nvPr/>
        </p:nvSpPr>
        <p:spPr>
          <a:xfrm flipH="1">
            <a:off x="5445834"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3"/>
          <p:cNvSpPr txBox="1">
            <a:spLocks noGrp="1"/>
          </p:cNvSpPr>
          <p:nvPr>
            <p:ph type="title"/>
          </p:nvPr>
        </p:nvSpPr>
        <p:spPr>
          <a:xfrm>
            <a:off x="1529700" y="1172200"/>
            <a:ext cx="450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2" name="Google Shape;92;p13"/>
          <p:cNvSpPr txBox="1">
            <a:spLocks noGrp="1"/>
          </p:cNvSpPr>
          <p:nvPr>
            <p:ph type="title" idx="2" hasCustomPrompt="1"/>
          </p:nvPr>
        </p:nvSpPr>
        <p:spPr>
          <a:xfrm>
            <a:off x="720000" y="1172200"/>
            <a:ext cx="809700" cy="55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5"/>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93" name="Google Shape;93;p13"/>
          <p:cNvSpPr txBox="1">
            <a:spLocks noGrp="1"/>
          </p:cNvSpPr>
          <p:nvPr>
            <p:ph type="subTitle" idx="1"/>
          </p:nvPr>
        </p:nvSpPr>
        <p:spPr>
          <a:xfrm>
            <a:off x="1529700" y="1573900"/>
            <a:ext cx="4500000" cy="40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94" name="Google Shape;94;p13"/>
          <p:cNvSpPr txBox="1">
            <a:spLocks noGrp="1"/>
          </p:cNvSpPr>
          <p:nvPr>
            <p:ph type="title" idx="3"/>
          </p:nvPr>
        </p:nvSpPr>
        <p:spPr>
          <a:xfrm>
            <a:off x="2328900" y="2023100"/>
            <a:ext cx="450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5" name="Google Shape;95;p13"/>
          <p:cNvSpPr txBox="1">
            <a:spLocks noGrp="1"/>
          </p:cNvSpPr>
          <p:nvPr>
            <p:ph type="title" idx="4" hasCustomPrompt="1"/>
          </p:nvPr>
        </p:nvSpPr>
        <p:spPr>
          <a:xfrm>
            <a:off x="1519200" y="2023100"/>
            <a:ext cx="809700" cy="55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5"/>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96" name="Google Shape;96;p13"/>
          <p:cNvSpPr txBox="1">
            <a:spLocks noGrp="1"/>
          </p:cNvSpPr>
          <p:nvPr>
            <p:ph type="subTitle" idx="5"/>
          </p:nvPr>
        </p:nvSpPr>
        <p:spPr>
          <a:xfrm>
            <a:off x="2328900" y="2424800"/>
            <a:ext cx="4500000" cy="40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97" name="Google Shape;97;p13"/>
          <p:cNvSpPr txBox="1">
            <a:spLocks noGrp="1"/>
          </p:cNvSpPr>
          <p:nvPr>
            <p:ph type="title" idx="6"/>
          </p:nvPr>
        </p:nvSpPr>
        <p:spPr>
          <a:xfrm>
            <a:off x="3124500" y="2875750"/>
            <a:ext cx="450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8" name="Google Shape;98;p13"/>
          <p:cNvSpPr txBox="1">
            <a:spLocks noGrp="1"/>
          </p:cNvSpPr>
          <p:nvPr>
            <p:ph type="title" idx="7" hasCustomPrompt="1"/>
          </p:nvPr>
        </p:nvSpPr>
        <p:spPr>
          <a:xfrm>
            <a:off x="2314800" y="2875750"/>
            <a:ext cx="809700" cy="55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5"/>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99" name="Google Shape;99;p13"/>
          <p:cNvSpPr txBox="1">
            <a:spLocks noGrp="1"/>
          </p:cNvSpPr>
          <p:nvPr>
            <p:ph type="subTitle" idx="8"/>
          </p:nvPr>
        </p:nvSpPr>
        <p:spPr>
          <a:xfrm>
            <a:off x="3124500" y="3277450"/>
            <a:ext cx="4500000" cy="40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00" name="Google Shape;100;p13"/>
          <p:cNvSpPr txBox="1">
            <a:spLocks noGrp="1"/>
          </p:cNvSpPr>
          <p:nvPr>
            <p:ph type="title" idx="9"/>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1" name="Google Shape;101;p13"/>
          <p:cNvSpPr txBox="1">
            <a:spLocks noGrp="1"/>
          </p:cNvSpPr>
          <p:nvPr>
            <p:ph type="title" idx="13"/>
          </p:nvPr>
        </p:nvSpPr>
        <p:spPr>
          <a:xfrm>
            <a:off x="3923700" y="3725400"/>
            <a:ext cx="450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2" name="Google Shape;102;p13"/>
          <p:cNvSpPr txBox="1">
            <a:spLocks noGrp="1"/>
          </p:cNvSpPr>
          <p:nvPr>
            <p:ph type="title" idx="14" hasCustomPrompt="1"/>
          </p:nvPr>
        </p:nvSpPr>
        <p:spPr>
          <a:xfrm>
            <a:off x="3114000" y="3725400"/>
            <a:ext cx="809700" cy="55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5"/>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03" name="Google Shape;103;p13"/>
          <p:cNvSpPr txBox="1">
            <a:spLocks noGrp="1"/>
          </p:cNvSpPr>
          <p:nvPr>
            <p:ph type="subTitle" idx="15"/>
          </p:nvPr>
        </p:nvSpPr>
        <p:spPr>
          <a:xfrm>
            <a:off x="3923700" y="4127100"/>
            <a:ext cx="4500000" cy="40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Tree>
    <p:extLst>
      <p:ext uri="{BB962C8B-B14F-4D97-AF65-F5344CB8AC3E}">
        <p14:creationId xmlns:p14="http://schemas.microsoft.com/office/powerpoint/2010/main" val="19921551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20"/>
        <p:cNvGrpSpPr/>
        <p:nvPr/>
      </p:nvGrpSpPr>
      <p:grpSpPr>
        <a:xfrm>
          <a:off x="0" y="0"/>
          <a:ext cx="0" cy="0"/>
          <a:chOff x="0" y="0"/>
          <a:chExt cx="0" cy="0"/>
        </a:xfrm>
      </p:grpSpPr>
      <p:sp>
        <p:nvSpPr>
          <p:cNvPr id="121" name="Google Shape;121;p17"/>
          <p:cNvSpPr/>
          <p:nvPr/>
        </p:nvSpPr>
        <p:spPr>
          <a:xfrm rot="10800000">
            <a:off x="5445825"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7"/>
          <p:cNvSpPr/>
          <p:nvPr/>
        </p:nvSpPr>
        <p:spPr>
          <a:xfrm>
            <a:off x="0"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txBox="1">
            <a:spLocks noGrp="1"/>
          </p:cNvSpPr>
          <p:nvPr>
            <p:ph type="title"/>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4" name="Google Shape;124;p17"/>
          <p:cNvSpPr/>
          <p:nvPr/>
        </p:nvSpPr>
        <p:spPr>
          <a:xfrm rot="5400000">
            <a:off x="6683100" y="3051700"/>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7"/>
          <p:cNvSpPr/>
          <p:nvPr/>
        </p:nvSpPr>
        <p:spPr>
          <a:xfrm rot="-5400000">
            <a:off x="1641575" y="-1282437"/>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0048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0" rIns="91425" bIns="0" anchor="b" anchorCtr="0">
            <a:noAutofit/>
          </a:bodyPr>
          <a:lstStyle>
            <a:lvl1pPr lvl="0" rtl="0">
              <a:spcBef>
                <a:spcPts val="0"/>
              </a:spcBef>
              <a:spcAft>
                <a:spcPts val="0"/>
              </a:spcAft>
              <a:buClr>
                <a:schemeClr val="accent5"/>
              </a:buClr>
              <a:buSzPts val="4800"/>
              <a:buFont typeface="Bebas Neue"/>
              <a:buNone/>
              <a:defRPr sz="4800">
                <a:solidFill>
                  <a:schemeClr val="accent5"/>
                </a:solidFill>
                <a:latin typeface="Bebas Neue"/>
                <a:ea typeface="Bebas Neue"/>
                <a:cs typeface="Bebas Neue"/>
                <a:sym typeface="Bebas Neue"/>
              </a:defRPr>
            </a:lvl1pPr>
            <a:lvl2pPr lvl="1" rtl="0">
              <a:spcBef>
                <a:spcPts val="0"/>
              </a:spcBef>
              <a:spcAft>
                <a:spcPts val="0"/>
              </a:spcAft>
              <a:buClr>
                <a:schemeClr val="accent5"/>
              </a:buClr>
              <a:buSzPts val="3500"/>
              <a:buFont typeface="Bebas Neue"/>
              <a:buNone/>
              <a:defRPr sz="3500">
                <a:solidFill>
                  <a:schemeClr val="accent5"/>
                </a:solidFill>
                <a:latin typeface="Bebas Neue"/>
                <a:ea typeface="Bebas Neue"/>
                <a:cs typeface="Bebas Neue"/>
                <a:sym typeface="Bebas Neue"/>
              </a:defRPr>
            </a:lvl2pPr>
            <a:lvl3pPr lvl="2" rtl="0">
              <a:spcBef>
                <a:spcPts val="0"/>
              </a:spcBef>
              <a:spcAft>
                <a:spcPts val="0"/>
              </a:spcAft>
              <a:buClr>
                <a:schemeClr val="accent5"/>
              </a:buClr>
              <a:buSzPts val="3500"/>
              <a:buFont typeface="Bebas Neue"/>
              <a:buNone/>
              <a:defRPr sz="3500">
                <a:solidFill>
                  <a:schemeClr val="accent5"/>
                </a:solidFill>
                <a:latin typeface="Bebas Neue"/>
                <a:ea typeface="Bebas Neue"/>
                <a:cs typeface="Bebas Neue"/>
                <a:sym typeface="Bebas Neue"/>
              </a:defRPr>
            </a:lvl3pPr>
            <a:lvl4pPr lvl="3" rtl="0">
              <a:spcBef>
                <a:spcPts val="0"/>
              </a:spcBef>
              <a:spcAft>
                <a:spcPts val="0"/>
              </a:spcAft>
              <a:buClr>
                <a:schemeClr val="accent5"/>
              </a:buClr>
              <a:buSzPts val="3500"/>
              <a:buFont typeface="Bebas Neue"/>
              <a:buNone/>
              <a:defRPr sz="3500">
                <a:solidFill>
                  <a:schemeClr val="accent5"/>
                </a:solidFill>
                <a:latin typeface="Bebas Neue"/>
                <a:ea typeface="Bebas Neue"/>
                <a:cs typeface="Bebas Neue"/>
                <a:sym typeface="Bebas Neue"/>
              </a:defRPr>
            </a:lvl4pPr>
            <a:lvl5pPr lvl="4" rtl="0">
              <a:spcBef>
                <a:spcPts val="0"/>
              </a:spcBef>
              <a:spcAft>
                <a:spcPts val="0"/>
              </a:spcAft>
              <a:buClr>
                <a:schemeClr val="accent5"/>
              </a:buClr>
              <a:buSzPts val="3500"/>
              <a:buFont typeface="Bebas Neue"/>
              <a:buNone/>
              <a:defRPr sz="3500">
                <a:solidFill>
                  <a:schemeClr val="accent5"/>
                </a:solidFill>
                <a:latin typeface="Bebas Neue"/>
                <a:ea typeface="Bebas Neue"/>
                <a:cs typeface="Bebas Neue"/>
                <a:sym typeface="Bebas Neue"/>
              </a:defRPr>
            </a:lvl5pPr>
            <a:lvl6pPr lvl="5" rtl="0">
              <a:spcBef>
                <a:spcPts val="0"/>
              </a:spcBef>
              <a:spcAft>
                <a:spcPts val="0"/>
              </a:spcAft>
              <a:buClr>
                <a:schemeClr val="accent5"/>
              </a:buClr>
              <a:buSzPts val="3500"/>
              <a:buFont typeface="Bebas Neue"/>
              <a:buNone/>
              <a:defRPr sz="3500">
                <a:solidFill>
                  <a:schemeClr val="accent5"/>
                </a:solidFill>
                <a:latin typeface="Bebas Neue"/>
                <a:ea typeface="Bebas Neue"/>
                <a:cs typeface="Bebas Neue"/>
                <a:sym typeface="Bebas Neue"/>
              </a:defRPr>
            </a:lvl6pPr>
            <a:lvl7pPr lvl="6" rtl="0">
              <a:spcBef>
                <a:spcPts val="0"/>
              </a:spcBef>
              <a:spcAft>
                <a:spcPts val="0"/>
              </a:spcAft>
              <a:buClr>
                <a:schemeClr val="accent5"/>
              </a:buClr>
              <a:buSzPts val="3500"/>
              <a:buFont typeface="Bebas Neue"/>
              <a:buNone/>
              <a:defRPr sz="3500">
                <a:solidFill>
                  <a:schemeClr val="accent5"/>
                </a:solidFill>
                <a:latin typeface="Bebas Neue"/>
                <a:ea typeface="Bebas Neue"/>
                <a:cs typeface="Bebas Neue"/>
                <a:sym typeface="Bebas Neue"/>
              </a:defRPr>
            </a:lvl7pPr>
            <a:lvl8pPr lvl="7" rtl="0">
              <a:spcBef>
                <a:spcPts val="0"/>
              </a:spcBef>
              <a:spcAft>
                <a:spcPts val="0"/>
              </a:spcAft>
              <a:buClr>
                <a:schemeClr val="accent5"/>
              </a:buClr>
              <a:buSzPts val="3500"/>
              <a:buFont typeface="Bebas Neue"/>
              <a:buNone/>
              <a:defRPr sz="3500">
                <a:solidFill>
                  <a:schemeClr val="accent5"/>
                </a:solidFill>
                <a:latin typeface="Bebas Neue"/>
                <a:ea typeface="Bebas Neue"/>
                <a:cs typeface="Bebas Neue"/>
                <a:sym typeface="Bebas Neue"/>
              </a:defRPr>
            </a:lvl8pPr>
            <a:lvl9pPr lvl="8" rtl="0">
              <a:spcBef>
                <a:spcPts val="0"/>
              </a:spcBef>
              <a:spcAft>
                <a:spcPts val="0"/>
              </a:spcAft>
              <a:buClr>
                <a:schemeClr val="accent5"/>
              </a:buClr>
              <a:buSzPts val="3500"/>
              <a:buFont typeface="Bebas Neue"/>
              <a:buNone/>
              <a:defRPr sz="3500">
                <a:solidFill>
                  <a:schemeClr val="accent5"/>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2"/>
              </a:buClr>
              <a:buSzPts val="1400"/>
              <a:buFont typeface="Quicksand Medium"/>
              <a:buChar char="●"/>
              <a:defRPr>
                <a:solidFill>
                  <a:schemeClr val="dk2"/>
                </a:solidFill>
                <a:latin typeface="Quicksand Medium"/>
                <a:ea typeface="Quicksand Medium"/>
                <a:cs typeface="Quicksand Medium"/>
                <a:sym typeface="Quicksand Medium"/>
              </a:defRPr>
            </a:lvl1pPr>
            <a:lvl2pPr marL="914400" lvl="1" indent="-317500" rtl="0">
              <a:lnSpc>
                <a:spcPct val="100000"/>
              </a:lnSpc>
              <a:spcBef>
                <a:spcPts val="1600"/>
              </a:spcBef>
              <a:spcAft>
                <a:spcPts val="0"/>
              </a:spcAft>
              <a:buClr>
                <a:schemeClr val="dk2"/>
              </a:buClr>
              <a:buSzPts val="1400"/>
              <a:buFont typeface="Quicksand Medium"/>
              <a:buChar char="○"/>
              <a:defRPr>
                <a:solidFill>
                  <a:schemeClr val="dk2"/>
                </a:solidFill>
                <a:latin typeface="Quicksand Medium"/>
                <a:ea typeface="Quicksand Medium"/>
                <a:cs typeface="Quicksand Medium"/>
                <a:sym typeface="Quicksand Medium"/>
              </a:defRPr>
            </a:lvl2pPr>
            <a:lvl3pPr marL="1371600" lvl="2" indent="-317500" rtl="0">
              <a:lnSpc>
                <a:spcPct val="100000"/>
              </a:lnSpc>
              <a:spcBef>
                <a:spcPts val="1600"/>
              </a:spcBef>
              <a:spcAft>
                <a:spcPts val="0"/>
              </a:spcAft>
              <a:buClr>
                <a:schemeClr val="dk2"/>
              </a:buClr>
              <a:buSzPts val="1400"/>
              <a:buFont typeface="Quicksand Medium"/>
              <a:buChar char="■"/>
              <a:defRPr>
                <a:solidFill>
                  <a:schemeClr val="dk2"/>
                </a:solidFill>
                <a:latin typeface="Quicksand Medium"/>
                <a:ea typeface="Quicksand Medium"/>
                <a:cs typeface="Quicksand Medium"/>
                <a:sym typeface="Quicksand Medium"/>
              </a:defRPr>
            </a:lvl3pPr>
            <a:lvl4pPr marL="1828800" lvl="3" indent="-317500" rtl="0">
              <a:lnSpc>
                <a:spcPct val="100000"/>
              </a:lnSpc>
              <a:spcBef>
                <a:spcPts val="1600"/>
              </a:spcBef>
              <a:spcAft>
                <a:spcPts val="0"/>
              </a:spcAft>
              <a:buClr>
                <a:schemeClr val="dk2"/>
              </a:buClr>
              <a:buSzPts val="1400"/>
              <a:buFont typeface="Quicksand Medium"/>
              <a:buChar char="●"/>
              <a:defRPr>
                <a:solidFill>
                  <a:schemeClr val="dk2"/>
                </a:solidFill>
                <a:latin typeface="Quicksand Medium"/>
                <a:ea typeface="Quicksand Medium"/>
                <a:cs typeface="Quicksand Medium"/>
                <a:sym typeface="Quicksand Medium"/>
              </a:defRPr>
            </a:lvl4pPr>
            <a:lvl5pPr marL="2286000" lvl="4" indent="-317500" rtl="0">
              <a:lnSpc>
                <a:spcPct val="100000"/>
              </a:lnSpc>
              <a:spcBef>
                <a:spcPts val="1600"/>
              </a:spcBef>
              <a:spcAft>
                <a:spcPts val="0"/>
              </a:spcAft>
              <a:buClr>
                <a:schemeClr val="dk2"/>
              </a:buClr>
              <a:buSzPts val="1400"/>
              <a:buFont typeface="Quicksand Medium"/>
              <a:buChar char="○"/>
              <a:defRPr>
                <a:solidFill>
                  <a:schemeClr val="dk2"/>
                </a:solidFill>
                <a:latin typeface="Quicksand Medium"/>
                <a:ea typeface="Quicksand Medium"/>
                <a:cs typeface="Quicksand Medium"/>
                <a:sym typeface="Quicksand Medium"/>
              </a:defRPr>
            </a:lvl5pPr>
            <a:lvl6pPr marL="2743200" lvl="5" indent="-317500" rtl="0">
              <a:lnSpc>
                <a:spcPct val="100000"/>
              </a:lnSpc>
              <a:spcBef>
                <a:spcPts val="1600"/>
              </a:spcBef>
              <a:spcAft>
                <a:spcPts val="0"/>
              </a:spcAft>
              <a:buClr>
                <a:schemeClr val="dk2"/>
              </a:buClr>
              <a:buSzPts val="1400"/>
              <a:buFont typeface="Quicksand Medium"/>
              <a:buChar char="■"/>
              <a:defRPr>
                <a:solidFill>
                  <a:schemeClr val="dk2"/>
                </a:solidFill>
                <a:latin typeface="Quicksand Medium"/>
                <a:ea typeface="Quicksand Medium"/>
                <a:cs typeface="Quicksand Medium"/>
                <a:sym typeface="Quicksand Medium"/>
              </a:defRPr>
            </a:lvl6pPr>
            <a:lvl7pPr marL="3200400" lvl="6" indent="-317500" rtl="0">
              <a:lnSpc>
                <a:spcPct val="100000"/>
              </a:lnSpc>
              <a:spcBef>
                <a:spcPts val="1600"/>
              </a:spcBef>
              <a:spcAft>
                <a:spcPts val="0"/>
              </a:spcAft>
              <a:buClr>
                <a:schemeClr val="dk2"/>
              </a:buClr>
              <a:buSzPts val="1400"/>
              <a:buFont typeface="Quicksand Medium"/>
              <a:buChar char="●"/>
              <a:defRPr>
                <a:solidFill>
                  <a:schemeClr val="dk2"/>
                </a:solidFill>
                <a:latin typeface="Quicksand Medium"/>
                <a:ea typeface="Quicksand Medium"/>
                <a:cs typeface="Quicksand Medium"/>
                <a:sym typeface="Quicksand Medium"/>
              </a:defRPr>
            </a:lvl7pPr>
            <a:lvl8pPr marL="3657600" lvl="7" indent="-317500" rtl="0">
              <a:lnSpc>
                <a:spcPct val="100000"/>
              </a:lnSpc>
              <a:spcBef>
                <a:spcPts val="1600"/>
              </a:spcBef>
              <a:spcAft>
                <a:spcPts val="0"/>
              </a:spcAft>
              <a:buClr>
                <a:schemeClr val="dk2"/>
              </a:buClr>
              <a:buSzPts val="1400"/>
              <a:buFont typeface="Quicksand Medium"/>
              <a:buChar char="○"/>
              <a:defRPr>
                <a:solidFill>
                  <a:schemeClr val="dk2"/>
                </a:solidFill>
                <a:latin typeface="Quicksand Medium"/>
                <a:ea typeface="Quicksand Medium"/>
                <a:cs typeface="Quicksand Medium"/>
                <a:sym typeface="Quicksand Medium"/>
              </a:defRPr>
            </a:lvl8pPr>
            <a:lvl9pPr marL="4114800" lvl="8" indent="-317500" rtl="0">
              <a:lnSpc>
                <a:spcPct val="100000"/>
              </a:lnSpc>
              <a:spcBef>
                <a:spcPts val="1600"/>
              </a:spcBef>
              <a:spcAft>
                <a:spcPts val="1600"/>
              </a:spcAft>
              <a:buClr>
                <a:schemeClr val="dk2"/>
              </a:buClr>
              <a:buSzPts val="1400"/>
              <a:buFont typeface="Quicksand Medium"/>
              <a:buChar char="■"/>
              <a:defRPr>
                <a:solidFill>
                  <a:schemeClr val="dk2"/>
                </a:solidFill>
                <a:latin typeface="Quicksand Medium"/>
                <a:ea typeface="Quicksand Medium"/>
                <a:cs typeface="Quicksand Medium"/>
                <a:sym typeface="Quicksand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4" r:id="rId5"/>
    <p:sldLayoutId id="2147483658" r:id="rId6"/>
    <p:sldLayoutId id="2147483666" r:id="rId7"/>
    <p:sldLayoutId id="2147483668" r:id="rId8"/>
    <p:sldLayoutId id="2147483673" r:id="rId9"/>
    <p:sldLayoutId id="2147483674" r:id="rId10"/>
    <p:sldLayoutId id="2147483678" r:id="rId11"/>
    <p:sldLayoutId id="214748367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71"/>
        <p:cNvGrpSpPr/>
        <p:nvPr/>
      </p:nvGrpSpPr>
      <p:grpSpPr>
        <a:xfrm>
          <a:off x="0" y="0"/>
          <a:ext cx="0" cy="0"/>
          <a:chOff x="0" y="0"/>
          <a:chExt cx="0" cy="0"/>
        </a:xfrm>
      </p:grpSpPr>
      <p:sp>
        <p:nvSpPr>
          <p:cNvPr id="172" name="Google Shape;172;p32"/>
          <p:cNvSpPr/>
          <p:nvPr/>
        </p:nvSpPr>
        <p:spPr>
          <a:xfrm>
            <a:off x="942975" y="3076575"/>
            <a:ext cx="3475800" cy="647700"/>
          </a:xfrm>
          <a:prstGeom prst="rect">
            <a:avLst/>
          </a:prstGeom>
          <a:solidFill>
            <a:srgbClr val="4C4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2"/>
          <p:cNvSpPr txBox="1">
            <a:spLocks noGrp="1"/>
          </p:cNvSpPr>
          <p:nvPr>
            <p:ph type="ctrTitle"/>
          </p:nvPr>
        </p:nvSpPr>
        <p:spPr>
          <a:xfrm>
            <a:off x="715100" y="963000"/>
            <a:ext cx="3704400" cy="2816400"/>
          </a:xfrm>
          <a:prstGeom prst="rect">
            <a:avLst/>
          </a:prstGeom>
        </p:spPr>
        <p:txBody>
          <a:bodyPr spcFirstLastPara="1" wrap="square" lIns="91425" tIns="0" rIns="91425" bIns="0" anchor="b" anchorCtr="0">
            <a:noAutofit/>
          </a:bodyPr>
          <a:lstStyle/>
          <a:p>
            <a:pPr lvl="0"/>
            <a:r>
              <a:rPr lang="en-US" sz="7200" dirty="0">
                <a:solidFill>
                  <a:schemeClr val="accent3"/>
                </a:solidFill>
              </a:rPr>
              <a:t>Testing &amp;</a:t>
            </a:r>
            <a:br>
              <a:rPr lang="en-US" sz="7200" dirty="0">
                <a:solidFill>
                  <a:schemeClr val="accent3"/>
                </a:solidFill>
              </a:rPr>
            </a:br>
            <a:r>
              <a:rPr lang="en-US" sz="7200" dirty="0">
                <a:solidFill>
                  <a:schemeClr val="accent3"/>
                </a:solidFill>
              </a:rPr>
              <a:t>Evaluation</a:t>
            </a:r>
            <a:endParaRPr sz="7200" dirty="0" smtClean="0">
              <a:solidFill>
                <a:schemeClr val="accent3"/>
              </a:solidFill>
            </a:endParaRPr>
          </a:p>
        </p:txBody>
      </p:sp>
      <p:sp>
        <p:nvSpPr>
          <p:cNvPr id="174" name="Google Shape;174;p32"/>
          <p:cNvSpPr txBox="1">
            <a:spLocks noGrp="1"/>
          </p:cNvSpPr>
          <p:nvPr>
            <p:ph type="subTitle" idx="1"/>
          </p:nvPr>
        </p:nvSpPr>
        <p:spPr>
          <a:xfrm>
            <a:off x="715700" y="3779400"/>
            <a:ext cx="3703200" cy="1044060"/>
          </a:xfrm>
          <a:prstGeom prst="rect">
            <a:avLst/>
          </a:prstGeom>
        </p:spPr>
        <p:txBody>
          <a:bodyPr spcFirstLastPara="1" wrap="square" lIns="91425" tIns="91425" rIns="91425" bIns="91425" anchor="t" anchorCtr="0">
            <a:noAutofit/>
          </a:bodyPr>
          <a:lstStyle/>
          <a:p>
            <a:pPr marL="0" lvl="0" indent="0"/>
            <a:r>
              <a:rPr lang="en-US" dirty="0"/>
              <a:t>Milestone 5 done by:</a:t>
            </a:r>
            <a:br>
              <a:rPr lang="en-US" dirty="0"/>
            </a:br>
            <a:r>
              <a:rPr lang="en-US" dirty="0"/>
              <a:t>Mehraeel Philip, </a:t>
            </a:r>
            <a:r>
              <a:rPr lang="en-US" dirty="0" err="1"/>
              <a:t>Fatema</a:t>
            </a:r>
            <a:r>
              <a:rPr lang="en-US" dirty="0"/>
              <a:t> </a:t>
            </a:r>
            <a:r>
              <a:rPr lang="en-US" dirty="0" err="1"/>
              <a:t>Milad</a:t>
            </a:r>
            <a:r>
              <a:rPr lang="en-US" dirty="0"/>
              <a:t>, Sama </a:t>
            </a:r>
            <a:r>
              <a:rPr lang="en-US" dirty="0" err="1"/>
              <a:t>Gehad</a:t>
            </a:r>
            <a:r>
              <a:rPr lang="en-US" dirty="0"/>
              <a:t>, Marwan Ahmed, </a:t>
            </a:r>
            <a:endParaRPr lang="en-US" dirty="0" smtClean="0"/>
          </a:p>
          <a:p>
            <a:pPr marL="0" lvl="0" indent="0"/>
            <a:r>
              <a:rPr lang="en-US" dirty="0" smtClean="0"/>
              <a:t>Mo’men </a:t>
            </a:r>
            <a:r>
              <a:rPr lang="en-US" dirty="0" err="1"/>
              <a:t>Mohie</a:t>
            </a:r>
            <a:r>
              <a:rPr lang="en-US" dirty="0"/>
              <a:t> &amp; Jana </a:t>
            </a:r>
            <a:r>
              <a:rPr lang="en-US" dirty="0" err="1"/>
              <a:t>Mahdy</a:t>
            </a:r>
            <a:endParaRPr dirty="0"/>
          </a:p>
        </p:txBody>
      </p:sp>
      <p:pic>
        <p:nvPicPr>
          <p:cNvPr id="1028" name="Picture 4" descr="176,214 Movie Directors Royalty-Free Images, Stock Photos ..."/>
          <p:cNvPicPr>
            <a:picLocks noChangeAspect="1" noChangeArrowheads="1"/>
          </p:cNvPicPr>
          <p:nvPr/>
        </p:nvPicPr>
        <p:blipFill rotWithShape="1">
          <a:blip r:embed="rId3">
            <a:extLst>
              <a:ext uri="{28A0092B-C50C-407E-A947-70E740481C1C}">
                <a14:useLocalDpi xmlns:a14="http://schemas.microsoft.com/office/drawing/2010/main" val="0"/>
              </a:ext>
            </a:extLst>
          </a:blip>
          <a:srcRect b="8024"/>
          <a:stretch/>
        </p:blipFill>
        <p:spPr bwMode="auto">
          <a:xfrm>
            <a:off x="4986655" y="1848425"/>
            <a:ext cx="3714750" cy="245300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16D1B-0AAA-8D3B-111D-F5C50EFFA327}"/>
              </a:ext>
            </a:extLst>
          </p:cNvPr>
          <p:cNvSpPr>
            <a:spLocks noGrp="1"/>
          </p:cNvSpPr>
          <p:nvPr>
            <p:ph type="title"/>
          </p:nvPr>
        </p:nvSpPr>
        <p:spPr>
          <a:xfrm>
            <a:off x="284572" y="534499"/>
            <a:ext cx="7704000" cy="572700"/>
          </a:xfrm>
        </p:spPr>
        <p:txBody>
          <a:bodyPr/>
          <a:lstStyle/>
          <a:p>
            <a:r>
              <a:rPr lang="en-US" dirty="0"/>
              <a:t>Acting Evaluation System Overview</a:t>
            </a:r>
            <a:endParaRPr lang="en-EG" dirty="0"/>
          </a:p>
        </p:txBody>
      </p:sp>
      <p:sp>
        <p:nvSpPr>
          <p:cNvPr id="3" name="Text Placeholder 2">
            <a:extLst>
              <a:ext uri="{FF2B5EF4-FFF2-40B4-BE49-F238E27FC236}">
                <a16:creationId xmlns:a16="http://schemas.microsoft.com/office/drawing/2014/main" id="{9BDBD0A0-1B3B-343B-16A6-E250E110C68D}"/>
              </a:ext>
            </a:extLst>
          </p:cNvPr>
          <p:cNvSpPr>
            <a:spLocks noGrp="1"/>
          </p:cNvSpPr>
          <p:nvPr>
            <p:ph type="body" idx="1"/>
          </p:nvPr>
        </p:nvSpPr>
        <p:spPr>
          <a:xfrm>
            <a:off x="284572" y="1192601"/>
            <a:ext cx="7008857" cy="3416400"/>
          </a:xfrm>
        </p:spPr>
        <p:txBody>
          <a:bodyPr/>
          <a:lstStyle/>
          <a:p>
            <a:r>
              <a:rPr lang="en-US" dirty="0"/>
              <a:t>Our system is an AI-based platform designed to automatically evaluate acting performances in a structured and objective way.</a:t>
            </a:r>
          </a:p>
          <a:p>
            <a:r>
              <a:rPr lang="en-US" dirty="0"/>
              <a:t>It takes a video of an actor as input and analyzes multiple performance aspects, including facial expressions, eye movement, voice activity, and body gestures. These features are extracted from each frame and processed using machine learning models.</a:t>
            </a:r>
          </a:p>
          <a:p>
            <a:r>
              <a:rPr lang="en-US" dirty="0"/>
              <a:t>The system then generates a detailed performance report that includes:</a:t>
            </a:r>
          </a:p>
          <a:p>
            <a:r>
              <a:rPr lang="en-US" dirty="0"/>
              <a:t>Emotion classification (e.g., happy, sad, neutral)</a:t>
            </a:r>
          </a:p>
          <a:p>
            <a:r>
              <a:rPr lang="en-US" dirty="0"/>
              <a:t>Gesture and movement analysis</a:t>
            </a:r>
          </a:p>
          <a:p>
            <a:r>
              <a:rPr lang="en-US" dirty="0"/>
              <a:t>Eye tracking and engagement scoring</a:t>
            </a:r>
          </a:p>
          <a:p>
            <a:r>
              <a:rPr lang="en-US" dirty="0"/>
              <a:t>Overall performance evaluation (Good, Moderate, Bad)</a:t>
            </a:r>
          </a:p>
          <a:p>
            <a:r>
              <a:rPr lang="en-US" dirty="0"/>
              <a:t>The goal of this system is to assist directors and evaluators by reducing human bias and providing consistent, data-driven feedback.</a:t>
            </a:r>
          </a:p>
          <a:p>
            <a:endParaRPr lang="en-EG" dirty="0"/>
          </a:p>
        </p:txBody>
      </p:sp>
      <p:pic>
        <p:nvPicPr>
          <p:cNvPr id="7" name="Backhand2_Bad.mp4">
            <a:hlinkClick r:id="" action="ppaction://media"/>
            <a:extLst>
              <a:ext uri="{FF2B5EF4-FFF2-40B4-BE49-F238E27FC236}">
                <a16:creationId xmlns:a16="http://schemas.microsoft.com/office/drawing/2014/main" id="{51F28A0F-257C-C4B0-F138-C85E0286471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033830" y="1192601"/>
            <a:ext cx="1825598" cy="3330998"/>
          </a:xfrm>
          <a:prstGeom prst="rect">
            <a:avLst/>
          </a:prstGeom>
          <a:ln>
            <a:noFill/>
          </a:ln>
          <a:effectLst>
            <a:softEdge rad="112500"/>
          </a:effectLst>
        </p:spPr>
      </p:pic>
    </p:spTree>
    <p:extLst>
      <p:ext uri="{BB962C8B-B14F-4D97-AF65-F5344CB8AC3E}">
        <p14:creationId xmlns:p14="http://schemas.microsoft.com/office/powerpoint/2010/main" val="122671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EB0F1-DA2F-1F4D-D1B1-CDD25356E860}"/>
              </a:ext>
            </a:extLst>
          </p:cNvPr>
          <p:cNvSpPr>
            <a:spLocks noGrp="1"/>
          </p:cNvSpPr>
          <p:nvPr>
            <p:ph type="title"/>
          </p:nvPr>
        </p:nvSpPr>
        <p:spPr>
          <a:xfrm>
            <a:off x="720000" y="231306"/>
            <a:ext cx="7704000" cy="572700"/>
          </a:xfrm>
        </p:spPr>
        <p:txBody>
          <a:bodyPr/>
          <a:lstStyle/>
          <a:p>
            <a:r>
              <a:rPr lang="en-US" sz="4000" dirty="0"/>
              <a:t>Challenges Addressed by the System</a:t>
            </a:r>
            <a:endParaRPr lang="en-EG" sz="4000" dirty="0"/>
          </a:p>
        </p:txBody>
      </p:sp>
      <p:sp>
        <p:nvSpPr>
          <p:cNvPr id="6" name="Rectangle 3">
            <a:extLst>
              <a:ext uri="{FF2B5EF4-FFF2-40B4-BE49-F238E27FC236}">
                <a16:creationId xmlns:a16="http://schemas.microsoft.com/office/drawing/2014/main" id="{C06FE748-E904-73CE-B52F-6DD057C9A6EE}"/>
              </a:ext>
            </a:extLst>
          </p:cNvPr>
          <p:cNvSpPr>
            <a:spLocks noGrp="1" noChangeArrowheads="1"/>
          </p:cNvSpPr>
          <p:nvPr>
            <p:ph type="body" idx="1"/>
          </p:nvPr>
        </p:nvSpPr>
        <p:spPr bwMode="auto">
          <a:xfrm>
            <a:off x="238387" y="740525"/>
            <a:ext cx="8667226" cy="1954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285750" indent="-285750">
              <a:lnSpc>
                <a:spcPct val="100000"/>
              </a:lnSpc>
              <a:buClrTx/>
              <a:buSzTx/>
            </a:pPr>
            <a:r>
              <a:rPr kumimoji="0" lang="en-EG" altLang="en-EG" sz="1100" b="0" i="0" u="none" strike="noStrike" cap="none" normalizeH="0" baseline="0" dirty="0">
                <a:ln>
                  <a:noFill/>
                </a:ln>
                <a:solidFill>
                  <a:srgbClr val="000000"/>
                </a:solidFill>
                <a:effectLst/>
              </a:rPr>
              <a:t>Traditional acting evaluation relies heavily on human judgment, which introduces several challenges</a:t>
            </a:r>
            <a:r>
              <a:rPr kumimoji="0" lang="en-EG" altLang="en-EG" sz="1100" b="0" i="0" u="none" strike="noStrike" cap="none" normalizeH="0" baseline="0" dirty="0" smtClean="0">
                <a:ln>
                  <a:noFill/>
                </a:ln>
                <a:solidFill>
                  <a:srgbClr val="000000"/>
                </a:solidFill>
                <a:effectLst/>
              </a:rPr>
              <a:t>.</a:t>
            </a:r>
            <a:endParaRPr kumimoji="0" lang="en-EG" altLang="en-EG" sz="1100" b="0" i="0" u="none" strike="noStrike" cap="none" normalizeH="0" baseline="0" dirty="0" smtClean="0">
              <a:ln>
                <a:noFill/>
              </a:ln>
              <a:solidFill>
                <a:schemeClr val="tx1"/>
              </a:solidFill>
              <a:effectLst/>
            </a:endParaRPr>
          </a:p>
          <a:p>
            <a:pPr marL="285750" indent="-285750">
              <a:lnSpc>
                <a:spcPct val="100000"/>
              </a:lnSpc>
              <a:buClrTx/>
              <a:buSzTx/>
            </a:pPr>
            <a:r>
              <a:rPr kumimoji="0" lang="en-EG" altLang="en-EG" sz="1100" b="0" i="0" u="none" strike="noStrike" cap="none" normalizeH="0" baseline="0" dirty="0" smtClean="0">
                <a:ln>
                  <a:noFill/>
                </a:ln>
                <a:solidFill>
                  <a:srgbClr val="000000"/>
                </a:solidFill>
                <a:effectLst/>
              </a:rPr>
              <a:t>First</a:t>
            </a:r>
            <a:r>
              <a:rPr kumimoji="0" lang="en-EG" altLang="en-EG" sz="1100" b="0" i="0" u="none" strike="noStrike" cap="none" normalizeH="0" baseline="0" dirty="0">
                <a:ln>
                  <a:noFill/>
                </a:ln>
                <a:solidFill>
                  <a:srgbClr val="000000"/>
                </a:solidFill>
                <a:effectLst/>
              </a:rPr>
              <a:t>, evaluations are often subjective and depend on the evaluator’s mood, experience, and attention level, leading to inconsistent results</a:t>
            </a:r>
            <a:r>
              <a:rPr kumimoji="0" lang="en-EG" altLang="en-EG" sz="1100" b="0" i="0" u="none" strike="noStrike" cap="none" normalizeH="0" baseline="0" dirty="0" smtClean="0">
                <a:ln>
                  <a:noFill/>
                </a:ln>
                <a:solidFill>
                  <a:srgbClr val="000000"/>
                </a:solidFill>
                <a:effectLst/>
              </a:rPr>
              <a:t>.</a:t>
            </a:r>
            <a:endParaRPr kumimoji="0" lang="en-EG" altLang="en-EG" sz="1100" b="0" i="0" u="none" strike="noStrike" cap="none" normalizeH="0" baseline="0" dirty="0" smtClean="0">
              <a:ln>
                <a:noFill/>
              </a:ln>
              <a:solidFill>
                <a:schemeClr val="tx1"/>
              </a:solidFill>
              <a:effectLst/>
            </a:endParaRPr>
          </a:p>
          <a:p>
            <a:pPr marL="285750" indent="-285750">
              <a:lnSpc>
                <a:spcPct val="100000"/>
              </a:lnSpc>
              <a:buClrTx/>
              <a:buSzTx/>
            </a:pPr>
            <a:r>
              <a:rPr kumimoji="0" lang="en-EG" altLang="en-EG" sz="1100" b="0" i="0" u="none" strike="noStrike" cap="none" normalizeH="0" baseline="0" dirty="0" smtClean="0">
                <a:ln>
                  <a:noFill/>
                </a:ln>
                <a:solidFill>
                  <a:srgbClr val="000000"/>
                </a:solidFill>
                <a:effectLst/>
              </a:rPr>
              <a:t>Second</a:t>
            </a:r>
            <a:r>
              <a:rPr kumimoji="0" lang="en-EG" altLang="en-EG" sz="1100" b="0" i="0" u="none" strike="noStrike" cap="none" normalizeH="0" baseline="0" dirty="0">
                <a:ln>
                  <a:noFill/>
                </a:ln>
                <a:solidFill>
                  <a:srgbClr val="000000"/>
                </a:solidFill>
                <a:effectLst/>
              </a:rPr>
              <a:t>, directors must assess multiple performance aspects simultaneously, such as emotions, gestures, and voice, which is difficult to do accurately in real time</a:t>
            </a:r>
            <a:r>
              <a:rPr kumimoji="0" lang="en-EG" altLang="en-EG" sz="1100" b="0" i="0" u="none" strike="noStrike" cap="none" normalizeH="0" baseline="0" dirty="0" smtClean="0">
                <a:ln>
                  <a:noFill/>
                </a:ln>
                <a:solidFill>
                  <a:srgbClr val="000000"/>
                </a:solidFill>
                <a:effectLst/>
              </a:rPr>
              <a:t>.</a:t>
            </a:r>
            <a:endParaRPr kumimoji="0" lang="en-EG" altLang="en-EG" sz="1100" b="0" i="0" u="none" strike="noStrike" cap="none" normalizeH="0" baseline="0" dirty="0" smtClean="0">
              <a:ln>
                <a:noFill/>
              </a:ln>
              <a:solidFill>
                <a:schemeClr val="tx1"/>
              </a:solidFill>
              <a:effectLst/>
            </a:endParaRPr>
          </a:p>
          <a:p>
            <a:pPr marL="285750" indent="-285750">
              <a:lnSpc>
                <a:spcPct val="100000"/>
              </a:lnSpc>
              <a:buClrTx/>
              <a:buSzTx/>
            </a:pPr>
            <a:r>
              <a:rPr kumimoji="0" lang="en-EG" altLang="en-EG" sz="1100" b="0" i="0" u="none" strike="noStrike" cap="none" normalizeH="0" baseline="0" dirty="0" smtClean="0">
                <a:ln>
                  <a:noFill/>
                </a:ln>
                <a:solidFill>
                  <a:srgbClr val="000000"/>
                </a:solidFill>
                <a:effectLst/>
              </a:rPr>
              <a:t>Third</a:t>
            </a:r>
            <a:r>
              <a:rPr kumimoji="0" lang="en-EG" altLang="en-EG" sz="1100" b="0" i="0" u="none" strike="noStrike" cap="none" normalizeH="0" baseline="0" dirty="0">
                <a:ln>
                  <a:noFill/>
                </a:ln>
                <a:solidFill>
                  <a:srgbClr val="000000"/>
                </a:solidFill>
                <a:effectLst/>
              </a:rPr>
              <a:t>, handling a large number of audition candidates becomes time-consuming and inefficient, especially in professional casting environments</a:t>
            </a:r>
            <a:r>
              <a:rPr kumimoji="0" lang="en-EG" altLang="en-EG" sz="1100" b="0" i="0" u="none" strike="noStrike" cap="none" normalizeH="0" baseline="0" dirty="0" smtClean="0">
                <a:ln>
                  <a:noFill/>
                </a:ln>
                <a:solidFill>
                  <a:srgbClr val="000000"/>
                </a:solidFill>
                <a:effectLst/>
              </a:rPr>
              <a:t>.</a:t>
            </a:r>
            <a:endParaRPr kumimoji="0" lang="en-EG" altLang="en-EG" sz="1100" b="0" i="0" u="none" strike="noStrike" cap="none" normalizeH="0" baseline="0" dirty="0" smtClean="0">
              <a:ln>
                <a:noFill/>
              </a:ln>
              <a:solidFill>
                <a:schemeClr val="tx1"/>
              </a:solidFill>
              <a:effectLst/>
            </a:endParaRPr>
          </a:p>
          <a:p>
            <a:pPr marL="285750" indent="-285750">
              <a:lnSpc>
                <a:spcPct val="100000"/>
              </a:lnSpc>
              <a:buClrTx/>
              <a:buSzTx/>
            </a:pPr>
            <a:r>
              <a:rPr kumimoji="0" lang="en-EG" altLang="en-EG" sz="1100" b="0" i="0" u="none" strike="noStrike" cap="none" normalizeH="0" baseline="0" dirty="0" smtClean="0">
                <a:ln>
                  <a:noFill/>
                </a:ln>
                <a:solidFill>
                  <a:srgbClr val="000000"/>
                </a:solidFill>
                <a:effectLst/>
              </a:rPr>
              <a:t>Finally</a:t>
            </a:r>
            <a:r>
              <a:rPr kumimoji="0" lang="en-EG" altLang="en-EG" sz="1100" b="0" i="0" u="none" strike="noStrike" cap="none" normalizeH="0" baseline="0" dirty="0">
                <a:ln>
                  <a:noFill/>
                </a:ln>
                <a:solidFill>
                  <a:srgbClr val="000000"/>
                </a:solidFill>
                <a:effectLst/>
              </a:rPr>
              <a:t>, analyzing continuous video data and identifying meaningful actions requires advanced processing techniques, such as action segmentation and classification</a:t>
            </a:r>
            <a:r>
              <a:rPr kumimoji="0" lang="en-EG" altLang="en-EG" sz="1100" b="0" i="0" u="none" strike="noStrike" cap="none" normalizeH="0" baseline="0" dirty="0" smtClean="0">
                <a:ln>
                  <a:noFill/>
                </a:ln>
                <a:solidFill>
                  <a:srgbClr val="000000"/>
                </a:solidFill>
                <a:effectLst/>
              </a:rPr>
              <a:t>.</a:t>
            </a:r>
            <a:endParaRPr kumimoji="0" lang="en-EG" altLang="en-EG" sz="1100" b="0" i="0" u="none" strike="noStrike" cap="none" normalizeH="0" baseline="0" dirty="0" smtClean="0">
              <a:ln>
                <a:noFill/>
              </a:ln>
              <a:solidFill>
                <a:schemeClr val="tx1"/>
              </a:solidFill>
              <a:effectLst/>
            </a:endParaRPr>
          </a:p>
          <a:p>
            <a:pPr marL="285750" indent="-285750">
              <a:lnSpc>
                <a:spcPct val="100000"/>
              </a:lnSpc>
              <a:buClrTx/>
              <a:buSzTx/>
            </a:pPr>
            <a:r>
              <a:rPr kumimoji="0" lang="en-US" altLang="en-EG" sz="1100" b="0" i="0" u="none" strike="noStrike" cap="none" normalizeH="0" baseline="0" dirty="0" smtClean="0">
                <a:ln>
                  <a:noFill/>
                </a:ln>
                <a:solidFill>
                  <a:srgbClr val="000000"/>
                </a:solidFill>
                <a:effectLst/>
              </a:rPr>
              <a:t>A</a:t>
            </a:r>
            <a:r>
              <a:rPr kumimoji="0" lang="en-EG" altLang="en-EG" sz="1100" b="0" i="0" u="none" strike="noStrike" cap="none" normalizeH="0" baseline="0" dirty="0" smtClean="0">
                <a:ln>
                  <a:noFill/>
                </a:ln>
                <a:solidFill>
                  <a:srgbClr val="000000"/>
                </a:solidFill>
                <a:effectLst/>
              </a:rPr>
              <a:t>ddress</a:t>
            </a:r>
            <a:r>
              <a:rPr lang="en-US" altLang="en-EG" sz="1100" dirty="0" err="1" smtClean="0">
                <a:solidFill>
                  <a:srgbClr val="000000"/>
                </a:solidFill>
              </a:rPr>
              <a:t>ing</a:t>
            </a:r>
            <a:r>
              <a:rPr kumimoji="0" lang="en-EG" altLang="en-EG" sz="1100" b="0" i="0" u="none" strike="noStrike" cap="none" normalizeH="0" baseline="0" dirty="0" smtClean="0">
                <a:ln>
                  <a:noFill/>
                </a:ln>
                <a:solidFill>
                  <a:srgbClr val="000000"/>
                </a:solidFill>
                <a:effectLst/>
              </a:rPr>
              <a:t> </a:t>
            </a:r>
            <a:r>
              <a:rPr kumimoji="0" lang="en-EG" altLang="en-EG" sz="1100" b="0" i="0" u="none" strike="noStrike" cap="none" normalizeH="0" baseline="0" dirty="0">
                <a:ln>
                  <a:noFill/>
                </a:ln>
                <a:solidFill>
                  <a:srgbClr val="000000"/>
                </a:solidFill>
                <a:effectLst/>
              </a:rPr>
              <a:t>these challenges by automating the evaluation process, analyzing multiple modalities simultaneously, and providing standardized and reliable performance assessments.</a:t>
            </a:r>
            <a:endParaRPr kumimoji="0" lang="en-EG" altLang="en-EG" sz="1100" b="0" i="0" u="none" strike="noStrike" cap="none" normalizeH="0" baseline="0" dirty="0">
              <a:ln>
                <a:noFill/>
              </a:ln>
              <a:solidFill>
                <a:schemeClr val="tx1"/>
              </a:solidFill>
              <a:effectLst/>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4941" y="2694906"/>
            <a:ext cx="4894118" cy="21008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19633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47" name="Google Shape;347;p36"/>
          <p:cNvSpPr txBox="1">
            <a:spLocks noGrp="1"/>
          </p:cNvSpPr>
          <p:nvPr>
            <p:ph type="title" idx="4294967295"/>
          </p:nvPr>
        </p:nvSpPr>
        <p:spPr>
          <a:xfrm>
            <a:off x="720000" y="352713"/>
            <a:ext cx="7702550" cy="676275"/>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dirty="0" smtClean="0"/>
              <a:t>TESTING STRATEGY</a:t>
            </a:r>
            <a:endParaRPr dirty="0"/>
          </a:p>
        </p:txBody>
      </p:sp>
      <p:pic>
        <p:nvPicPr>
          <p:cNvPr id="16" name="Picture 15"/>
          <p:cNvPicPr>
            <a:picLocks noChangeAspect="1"/>
          </p:cNvPicPr>
          <p:nvPr/>
        </p:nvPicPr>
        <p:blipFill>
          <a:blip r:embed="rId3"/>
          <a:stretch>
            <a:fillRect/>
          </a:stretch>
        </p:blipFill>
        <p:spPr>
          <a:xfrm>
            <a:off x="953397" y="1311672"/>
            <a:ext cx="8096190" cy="3365284"/>
          </a:xfrm>
          <a:prstGeom prst="rect">
            <a:avLst/>
          </a:prstGeom>
        </p:spPr>
      </p:pic>
    </p:spTree>
    <p:extLst>
      <p:ext uri="{BB962C8B-B14F-4D97-AF65-F5344CB8AC3E}">
        <p14:creationId xmlns:p14="http://schemas.microsoft.com/office/powerpoint/2010/main" val="23175471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12"/>
        <p:cNvGrpSpPr/>
        <p:nvPr/>
      </p:nvGrpSpPr>
      <p:grpSpPr>
        <a:xfrm>
          <a:off x="0" y="0"/>
          <a:ext cx="0" cy="0"/>
          <a:chOff x="0" y="0"/>
          <a:chExt cx="0" cy="0"/>
        </a:xfrm>
      </p:grpSpPr>
      <p:sp>
        <p:nvSpPr>
          <p:cNvPr id="1613" name="Google Shape;1613;p57"/>
          <p:cNvSpPr txBox="1">
            <a:spLocks noGrp="1"/>
          </p:cNvSpPr>
          <p:nvPr>
            <p:ph type="title"/>
          </p:nvPr>
        </p:nvSpPr>
        <p:spPr>
          <a:xfrm>
            <a:off x="1746135" y="228600"/>
            <a:ext cx="5558400" cy="836928"/>
          </a:xfrm>
          <a:prstGeom prst="rect">
            <a:avLst/>
          </a:prstGeom>
        </p:spPr>
        <p:txBody>
          <a:bodyPr spcFirstLastPara="1" wrap="square" lIns="90000" tIns="91425" rIns="90000" bIns="91425" anchor="ctr" anchorCtr="0">
            <a:noAutofit/>
          </a:bodyPr>
          <a:lstStyle/>
          <a:p>
            <a:pPr marL="0" lvl="0" indent="0" algn="ctr" rtl="0">
              <a:spcBef>
                <a:spcPts val="0"/>
              </a:spcBef>
              <a:spcAft>
                <a:spcPts val="0"/>
              </a:spcAft>
              <a:buNone/>
            </a:pPr>
            <a:r>
              <a:rPr lang="en" sz="3600" dirty="0" smtClean="0"/>
              <a:t>A. Functional Cases</a:t>
            </a:r>
            <a:endParaRPr sz="3600" dirty="0"/>
          </a:p>
        </p:txBody>
      </p:sp>
      <p:graphicFrame>
        <p:nvGraphicFramePr>
          <p:cNvPr id="89" name="Google Shape;698;p43"/>
          <p:cNvGraphicFramePr/>
          <p:nvPr>
            <p:extLst>
              <p:ext uri="{D42A27DB-BD31-4B8C-83A1-F6EECF244321}">
                <p14:modId xmlns:p14="http://schemas.microsoft.com/office/powerpoint/2010/main" val="2018431195"/>
              </p:ext>
            </p:extLst>
          </p:nvPr>
        </p:nvGraphicFramePr>
        <p:xfrm>
          <a:off x="719999" y="1249859"/>
          <a:ext cx="7678784" cy="3363971"/>
        </p:xfrm>
        <a:graphic>
          <a:graphicData uri="http://schemas.openxmlformats.org/drawingml/2006/table">
            <a:tbl>
              <a:tblPr>
                <a:noFill/>
              </a:tblPr>
              <a:tblGrid>
                <a:gridCol w="1919696">
                  <a:extLst>
                    <a:ext uri="{9D8B030D-6E8A-4147-A177-3AD203B41FA5}">
                      <a16:colId xmlns:a16="http://schemas.microsoft.com/office/drawing/2014/main" val="20000"/>
                    </a:ext>
                  </a:extLst>
                </a:gridCol>
                <a:gridCol w="1919696">
                  <a:extLst>
                    <a:ext uri="{9D8B030D-6E8A-4147-A177-3AD203B41FA5}">
                      <a16:colId xmlns:a16="http://schemas.microsoft.com/office/drawing/2014/main" val="1186318376"/>
                    </a:ext>
                  </a:extLst>
                </a:gridCol>
                <a:gridCol w="1919696">
                  <a:extLst>
                    <a:ext uri="{9D8B030D-6E8A-4147-A177-3AD203B41FA5}">
                      <a16:colId xmlns:a16="http://schemas.microsoft.com/office/drawing/2014/main" val="3204050409"/>
                    </a:ext>
                  </a:extLst>
                </a:gridCol>
                <a:gridCol w="1919696">
                  <a:extLst>
                    <a:ext uri="{9D8B030D-6E8A-4147-A177-3AD203B41FA5}">
                      <a16:colId xmlns:a16="http://schemas.microsoft.com/office/drawing/2014/main" val="3049769508"/>
                    </a:ext>
                  </a:extLst>
                </a:gridCol>
              </a:tblGrid>
              <a:tr h="567777">
                <a:tc gridSpan="4">
                  <a:txBody>
                    <a:bodyPr/>
                    <a:lstStyle/>
                    <a:p>
                      <a:pPr marL="0" lvl="0" indent="0" algn="ctr" rtl="0">
                        <a:spcBef>
                          <a:spcPts val="0"/>
                        </a:spcBef>
                        <a:spcAft>
                          <a:spcPts val="0"/>
                        </a:spcAft>
                        <a:buNone/>
                      </a:pPr>
                      <a:r>
                        <a:rPr lang="en" sz="2400" b="1" dirty="0" smtClean="0">
                          <a:solidFill>
                            <a:schemeClr val="tx1"/>
                          </a:solidFill>
                          <a:latin typeface="Montserrat Black"/>
                          <a:ea typeface="Montserrat Black"/>
                          <a:cs typeface="Montserrat Black"/>
                          <a:sym typeface="Montserrat Black"/>
                        </a:rPr>
                        <a:t>A1. Video Input</a:t>
                      </a:r>
                      <a:endParaRPr sz="24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30877">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ID</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CASE</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STEPS</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EXPECTED</a:t>
                      </a:r>
                      <a:r>
                        <a:rPr lang="en" b="1" baseline="0" dirty="0" smtClean="0">
                          <a:solidFill>
                            <a:schemeClr val="tx1"/>
                          </a:solidFill>
                          <a:latin typeface="Montserrat Medium"/>
                          <a:ea typeface="Montserrat Medium"/>
                          <a:cs typeface="Montserrat Medium"/>
                          <a:sym typeface="Montserrat Medium"/>
                        </a:rPr>
                        <a:t> RESULT</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19487">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TC-01</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sz="1200" b="1" dirty="0" smtClean="0">
                          <a:solidFill>
                            <a:schemeClr val="tx1"/>
                          </a:solidFill>
                          <a:latin typeface="Montserrat Medium"/>
                          <a:ea typeface="Montserrat Medium"/>
                          <a:cs typeface="Montserrat Medium"/>
                          <a:sym typeface="Montserrat Medium"/>
                        </a:rPr>
                        <a:t>File upload</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Choose</a:t>
                      </a:r>
                      <a:r>
                        <a:rPr lang="en-US" sz="1200" b="1" baseline="0" dirty="0" smtClean="0">
                          <a:solidFill>
                            <a:schemeClr val="tx1"/>
                          </a:solidFill>
                          <a:latin typeface="Montserrat Medium"/>
                          <a:ea typeface="Montserrat Medium"/>
                          <a:cs typeface="Montserrat Medium"/>
                          <a:sym typeface="Montserrat Medium"/>
                        </a:rPr>
                        <a:t> file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Accepts</a:t>
                      </a:r>
                      <a:r>
                        <a:rPr lang="en-US" sz="1200" b="1" baseline="0" dirty="0" smtClean="0">
                          <a:solidFill>
                            <a:schemeClr val="tx1"/>
                          </a:solidFill>
                          <a:latin typeface="Montserrat Medium"/>
                          <a:ea typeface="Montserrat Medium"/>
                          <a:cs typeface="Montserrat Medium"/>
                          <a:sym typeface="Montserrat Medium"/>
                        </a:rPr>
                        <a:t> browsing</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19487">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TC-02</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Frame Capture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Run system</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Frames processed continuously</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80788">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TC-03</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sz="1200" b="1" dirty="0" smtClean="0">
                          <a:solidFill>
                            <a:schemeClr val="tx1"/>
                          </a:solidFill>
                          <a:latin typeface="Montserrat Medium"/>
                          <a:ea typeface="Montserrat Medium"/>
                          <a:cs typeface="Montserrat Medium"/>
                          <a:sym typeface="Montserrat Medium"/>
                        </a:rPr>
                        <a:t>Invalid </a:t>
                      </a:r>
                      <a:r>
                        <a:rPr lang="en-US" sz="1200" b="1" dirty="0" smtClean="0">
                          <a:solidFill>
                            <a:schemeClr val="tx1"/>
                          </a:solidFill>
                          <a:latin typeface="Montserrat Medium"/>
                          <a:ea typeface="Montserrat Medium"/>
                          <a:cs typeface="Montserrat Medium"/>
                          <a:sym typeface="Montserrat Medium"/>
                        </a:rPr>
                        <a:t>file type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Wrong fie input</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Error handled gracefully</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80788">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TC-04</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sz="1200" b="1" dirty="0" smtClean="0">
                          <a:solidFill>
                            <a:schemeClr val="tx1"/>
                          </a:solidFill>
                          <a:latin typeface="Montserrat Medium"/>
                          <a:ea typeface="Montserrat Medium"/>
                          <a:cs typeface="Montserrat Medium"/>
                          <a:sym typeface="Montserrat Medium"/>
                        </a:rPr>
                        <a:t>File ready to be processed</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Start</a:t>
                      </a:r>
                      <a:r>
                        <a:rPr lang="en-US" sz="1200" b="1" baseline="0" dirty="0" smtClean="0">
                          <a:solidFill>
                            <a:schemeClr val="tx1"/>
                          </a:solidFill>
                          <a:latin typeface="Montserrat Medium"/>
                          <a:ea typeface="Montserrat Medium"/>
                          <a:cs typeface="Montserrat Medium"/>
                          <a:sym typeface="Montserrat Medium"/>
                        </a:rPr>
                        <a:t> analysis</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Load report</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34654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2"/>
        <p:cNvGrpSpPr/>
        <p:nvPr/>
      </p:nvGrpSpPr>
      <p:grpSpPr>
        <a:xfrm>
          <a:off x="0" y="0"/>
          <a:ext cx="0" cy="0"/>
          <a:chOff x="0" y="0"/>
          <a:chExt cx="0" cy="0"/>
        </a:xfrm>
      </p:grpSpPr>
      <p:sp>
        <p:nvSpPr>
          <p:cNvPr id="1613" name="Google Shape;1613;p57"/>
          <p:cNvSpPr txBox="1">
            <a:spLocks noGrp="1"/>
          </p:cNvSpPr>
          <p:nvPr>
            <p:ph type="title"/>
          </p:nvPr>
        </p:nvSpPr>
        <p:spPr>
          <a:xfrm>
            <a:off x="1746135" y="228600"/>
            <a:ext cx="5558400" cy="836928"/>
          </a:xfrm>
          <a:prstGeom prst="rect">
            <a:avLst/>
          </a:prstGeom>
        </p:spPr>
        <p:txBody>
          <a:bodyPr spcFirstLastPara="1" wrap="square" lIns="90000" tIns="91425" rIns="90000" bIns="91425" anchor="ctr" anchorCtr="0">
            <a:noAutofit/>
          </a:bodyPr>
          <a:lstStyle/>
          <a:p>
            <a:pPr marL="0" lvl="0" indent="0" algn="ctr" rtl="0">
              <a:spcBef>
                <a:spcPts val="0"/>
              </a:spcBef>
              <a:spcAft>
                <a:spcPts val="0"/>
              </a:spcAft>
              <a:buNone/>
            </a:pPr>
            <a:r>
              <a:rPr lang="en" sz="3600" dirty="0" smtClean="0"/>
              <a:t>A. Functional Cases</a:t>
            </a:r>
            <a:endParaRPr sz="3600" dirty="0"/>
          </a:p>
        </p:txBody>
      </p:sp>
      <p:graphicFrame>
        <p:nvGraphicFramePr>
          <p:cNvPr id="89" name="Google Shape;698;p43"/>
          <p:cNvGraphicFramePr/>
          <p:nvPr>
            <p:extLst>
              <p:ext uri="{D42A27DB-BD31-4B8C-83A1-F6EECF244321}">
                <p14:modId xmlns:p14="http://schemas.microsoft.com/office/powerpoint/2010/main" val="3553477006"/>
              </p:ext>
            </p:extLst>
          </p:nvPr>
        </p:nvGraphicFramePr>
        <p:xfrm>
          <a:off x="719999" y="1249859"/>
          <a:ext cx="7457898" cy="3199204"/>
        </p:xfrm>
        <a:graphic>
          <a:graphicData uri="http://schemas.openxmlformats.org/drawingml/2006/table">
            <a:tbl>
              <a:tblPr>
                <a:noFill/>
              </a:tblPr>
              <a:tblGrid>
                <a:gridCol w="2485966">
                  <a:extLst>
                    <a:ext uri="{9D8B030D-6E8A-4147-A177-3AD203B41FA5}">
                      <a16:colId xmlns:a16="http://schemas.microsoft.com/office/drawing/2014/main" val="20000"/>
                    </a:ext>
                  </a:extLst>
                </a:gridCol>
                <a:gridCol w="2485966">
                  <a:extLst>
                    <a:ext uri="{9D8B030D-6E8A-4147-A177-3AD203B41FA5}">
                      <a16:colId xmlns:a16="http://schemas.microsoft.com/office/drawing/2014/main" val="1186318376"/>
                    </a:ext>
                  </a:extLst>
                </a:gridCol>
                <a:gridCol w="2485966">
                  <a:extLst>
                    <a:ext uri="{9D8B030D-6E8A-4147-A177-3AD203B41FA5}">
                      <a16:colId xmlns:a16="http://schemas.microsoft.com/office/drawing/2014/main" val="3049769508"/>
                    </a:ext>
                  </a:extLst>
                </a:gridCol>
              </a:tblGrid>
              <a:tr h="567777">
                <a:tc gridSpan="3">
                  <a:txBody>
                    <a:bodyPr/>
                    <a:lstStyle/>
                    <a:p>
                      <a:pPr marL="0" lvl="0" indent="0" algn="ctr" rtl="0">
                        <a:spcBef>
                          <a:spcPts val="0"/>
                        </a:spcBef>
                        <a:spcAft>
                          <a:spcPts val="0"/>
                        </a:spcAft>
                        <a:buNone/>
                      </a:pPr>
                      <a:r>
                        <a:rPr lang="en" sz="2400" b="1" dirty="0" smtClean="0">
                          <a:solidFill>
                            <a:schemeClr val="tx1"/>
                          </a:solidFill>
                          <a:latin typeface="Montserrat Black"/>
                          <a:ea typeface="Montserrat Black"/>
                          <a:cs typeface="Montserrat Black"/>
                          <a:sym typeface="Montserrat Black"/>
                        </a:rPr>
                        <a:t>A2. </a:t>
                      </a:r>
                      <a:r>
                        <a:rPr lang="en-US" sz="2400" b="1" dirty="0" smtClean="0">
                          <a:solidFill>
                            <a:schemeClr val="tx1"/>
                          </a:solidFill>
                          <a:latin typeface="Montserrat Black"/>
                          <a:ea typeface="Montserrat Black"/>
                          <a:cs typeface="Montserrat Black"/>
                          <a:sym typeface="Montserrat Black"/>
                        </a:rPr>
                        <a:t>Emotion Detection</a:t>
                      </a:r>
                      <a:endParaRPr sz="24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30877">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ID</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CASE</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EXPECTED</a:t>
                      </a:r>
                      <a:r>
                        <a:rPr lang="en" b="1" baseline="0" dirty="0" smtClean="0">
                          <a:solidFill>
                            <a:schemeClr val="tx1"/>
                          </a:solidFill>
                          <a:latin typeface="Montserrat Medium"/>
                          <a:ea typeface="Montserrat Medium"/>
                          <a:cs typeface="Montserrat Medium"/>
                          <a:sym typeface="Montserrat Medium"/>
                        </a:rPr>
                        <a:t> RESULT</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19487">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TC-05</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Happy face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"Happy" detected</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19487">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TC-06</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Sad acting</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"Sad" detected</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80788">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TC-07</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Neutral</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Neutral detected</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80788">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TC-08</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Lighting change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Still detects correctly</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04193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2"/>
        <p:cNvGrpSpPr/>
        <p:nvPr/>
      </p:nvGrpSpPr>
      <p:grpSpPr>
        <a:xfrm>
          <a:off x="0" y="0"/>
          <a:ext cx="0" cy="0"/>
          <a:chOff x="0" y="0"/>
          <a:chExt cx="0" cy="0"/>
        </a:xfrm>
      </p:grpSpPr>
      <p:sp>
        <p:nvSpPr>
          <p:cNvPr id="1613" name="Google Shape;1613;p57"/>
          <p:cNvSpPr txBox="1">
            <a:spLocks noGrp="1"/>
          </p:cNvSpPr>
          <p:nvPr>
            <p:ph type="title"/>
          </p:nvPr>
        </p:nvSpPr>
        <p:spPr>
          <a:xfrm>
            <a:off x="1746135" y="228600"/>
            <a:ext cx="5558400" cy="836928"/>
          </a:xfrm>
          <a:prstGeom prst="rect">
            <a:avLst/>
          </a:prstGeom>
        </p:spPr>
        <p:txBody>
          <a:bodyPr spcFirstLastPara="1" wrap="square" lIns="90000" tIns="91425" rIns="90000" bIns="91425" anchor="ctr" anchorCtr="0">
            <a:noAutofit/>
          </a:bodyPr>
          <a:lstStyle/>
          <a:p>
            <a:pPr marL="0" lvl="0" indent="0" algn="ctr" rtl="0">
              <a:spcBef>
                <a:spcPts val="0"/>
              </a:spcBef>
              <a:spcAft>
                <a:spcPts val="0"/>
              </a:spcAft>
              <a:buNone/>
            </a:pPr>
            <a:r>
              <a:rPr lang="en" sz="3600" dirty="0" smtClean="0"/>
              <a:t>A. Functional Cases</a:t>
            </a:r>
            <a:endParaRPr sz="3600" dirty="0"/>
          </a:p>
        </p:txBody>
      </p:sp>
      <p:graphicFrame>
        <p:nvGraphicFramePr>
          <p:cNvPr id="89" name="Google Shape;698;p43"/>
          <p:cNvGraphicFramePr/>
          <p:nvPr>
            <p:extLst>
              <p:ext uri="{D42A27DB-BD31-4B8C-83A1-F6EECF244321}">
                <p14:modId xmlns:p14="http://schemas.microsoft.com/office/powerpoint/2010/main" val="2587241871"/>
              </p:ext>
            </p:extLst>
          </p:nvPr>
        </p:nvGraphicFramePr>
        <p:xfrm>
          <a:off x="719999" y="1249859"/>
          <a:ext cx="7457898" cy="3199204"/>
        </p:xfrm>
        <a:graphic>
          <a:graphicData uri="http://schemas.openxmlformats.org/drawingml/2006/table">
            <a:tbl>
              <a:tblPr>
                <a:noFill/>
              </a:tblPr>
              <a:tblGrid>
                <a:gridCol w="2485966">
                  <a:extLst>
                    <a:ext uri="{9D8B030D-6E8A-4147-A177-3AD203B41FA5}">
                      <a16:colId xmlns:a16="http://schemas.microsoft.com/office/drawing/2014/main" val="20000"/>
                    </a:ext>
                  </a:extLst>
                </a:gridCol>
                <a:gridCol w="2485966">
                  <a:extLst>
                    <a:ext uri="{9D8B030D-6E8A-4147-A177-3AD203B41FA5}">
                      <a16:colId xmlns:a16="http://schemas.microsoft.com/office/drawing/2014/main" val="1186318376"/>
                    </a:ext>
                  </a:extLst>
                </a:gridCol>
                <a:gridCol w="2485966">
                  <a:extLst>
                    <a:ext uri="{9D8B030D-6E8A-4147-A177-3AD203B41FA5}">
                      <a16:colId xmlns:a16="http://schemas.microsoft.com/office/drawing/2014/main" val="3049769508"/>
                    </a:ext>
                  </a:extLst>
                </a:gridCol>
              </a:tblGrid>
              <a:tr h="567777">
                <a:tc gridSpan="3">
                  <a:txBody>
                    <a:bodyPr/>
                    <a:lstStyle/>
                    <a:p>
                      <a:pPr marL="0" lvl="0" indent="0" algn="ctr" rtl="0">
                        <a:spcBef>
                          <a:spcPts val="0"/>
                        </a:spcBef>
                        <a:spcAft>
                          <a:spcPts val="0"/>
                        </a:spcAft>
                        <a:buNone/>
                      </a:pPr>
                      <a:r>
                        <a:rPr lang="en" sz="2400" b="1" dirty="0" smtClean="0">
                          <a:solidFill>
                            <a:schemeClr val="tx1"/>
                          </a:solidFill>
                          <a:latin typeface="Montserrat Black"/>
                          <a:ea typeface="Montserrat Black"/>
                          <a:cs typeface="Montserrat Black"/>
                          <a:sym typeface="Montserrat Black"/>
                        </a:rPr>
                        <a:t>A3. </a:t>
                      </a:r>
                      <a:r>
                        <a:rPr lang="en-US" sz="2400" b="1" dirty="0" smtClean="0">
                          <a:solidFill>
                            <a:schemeClr val="tx1"/>
                          </a:solidFill>
                          <a:latin typeface="Montserrat Black"/>
                          <a:ea typeface="Montserrat Black"/>
                          <a:cs typeface="Montserrat Black"/>
                          <a:sym typeface="Montserrat Black"/>
                        </a:rPr>
                        <a:t>Face and Eye Tracking</a:t>
                      </a:r>
                      <a:endParaRPr sz="24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30877">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ID</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CASE</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EXPECTED</a:t>
                      </a:r>
                      <a:r>
                        <a:rPr lang="en" b="1" baseline="0" dirty="0" smtClean="0">
                          <a:solidFill>
                            <a:schemeClr val="tx1"/>
                          </a:solidFill>
                          <a:latin typeface="Montserrat Medium"/>
                          <a:ea typeface="Montserrat Medium"/>
                          <a:cs typeface="Montserrat Medium"/>
                          <a:sym typeface="Montserrat Medium"/>
                        </a:rPr>
                        <a:t> RESULT</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19487">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TC-09</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No face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No crash, no detection</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19487">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TC-10</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Eye Tracking</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Eye</a:t>
                      </a:r>
                      <a:r>
                        <a:rPr lang="en-US" sz="1200" b="1" baseline="0" dirty="0" smtClean="0">
                          <a:solidFill>
                            <a:schemeClr val="tx1"/>
                          </a:solidFill>
                          <a:latin typeface="Montserrat Medium"/>
                          <a:ea typeface="Montserrat Medium"/>
                          <a:cs typeface="Montserrat Medium"/>
                          <a:sym typeface="Montserrat Medium"/>
                        </a:rPr>
                        <a:t> scoring and analysis</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80788">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TC-11</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No</a:t>
                      </a:r>
                      <a:r>
                        <a:rPr lang="en-US" sz="1200" b="1" baseline="0" dirty="0" smtClean="0">
                          <a:solidFill>
                            <a:schemeClr val="tx1"/>
                          </a:solidFill>
                          <a:latin typeface="Montserrat Medium"/>
                          <a:ea typeface="Montserrat Medium"/>
                          <a:cs typeface="Montserrat Medium"/>
                          <a:sym typeface="Montserrat Medium"/>
                        </a:rPr>
                        <a:t> v</a:t>
                      </a:r>
                      <a:r>
                        <a:rPr lang="en-US" sz="1200" b="1" dirty="0" smtClean="0">
                          <a:solidFill>
                            <a:schemeClr val="tx1"/>
                          </a:solidFill>
                          <a:latin typeface="Montserrat Medium"/>
                          <a:ea typeface="Montserrat Medium"/>
                          <a:cs typeface="Montserrat Medium"/>
                          <a:sym typeface="Montserrat Medium"/>
                        </a:rPr>
                        <a:t>oice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No</a:t>
                      </a:r>
                      <a:r>
                        <a:rPr lang="en-US" sz="1200" b="1" baseline="0" dirty="0" smtClean="0">
                          <a:solidFill>
                            <a:schemeClr val="tx1"/>
                          </a:solidFill>
                          <a:latin typeface="Montserrat Medium"/>
                          <a:ea typeface="Montserrat Medium"/>
                          <a:cs typeface="Montserrat Medium"/>
                          <a:sym typeface="Montserrat Medium"/>
                        </a:rPr>
                        <a:t> crash, no detection</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80788">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TC-12</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Multiple faces</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Only one face tracked</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84209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0EE"/>
        </a:solidFill>
        <a:effectLst/>
      </p:bgPr>
    </p:bg>
    <p:spTree>
      <p:nvGrpSpPr>
        <p:cNvPr id="1" name="Shape 1612"/>
        <p:cNvGrpSpPr/>
        <p:nvPr/>
      </p:nvGrpSpPr>
      <p:grpSpPr>
        <a:xfrm>
          <a:off x="0" y="0"/>
          <a:ext cx="0" cy="0"/>
          <a:chOff x="0" y="0"/>
          <a:chExt cx="0" cy="0"/>
        </a:xfrm>
      </p:grpSpPr>
      <p:sp>
        <p:nvSpPr>
          <p:cNvPr id="1613" name="Google Shape;1613;p57"/>
          <p:cNvSpPr txBox="1">
            <a:spLocks noGrp="1"/>
          </p:cNvSpPr>
          <p:nvPr>
            <p:ph type="title"/>
          </p:nvPr>
        </p:nvSpPr>
        <p:spPr>
          <a:xfrm>
            <a:off x="1746135" y="228600"/>
            <a:ext cx="5558400" cy="836928"/>
          </a:xfrm>
          <a:prstGeom prst="rect">
            <a:avLst/>
          </a:prstGeom>
        </p:spPr>
        <p:txBody>
          <a:bodyPr spcFirstLastPara="1" wrap="square" lIns="90000" tIns="91425" rIns="90000" bIns="91425" anchor="ctr" anchorCtr="0">
            <a:noAutofit/>
          </a:bodyPr>
          <a:lstStyle/>
          <a:p>
            <a:pPr marL="0" lvl="0" indent="0" algn="ctr" rtl="0">
              <a:spcBef>
                <a:spcPts val="0"/>
              </a:spcBef>
              <a:spcAft>
                <a:spcPts val="0"/>
              </a:spcAft>
              <a:buNone/>
            </a:pPr>
            <a:r>
              <a:rPr lang="en" sz="3600" dirty="0" smtClean="0"/>
              <a:t>A. Functional Cases</a:t>
            </a:r>
            <a:endParaRPr sz="3600" dirty="0"/>
          </a:p>
        </p:txBody>
      </p:sp>
      <p:graphicFrame>
        <p:nvGraphicFramePr>
          <p:cNvPr id="89" name="Google Shape;698;p43"/>
          <p:cNvGraphicFramePr/>
          <p:nvPr>
            <p:extLst>
              <p:ext uri="{D42A27DB-BD31-4B8C-83A1-F6EECF244321}">
                <p14:modId xmlns:p14="http://schemas.microsoft.com/office/powerpoint/2010/main" val="472435061"/>
              </p:ext>
            </p:extLst>
          </p:nvPr>
        </p:nvGraphicFramePr>
        <p:xfrm>
          <a:off x="719999" y="1249859"/>
          <a:ext cx="7457898" cy="3199204"/>
        </p:xfrm>
        <a:graphic>
          <a:graphicData uri="http://schemas.openxmlformats.org/drawingml/2006/table">
            <a:tbl>
              <a:tblPr>
                <a:noFill/>
              </a:tblPr>
              <a:tblGrid>
                <a:gridCol w="2485966">
                  <a:extLst>
                    <a:ext uri="{9D8B030D-6E8A-4147-A177-3AD203B41FA5}">
                      <a16:colId xmlns:a16="http://schemas.microsoft.com/office/drawing/2014/main" val="20000"/>
                    </a:ext>
                  </a:extLst>
                </a:gridCol>
                <a:gridCol w="2485966">
                  <a:extLst>
                    <a:ext uri="{9D8B030D-6E8A-4147-A177-3AD203B41FA5}">
                      <a16:colId xmlns:a16="http://schemas.microsoft.com/office/drawing/2014/main" val="1186318376"/>
                    </a:ext>
                  </a:extLst>
                </a:gridCol>
                <a:gridCol w="2485966">
                  <a:extLst>
                    <a:ext uri="{9D8B030D-6E8A-4147-A177-3AD203B41FA5}">
                      <a16:colId xmlns:a16="http://schemas.microsoft.com/office/drawing/2014/main" val="3049769508"/>
                    </a:ext>
                  </a:extLst>
                </a:gridCol>
              </a:tblGrid>
              <a:tr h="567777">
                <a:tc gridSpan="3">
                  <a:txBody>
                    <a:bodyPr/>
                    <a:lstStyle/>
                    <a:p>
                      <a:pPr marL="0" lvl="0" indent="0" algn="ctr" rtl="0">
                        <a:spcBef>
                          <a:spcPts val="0"/>
                        </a:spcBef>
                        <a:spcAft>
                          <a:spcPts val="0"/>
                        </a:spcAft>
                        <a:buNone/>
                      </a:pPr>
                      <a:r>
                        <a:rPr lang="en" sz="2400" b="1" dirty="0" smtClean="0">
                          <a:solidFill>
                            <a:schemeClr val="tx1"/>
                          </a:solidFill>
                          <a:latin typeface="Montserrat Black"/>
                          <a:ea typeface="Montserrat Black"/>
                          <a:cs typeface="Montserrat Black"/>
                          <a:sym typeface="Montserrat Black"/>
                        </a:rPr>
                        <a:t>A4. </a:t>
                      </a:r>
                      <a:r>
                        <a:rPr lang="en-US" sz="2400" b="1" dirty="0" smtClean="0">
                          <a:solidFill>
                            <a:schemeClr val="tx1"/>
                          </a:solidFill>
                          <a:latin typeface="Montserrat Black"/>
                          <a:ea typeface="Montserrat Black"/>
                          <a:cs typeface="Montserrat Black"/>
                          <a:sym typeface="Montserrat Black"/>
                        </a:rPr>
                        <a:t>Gesture Recognition</a:t>
                      </a:r>
                      <a:endParaRPr sz="24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30877">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ID</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CASE</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EXPECTED</a:t>
                      </a:r>
                      <a:r>
                        <a:rPr lang="en" b="1" baseline="0" dirty="0" smtClean="0">
                          <a:solidFill>
                            <a:schemeClr val="tx1"/>
                          </a:solidFill>
                          <a:latin typeface="Montserrat Medium"/>
                          <a:ea typeface="Montserrat Medium"/>
                          <a:cs typeface="Montserrat Medium"/>
                          <a:sym typeface="Montserrat Medium"/>
                        </a:rPr>
                        <a:t> RESULT</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19487">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TC-13</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Known gesture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Correct classification</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19487">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TC-14</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Unknown gesture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Rejected or low confidence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80788">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TC-15</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Speed variation</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Still recognized</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80788">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TC-16</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Noise input</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No false positives</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72038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Shape 1612"/>
        <p:cNvGrpSpPr/>
        <p:nvPr/>
      </p:nvGrpSpPr>
      <p:grpSpPr>
        <a:xfrm>
          <a:off x="0" y="0"/>
          <a:ext cx="0" cy="0"/>
          <a:chOff x="0" y="0"/>
          <a:chExt cx="0" cy="0"/>
        </a:xfrm>
      </p:grpSpPr>
      <p:graphicFrame>
        <p:nvGraphicFramePr>
          <p:cNvPr id="89" name="Google Shape;698;p43"/>
          <p:cNvGraphicFramePr/>
          <p:nvPr>
            <p:extLst>
              <p:ext uri="{D42A27DB-BD31-4B8C-83A1-F6EECF244321}">
                <p14:modId xmlns:p14="http://schemas.microsoft.com/office/powerpoint/2010/main" val="1315972303"/>
              </p:ext>
            </p:extLst>
          </p:nvPr>
        </p:nvGraphicFramePr>
        <p:xfrm>
          <a:off x="335766" y="103231"/>
          <a:ext cx="8389824" cy="4962256"/>
        </p:xfrm>
        <a:graphic>
          <a:graphicData uri="http://schemas.openxmlformats.org/drawingml/2006/table">
            <a:tbl>
              <a:tblPr>
                <a:noFill/>
              </a:tblPr>
              <a:tblGrid>
                <a:gridCol w="2796608">
                  <a:extLst>
                    <a:ext uri="{9D8B030D-6E8A-4147-A177-3AD203B41FA5}">
                      <a16:colId xmlns:a16="http://schemas.microsoft.com/office/drawing/2014/main" val="20000"/>
                    </a:ext>
                  </a:extLst>
                </a:gridCol>
                <a:gridCol w="2796608">
                  <a:extLst>
                    <a:ext uri="{9D8B030D-6E8A-4147-A177-3AD203B41FA5}">
                      <a16:colId xmlns:a16="http://schemas.microsoft.com/office/drawing/2014/main" val="1186318376"/>
                    </a:ext>
                  </a:extLst>
                </a:gridCol>
                <a:gridCol w="2796608">
                  <a:extLst>
                    <a:ext uri="{9D8B030D-6E8A-4147-A177-3AD203B41FA5}">
                      <a16:colId xmlns:a16="http://schemas.microsoft.com/office/drawing/2014/main" val="3049769508"/>
                    </a:ext>
                  </a:extLst>
                </a:gridCol>
              </a:tblGrid>
              <a:tr h="550031">
                <a:tc gridSpan="3">
                  <a:txBody>
                    <a:bodyPr/>
                    <a:lstStyle/>
                    <a:p>
                      <a:pPr marL="0" lvl="0" indent="0" algn="ctr" rtl="0">
                        <a:spcBef>
                          <a:spcPts val="0"/>
                        </a:spcBef>
                        <a:spcAft>
                          <a:spcPts val="0"/>
                        </a:spcAft>
                        <a:buNone/>
                      </a:pPr>
                      <a:r>
                        <a:rPr lang="en" sz="2400" b="1" dirty="0" smtClean="0">
                          <a:solidFill>
                            <a:schemeClr val="tx1"/>
                          </a:solidFill>
                          <a:latin typeface="Montserrat Black"/>
                          <a:ea typeface="Montserrat Black"/>
                          <a:cs typeface="Montserrat Black"/>
                          <a:sym typeface="Montserrat Black"/>
                        </a:rPr>
                        <a:t>A6. </a:t>
                      </a:r>
                      <a:r>
                        <a:rPr lang="en-US" sz="2400" b="1" dirty="0" smtClean="0">
                          <a:solidFill>
                            <a:schemeClr val="tx1"/>
                          </a:solidFill>
                          <a:latin typeface="Montserrat Black"/>
                          <a:ea typeface="Montserrat Black"/>
                          <a:cs typeface="Montserrat Black"/>
                          <a:sym typeface="Montserrat Black"/>
                        </a:rPr>
                        <a:t>Report Generation</a:t>
                      </a:r>
                      <a:endParaRPr sz="24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11159">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ID</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CASE</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EXPECTED</a:t>
                      </a:r>
                      <a:r>
                        <a:rPr lang="en" b="1" baseline="0" dirty="0" smtClean="0">
                          <a:solidFill>
                            <a:schemeClr val="tx1"/>
                          </a:solidFill>
                          <a:latin typeface="Montserrat Medium"/>
                          <a:ea typeface="Montserrat Medium"/>
                          <a:cs typeface="Montserrat Medium"/>
                          <a:sym typeface="Montserrat Medium"/>
                        </a:rPr>
                        <a:t> RESULT</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03250">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TC-17</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Generate report</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Output created</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03250">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TC-18</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Printing report</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Printed</a:t>
                      </a:r>
                      <a:r>
                        <a:rPr lang="en-US" sz="1200" b="1" baseline="0" dirty="0" smtClean="0">
                          <a:solidFill>
                            <a:schemeClr val="tx1"/>
                          </a:solidFill>
                          <a:latin typeface="Montserrat Medium"/>
                          <a:ea typeface="Montserrat Medium"/>
                          <a:cs typeface="Montserrat Medium"/>
                          <a:sym typeface="Montserrat Medium"/>
                        </a:rPr>
                        <a:t> locally</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65761">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TC19</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Score display</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Numeric scores shown</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65761">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TC-20</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Perfor</a:t>
                      </a:r>
                      <a:r>
                        <a:rPr lang="en-US" sz="1200" b="1" baseline="0" dirty="0" smtClean="0">
                          <a:solidFill>
                            <a:schemeClr val="tx1"/>
                          </a:solidFill>
                          <a:latin typeface="Montserrat Medium"/>
                          <a:ea typeface="Montserrat Medium"/>
                          <a:cs typeface="Montserrat Medium"/>
                          <a:sym typeface="Montserrat Medium"/>
                        </a:rPr>
                        <a:t>mance classification</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Good, Moderate or Bad shown</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65761">
                <a:tc>
                  <a:txBody>
                    <a:bodyPr/>
                    <a:lstStyle/>
                    <a:p>
                      <a:pPr marL="0" lvl="0" indent="0" algn="ctr" rtl="0">
                        <a:spcBef>
                          <a:spcPts val="0"/>
                        </a:spcBef>
                        <a:spcAft>
                          <a:spcPts val="0"/>
                        </a:spcAft>
                        <a:buNone/>
                      </a:pPr>
                      <a:r>
                        <a:rPr lang="en-US" sz="1600" b="1" dirty="0" smtClean="0">
                          <a:solidFill>
                            <a:schemeClr val="tx1"/>
                          </a:solidFill>
                          <a:latin typeface="Montserrat Black"/>
                          <a:ea typeface="Montserrat Black"/>
                          <a:cs typeface="Montserrat Black"/>
                          <a:sym typeface="Montserrat Black"/>
                        </a:rPr>
                        <a:t>TC-21</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Visualization</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Widgets render</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2076122"/>
                  </a:ext>
                </a:extLst>
              </a:tr>
              <a:tr h="465761">
                <a:tc>
                  <a:txBody>
                    <a:bodyPr/>
                    <a:lstStyle/>
                    <a:p>
                      <a:pPr marL="0" lvl="0" indent="0" algn="ctr" rtl="0">
                        <a:spcBef>
                          <a:spcPts val="0"/>
                        </a:spcBef>
                        <a:spcAft>
                          <a:spcPts val="0"/>
                        </a:spcAft>
                        <a:buNone/>
                      </a:pPr>
                      <a:r>
                        <a:rPr lang="en-US" sz="1600" b="1" dirty="0" smtClean="0">
                          <a:solidFill>
                            <a:schemeClr val="tx1"/>
                          </a:solidFill>
                          <a:latin typeface="Montserrat Black"/>
                          <a:ea typeface="Montserrat Black"/>
                          <a:cs typeface="Montserrat Black"/>
                          <a:sym typeface="Montserrat Black"/>
                        </a:rPr>
                        <a:t>TC-22</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New analysis restart</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Button</a:t>
                      </a:r>
                      <a:r>
                        <a:rPr lang="en-US" sz="1200" b="1" baseline="0" dirty="0" smtClean="0">
                          <a:solidFill>
                            <a:schemeClr val="tx1"/>
                          </a:solidFill>
                          <a:latin typeface="Montserrat Medium"/>
                          <a:ea typeface="Montserrat Medium"/>
                          <a:cs typeface="Montserrat Medium"/>
                          <a:sym typeface="Montserrat Medium"/>
                        </a:rPr>
                        <a:t> accessible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2314701"/>
                  </a:ext>
                </a:extLst>
              </a:tr>
              <a:tr h="465761">
                <a:tc>
                  <a:txBody>
                    <a:bodyPr/>
                    <a:lstStyle/>
                    <a:p>
                      <a:pPr marL="0" lvl="0" indent="0" algn="ctr" rtl="0">
                        <a:spcBef>
                          <a:spcPts val="0"/>
                        </a:spcBef>
                        <a:spcAft>
                          <a:spcPts val="0"/>
                        </a:spcAft>
                        <a:buNone/>
                      </a:pPr>
                      <a:r>
                        <a:rPr lang="en-US" sz="1600" b="1" dirty="0" smtClean="0">
                          <a:solidFill>
                            <a:schemeClr val="tx1"/>
                          </a:solidFill>
                          <a:latin typeface="Montserrat Black"/>
                          <a:ea typeface="Montserrat Black"/>
                          <a:cs typeface="Montserrat Black"/>
                          <a:sym typeface="Montserrat Black"/>
                        </a:rPr>
                        <a:t>TC-23</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Variables</a:t>
                      </a:r>
                      <a:r>
                        <a:rPr lang="en-US" sz="1200" b="1" baseline="0" dirty="0" smtClean="0">
                          <a:solidFill>
                            <a:schemeClr val="tx1"/>
                          </a:solidFill>
                          <a:latin typeface="Montserrat Medium"/>
                          <a:ea typeface="Montserrat Medium"/>
                          <a:cs typeface="Montserrat Medium"/>
                          <a:sym typeface="Montserrat Medium"/>
                        </a:rPr>
                        <a:t> Classification</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Independent</a:t>
                      </a:r>
                      <a:r>
                        <a:rPr lang="en-US" sz="1200" b="1" baseline="0" dirty="0" smtClean="0">
                          <a:solidFill>
                            <a:schemeClr val="tx1"/>
                          </a:solidFill>
                          <a:latin typeface="Montserrat Medium"/>
                          <a:ea typeface="Montserrat Medium"/>
                          <a:cs typeface="Montserrat Medium"/>
                          <a:sym typeface="Montserrat Medium"/>
                        </a:rPr>
                        <a:t> variable scoring</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2028124"/>
                  </a:ext>
                </a:extLst>
              </a:tr>
              <a:tr h="465761">
                <a:tc>
                  <a:txBody>
                    <a:bodyPr/>
                    <a:lstStyle/>
                    <a:p>
                      <a:pPr marL="0" lvl="0" indent="0" algn="ctr" rtl="0">
                        <a:spcBef>
                          <a:spcPts val="0"/>
                        </a:spcBef>
                        <a:spcAft>
                          <a:spcPts val="0"/>
                        </a:spcAft>
                        <a:buNone/>
                      </a:pPr>
                      <a:r>
                        <a:rPr lang="en-US" sz="1600" b="1" dirty="0" smtClean="0">
                          <a:solidFill>
                            <a:schemeClr val="tx1"/>
                          </a:solidFill>
                          <a:latin typeface="Montserrat Black"/>
                          <a:ea typeface="Montserrat Black"/>
                          <a:cs typeface="Montserrat Black"/>
                          <a:sym typeface="Montserrat Black"/>
                        </a:rPr>
                        <a:t>TC-24</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Recommendations</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Improvement advices</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7504020"/>
                  </a:ext>
                </a:extLst>
              </a:tr>
            </a:tbl>
          </a:graphicData>
        </a:graphic>
      </p:graphicFrame>
    </p:spTree>
    <p:extLst>
      <p:ext uri="{BB962C8B-B14F-4D97-AF65-F5344CB8AC3E}">
        <p14:creationId xmlns:p14="http://schemas.microsoft.com/office/powerpoint/2010/main" val="840299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2"/>
        <p:cNvGrpSpPr/>
        <p:nvPr/>
      </p:nvGrpSpPr>
      <p:grpSpPr>
        <a:xfrm>
          <a:off x="0" y="0"/>
          <a:ext cx="0" cy="0"/>
          <a:chOff x="0" y="0"/>
          <a:chExt cx="0" cy="0"/>
        </a:xfrm>
      </p:grpSpPr>
      <p:sp>
        <p:nvSpPr>
          <p:cNvPr id="1613" name="Google Shape;1613;p57"/>
          <p:cNvSpPr txBox="1">
            <a:spLocks noGrp="1"/>
          </p:cNvSpPr>
          <p:nvPr>
            <p:ph type="title"/>
          </p:nvPr>
        </p:nvSpPr>
        <p:spPr>
          <a:xfrm>
            <a:off x="1478140" y="159129"/>
            <a:ext cx="6162501" cy="836928"/>
          </a:xfrm>
          <a:prstGeom prst="rect">
            <a:avLst/>
          </a:prstGeom>
        </p:spPr>
        <p:txBody>
          <a:bodyPr spcFirstLastPara="1" wrap="square" lIns="90000" tIns="91425" rIns="90000" bIns="91425" anchor="ctr" anchorCtr="0">
            <a:noAutofit/>
          </a:bodyPr>
          <a:lstStyle/>
          <a:p>
            <a:pPr marL="0" lvl="0" indent="0" algn="ctr" rtl="0">
              <a:spcBef>
                <a:spcPts val="0"/>
              </a:spcBef>
              <a:spcAft>
                <a:spcPts val="0"/>
              </a:spcAft>
              <a:buNone/>
            </a:pPr>
            <a:r>
              <a:rPr lang="en" sz="3600" dirty="0"/>
              <a:t>B</a:t>
            </a:r>
            <a:r>
              <a:rPr lang="en" sz="3600" dirty="0" smtClean="0"/>
              <a:t>. Non-Functional Cases</a:t>
            </a:r>
            <a:endParaRPr sz="3600" dirty="0"/>
          </a:p>
        </p:txBody>
      </p:sp>
      <p:graphicFrame>
        <p:nvGraphicFramePr>
          <p:cNvPr id="89" name="Google Shape;698;p43"/>
          <p:cNvGraphicFramePr/>
          <p:nvPr>
            <p:extLst>
              <p:ext uri="{D42A27DB-BD31-4B8C-83A1-F6EECF244321}">
                <p14:modId xmlns:p14="http://schemas.microsoft.com/office/powerpoint/2010/main" val="2591724647"/>
              </p:ext>
            </p:extLst>
          </p:nvPr>
        </p:nvGraphicFramePr>
        <p:xfrm>
          <a:off x="910670" y="1248229"/>
          <a:ext cx="7447428" cy="3489054"/>
        </p:xfrm>
        <a:graphic>
          <a:graphicData uri="http://schemas.openxmlformats.org/drawingml/2006/table">
            <a:tbl>
              <a:tblPr>
                <a:noFill/>
              </a:tblPr>
              <a:tblGrid>
                <a:gridCol w="2482476">
                  <a:extLst>
                    <a:ext uri="{9D8B030D-6E8A-4147-A177-3AD203B41FA5}">
                      <a16:colId xmlns:a16="http://schemas.microsoft.com/office/drawing/2014/main" val="20000"/>
                    </a:ext>
                  </a:extLst>
                </a:gridCol>
                <a:gridCol w="2482476">
                  <a:extLst>
                    <a:ext uri="{9D8B030D-6E8A-4147-A177-3AD203B41FA5}">
                      <a16:colId xmlns:a16="http://schemas.microsoft.com/office/drawing/2014/main" val="1186318376"/>
                    </a:ext>
                  </a:extLst>
                </a:gridCol>
                <a:gridCol w="2482476">
                  <a:extLst>
                    <a:ext uri="{9D8B030D-6E8A-4147-A177-3AD203B41FA5}">
                      <a16:colId xmlns:a16="http://schemas.microsoft.com/office/drawing/2014/main" val="3049769508"/>
                    </a:ext>
                  </a:extLst>
                </a:gridCol>
              </a:tblGrid>
              <a:tr h="588889">
                <a:tc gridSpan="3">
                  <a:txBody>
                    <a:bodyPr/>
                    <a:lstStyle/>
                    <a:p>
                      <a:pPr marL="0" lvl="0" indent="0" algn="ctr" rtl="0">
                        <a:spcBef>
                          <a:spcPts val="0"/>
                        </a:spcBef>
                        <a:spcAft>
                          <a:spcPts val="0"/>
                        </a:spcAft>
                        <a:buNone/>
                      </a:pPr>
                      <a:r>
                        <a:rPr lang="en" sz="2400" b="1" dirty="0" smtClean="0">
                          <a:solidFill>
                            <a:schemeClr val="tx1"/>
                          </a:solidFill>
                          <a:latin typeface="Montserrat Black"/>
                          <a:ea typeface="Montserrat Black"/>
                          <a:cs typeface="Montserrat Black"/>
                          <a:sym typeface="Montserrat Black"/>
                        </a:rPr>
                        <a:t>B1. </a:t>
                      </a:r>
                      <a:r>
                        <a:rPr lang="en-US" sz="2400" b="1" dirty="0" smtClean="0">
                          <a:solidFill>
                            <a:schemeClr val="tx1"/>
                          </a:solidFill>
                          <a:latin typeface="Montserrat Black"/>
                          <a:ea typeface="Montserrat Black"/>
                          <a:cs typeface="Montserrat Black"/>
                          <a:sym typeface="Montserrat Black"/>
                        </a:rPr>
                        <a:t>Performance Testing</a:t>
                      </a:r>
                      <a:endParaRPr sz="24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54335">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ID</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CASE</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EXPECTED</a:t>
                      </a:r>
                      <a:r>
                        <a:rPr lang="en" b="1" baseline="0" dirty="0" smtClean="0">
                          <a:solidFill>
                            <a:schemeClr val="tx1"/>
                          </a:solidFill>
                          <a:latin typeface="Montserrat Medium"/>
                          <a:ea typeface="Montserrat Medium"/>
                          <a:cs typeface="Montserrat Medium"/>
                          <a:sym typeface="Montserrat Medium"/>
                        </a:rPr>
                        <a:t> RESULT</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38803">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TC-25</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FPS (real-time)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 15 FPS</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69009">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TC-26</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Processing delay</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&lt; </a:t>
                      </a:r>
                      <a:r>
                        <a:rPr lang="en-US" sz="1200" b="1" dirty="0" smtClean="0">
                          <a:solidFill>
                            <a:schemeClr val="tx1"/>
                          </a:solidFill>
                          <a:latin typeface="Montserrat Medium"/>
                          <a:ea typeface="Montserrat Medium"/>
                          <a:cs typeface="Montserrat Medium"/>
                          <a:sym typeface="Montserrat Medium"/>
                        </a:rPr>
                        <a:t>5000 </a:t>
                      </a:r>
                      <a:r>
                        <a:rPr lang="en-US" sz="1200" b="1" dirty="0" err="1" smtClean="0">
                          <a:solidFill>
                            <a:schemeClr val="tx1"/>
                          </a:solidFill>
                          <a:latin typeface="Montserrat Medium"/>
                          <a:ea typeface="Montserrat Medium"/>
                          <a:cs typeface="Montserrat Medium"/>
                          <a:sym typeface="Montserrat Medium"/>
                        </a:rPr>
                        <a:t>ms</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69009">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TC-27</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CPU usage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&lt; 80%</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69009">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TC-28</a:t>
                      </a:r>
                      <a:endParaRPr lang="en" sz="1600" b="1" dirty="0" smtClean="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Memory usage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Stable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97021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2"/>
        <p:cNvGrpSpPr/>
        <p:nvPr/>
      </p:nvGrpSpPr>
      <p:grpSpPr>
        <a:xfrm>
          <a:off x="0" y="0"/>
          <a:ext cx="0" cy="0"/>
          <a:chOff x="0" y="0"/>
          <a:chExt cx="0" cy="0"/>
        </a:xfrm>
      </p:grpSpPr>
      <p:sp>
        <p:nvSpPr>
          <p:cNvPr id="1613" name="Google Shape;1613;p57"/>
          <p:cNvSpPr txBox="1">
            <a:spLocks noGrp="1"/>
          </p:cNvSpPr>
          <p:nvPr>
            <p:ph type="title"/>
          </p:nvPr>
        </p:nvSpPr>
        <p:spPr>
          <a:xfrm>
            <a:off x="1478140" y="159129"/>
            <a:ext cx="6162501" cy="836928"/>
          </a:xfrm>
          <a:prstGeom prst="rect">
            <a:avLst/>
          </a:prstGeom>
        </p:spPr>
        <p:txBody>
          <a:bodyPr spcFirstLastPara="1" wrap="square" lIns="90000" tIns="91425" rIns="90000" bIns="91425" anchor="ctr" anchorCtr="0">
            <a:noAutofit/>
          </a:bodyPr>
          <a:lstStyle/>
          <a:p>
            <a:pPr marL="0" lvl="0" indent="0" algn="ctr" rtl="0">
              <a:spcBef>
                <a:spcPts val="0"/>
              </a:spcBef>
              <a:spcAft>
                <a:spcPts val="0"/>
              </a:spcAft>
              <a:buNone/>
            </a:pPr>
            <a:r>
              <a:rPr lang="en" sz="3600" dirty="0"/>
              <a:t>B</a:t>
            </a:r>
            <a:r>
              <a:rPr lang="en" sz="3600" dirty="0" smtClean="0"/>
              <a:t>. Non-Functional Cases</a:t>
            </a:r>
            <a:endParaRPr sz="3600" dirty="0"/>
          </a:p>
        </p:txBody>
      </p:sp>
      <p:graphicFrame>
        <p:nvGraphicFramePr>
          <p:cNvPr id="89" name="Google Shape;698;p43"/>
          <p:cNvGraphicFramePr/>
          <p:nvPr>
            <p:extLst>
              <p:ext uri="{D42A27DB-BD31-4B8C-83A1-F6EECF244321}">
                <p14:modId xmlns:p14="http://schemas.microsoft.com/office/powerpoint/2010/main" val="3530948272"/>
              </p:ext>
            </p:extLst>
          </p:nvPr>
        </p:nvGraphicFramePr>
        <p:xfrm>
          <a:off x="910670" y="1248229"/>
          <a:ext cx="7447428" cy="3489054"/>
        </p:xfrm>
        <a:graphic>
          <a:graphicData uri="http://schemas.openxmlformats.org/drawingml/2006/table">
            <a:tbl>
              <a:tblPr>
                <a:noFill/>
              </a:tblPr>
              <a:tblGrid>
                <a:gridCol w="2482476">
                  <a:extLst>
                    <a:ext uri="{9D8B030D-6E8A-4147-A177-3AD203B41FA5}">
                      <a16:colId xmlns:a16="http://schemas.microsoft.com/office/drawing/2014/main" val="20000"/>
                    </a:ext>
                  </a:extLst>
                </a:gridCol>
                <a:gridCol w="2482476">
                  <a:extLst>
                    <a:ext uri="{9D8B030D-6E8A-4147-A177-3AD203B41FA5}">
                      <a16:colId xmlns:a16="http://schemas.microsoft.com/office/drawing/2014/main" val="1186318376"/>
                    </a:ext>
                  </a:extLst>
                </a:gridCol>
                <a:gridCol w="2482476">
                  <a:extLst>
                    <a:ext uri="{9D8B030D-6E8A-4147-A177-3AD203B41FA5}">
                      <a16:colId xmlns:a16="http://schemas.microsoft.com/office/drawing/2014/main" val="3049769508"/>
                    </a:ext>
                  </a:extLst>
                </a:gridCol>
              </a:tblGrid>
              <a:tr h="588889">
                <a:tc gridSpan="3">
                  <a:txBody>
                    <a:bodyPr/>
                    <a:lstStyle/>
                    <a:p>
                      <a:pPr marL="0" lvl="0" indent="0" algn="ctr" rtl="0">
                        <a:spcBef>
                          <a:spcPts val="0"/>
                        </a:spcBef>
                        <a:spcAft>
                          <a:spcPts val="0"/>
                        </a:spcAft>
                        <a:buNone/>
                      </a:pPr>
                      <a:r>
                        <a:rPr lang="en" sz="2400" b="1" dirty="0" smtClean="0">
                          <a:solidFill>
                            <a:schemeClr val="tx1"/>
                          </a:solidFill>
                          <a:latin typeface="Montserrat Black"/>
                          <a:ea typeface="Montserrat Black"/>
                          <a:cs typeface="Montserrat Black"/>
                          <a:sym typeface="Montserrat Black"/>
                        </a:rPr>
                        <a:t>B2. </a:t>
                      </a:r>
                      <a:r>
                        <a:rPr lang="en-US" sz="2400" b="1" dirty="0" smtClean="0">
                          <a:solidFill>
                            <a:schemeClr val="tx1"/>
                          </a:solidFill>
                          <a:latin typeface="Montserrat Black"/>
                          <a:ea typeface="Montserrat Black"/>
                          <a:cs typeface="Montserrat Black"/>
                          <a:sym typeface="Montserrat Black"/>
                        </a:rPr>
                        <a:t>Usability Testing</a:t>
                      </a:r>
                      <a:endParaRPr sz="24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54335">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ID</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CASE</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EXPECTED</a:t>
                      </a:r>
                      <a:r>
                        <a:rPr lang="en" b="1" baseline="0" dirty="0" smtClean="0">
                          <a:solidFill>
                            <a:schemeClr val="tx1"/>
                          </a:solidFill>
                          <a:latin typeface="Montserrat Medium"/>
                          <a:ea typeface="Montserrat Medium"/>
                          <a:cs typeface="Montserrat Medium"/>
                          <a:sym typeface="Montserrat Medium"/>
                        </a:rPr>
                        <a:t> RESULT</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38803">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TC-29</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First-time user</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Can run without help</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69009">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TC-30</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UI clarity</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Buttons understandable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69009">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TC-31</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Report readability</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Easy to interpret</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69009">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TC-32</a:t>
                      </a:r>
                      <a:endParaRPr lang="en" sz="1600" b="1" dirty="0" smtClean="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Error messages</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Clear</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89262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2"/>
        <p:cNvGrpSpPr/>
        <p:nvPr/>
      </p:nvGrpSpPr>
      <p:grpSpPr>
        <a:xfrm>
          <a:off x="0" y="0"/>
          <a:ext cx="0" cy="0"/>
          <a:chOff x="0" y="0"/>
          <a:chExt cx="0" cy="0"/>
        </a:xfrm>
      </p:grpSpPr>
      <p:sp>
        <p:nvSpPr>
          <p:cNvPr id="1613" name="Google Shape;1613;p57"/>
          <p:cNvSpPr txBox="1">
            <a:spLocks noGrp="1"/>
          </p:cNvSpPr>
          <p:nvPr>
            <p:ph type="title"/>
          </p:nvPr>
        </p:nvSpPr>
        <p:spPr>
          <a:xfrm>
            <a:off x="1478140" y="159129"/>
            <a:ext cx="6162501" cy="836928"/>
          </a:xfrm>
          <a:prstGeom prst="rect">
            <a:avLst/>
          </a:prstGeom>
        </p:spPr>
        <p:txBody>
          <a:bodyPr spcFirstLastPara="1" wrap="square" lIns="90000" tIns="91425" rIns="90000" bIns="91425" anchor="ctr" anchorCtr="0">
            <a:noAutofit/>
          </a:bodyPr>
          <a:lstStyle/>
          <a:p>
            <a:pPr marL="0" lvl="0" indent="0" algn="ctr" rtl="0">
              <a:spcBef>
                <a:spcPts val="0"/>
              </a:spcBef>
              <a:spcAft>
                <a:spcPts val="0"/>
              </a:spcAft>
              <a:buNone/>
            </a:pPr>
            <a:r>
              <a:rPr lang="en" sz="3600" dirty="0"/>
              <a:t>B</a:t>
            </a:r>
            <a:r>
              <a:rPr lang="en" sz="3600" dirty="0" smtClean="0"/>
              <a:t>. Non-Functional Cases</a:t>
            </a:r>
            <a:endParaRPr sz="3600" dirty="0"/>
          </a:p>
        </p:txBody>
      </p:sp>
      <p:graphicFrame>
        <p:nvGraphicFramePr>
          <p:cNvPr id="89" name="Google Shape;698;p43"/>
          <p:cNvGraphicFramePr/>
          <p:nvPr>
            <p:extLst>
              <p:ext uri="{D42A27DB-BD31-4B8C-83A1-F6EECF244321}">
                <p14:modId xmlns:p14="http://schemas.microsoft.com/office/powerpoint/2010/main" val="531579917"/>
              </p:ext>
            </p:extLst>
          </p:nvPr>
        </p:nvGraphicFramePr>
        <p:xfrm>
          <a:off x="910670" y="1248229"/>
          <a:ext cx="7447428" cy="3489054"/>
        </p:xfrm>
        <a:graphic>
          <a:graphicData uri="http://schemas.openxmlformats.org/drawingml/2006/table">
            <a:tbl>
              <a:tblPr>
                <a:noFill/>
              </a:tblPr>
              <a:tblGrid>
                <a:gridCol w="2482476">
                  <a:extLst>
                    <a:ext uri="{9D8B030D-6E8A-4147-A177-3AD203B41FA5}">
                      <a16:colId xmlns:a16="http://schemas.microsoft.com/office/drawing/2014/main" val="20000"/>
                    </a:ext>
                  </a:extLst>
                </a:gridCol>
                <a:gridCol w="2482476">
                  <a:extLst>
                    <a:ext uri="{9D8B030D-6E8A-4147-A177-3AD203B41FA5}">
                      <a16:colId xmlns:a16="http://schemas.microsoft.com/office/drawing/2014/main" val="1186318376"/>
                    </a:ext>
                  </a:extLst>
                </a:gridCol>
                <a:gridCol w="2482476">
                  <a:extLst>
                    <a:ext uri="{9D8B030D-6E8A-4147-A177-3AD203B41FA5}">
                      <a16:colId xmlns:a16="http://schemas.microsoft.com/office/drawing/2014/main" val="3049769508"/>
                    </a:ext>
                  </a:extLst>
                </a:gridCol>
              </a:tblGrid>
              <a:tr h="588889">
                <a:tc gridSpan="3">
                  <a:txBody>
                    <a:bodyPr/>
                    <a:lstStyle/>
                    <a:p>
                      <a:pPr marL="0" lvl="0" indent="0" algn="ctr" rtl="0">
                        <a:spcBef>
                          <a:spcPts val="0"/>
                        </a:spcBef>
                        <a:spcAft>
                          <a:spcPts val="0"/>
                        </a:spcAft>
                        <a:buNone/>
                      </a:pPr>
                      <a:r>
                        <a:rPr lang="en" sz="2400" b="1" dirty="0" smtClean="0">
                          <a:solidFill>
                            <a:schemeClr val="tx1"/>
                          </a:solidFill>
                          <a:latin typeface="Montserrat Black"/>
                          <a:ea typeface="Montserrat Black"/>
                          <a:cs typeface="Montserrat Black"/>
                          <a:sym typeface="Montserrat Black"/>
                        </a:rPr>
                        <a:t>B3. </a:t>
                      </a:r>
                      <a:r>
                        <a:rPr lang="en-US" sz="2400" b="1" dirty="0" smtClean="0">
                          <a:solidFill>
                            <a:schemeClr val="tx1"/>
                          </a:solidFill>
                          <a:latin typeface="Montserrat Black"/>
                          <a:ea typeface="Montserrat Black"/>
                          <a:cs typeface="Montserrat Black"/>
                          <a:sym typeface="Montserrat Black"/>
                        </a:rPr>
                        <a:t>Security Testing</a:t>
                      </a:r>
                      <a:endParaRPr sz="24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54335">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ID</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CASE</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EXPECTED</a:t>
                      </a:r>
                      <a:r>
                        <a:rPr lang="en" b="1" baseline="0" dirty="0" smtClean="0">
                          <a:solidFill>
                            <a:schemeClr val="tx1"/>
                          </a:solidFill>
                          <a:latin typeface="Montserrat Medium"/>
                          <a:ea typeface="Montserrat Medium"/>
                          <a:cs typeface="Montserrat Medium"/>
                          <a:sym typeface="Montserrat Medium"/>
                        </a:rPr>
                        <a:t> RESULT</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38803">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TC-33</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Invalid file upload</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Rejected</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69009">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TC-34</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Large file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Handled</a:t>
                      </a:r>
                      <a:r>
                        <a:rPr lang="en-US" sz="1200" b="1" baseline="0" dirty="0" smtClean="0">
                          <a:solidFill>
                            <a:schemeClr val="tx1"/>
                          </a:solidFill>
                          <a:latin typeface="Montserrat Medium"/>
                          <a:ea typeface="Montserrat Medium"/>
                          <a:cs typeface="Montserrat Medium"/>
                          <a:sym typeface="Montserrat Medium"/>
                        </a:rPr>
                        <a:t> safely</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69009">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TC-35</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Data privacy</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No external leaks</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69009">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TC-36</a:t>
                      </a:r>
                      <a:endParaRPr lang="en" sz="1600" b="1" dirty="0" smtClean="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Path injection</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Prevented</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6917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12"/>
        <p:cNvGrpSpPr/>
        <p:nvPr/>
      </p:nvGrpSpPr>
      <p:grpSpPr>
        <a:xfrm>
          <a:off x="0" y="0"/>
          <a:ext cx="0" cy="0"/>
          <a:chOff x="0" y="0"/>
          <a:chExt cx="0" cy="0"/>
        </a:xfrm>
      </p:grpSpPr>
      <p:sp>
        <p:nvSpPr>
          <p:cNvPr id="1613" name="Google Shape;1613;p57"/>
          <p:cNvSpPr txBox="1">
            <a:spLocks noGrp="1"/>
          </p:cNvSpPr>
          <p:nvPr>
            <p:ph type="title"/>
          </p:nvPr>
        </p:nvSpPr>
        <p:spPr>
          <a:xfrm>
            <a:off x="1478140" y="159129"/>
            <a:ext cx="6162501" cy="836928"/>
          </a:xfrm>
          <a:prstGeom prst="rect">
            <a:avLst/>
          </a:prstGeom>
        </p:spPr>
        <p:txBody>
          <a:bodyPr spcFirstLastPara="1" wrap="square" lIns="90000" tIns="91425" rIns="90000" bIns="91425" anchor="ctr" anchorCtr="0">
            <a:noAutofit/>
          </a:bodyPr>
          <a:lstStyle/>
          <a:p>
            <a:pPr marL="0" lvl="0" indent="0" algn="ctr" rtl="0">
              <a:spcBef>
                <a:spcPts val="0"/>
              </a:spcBef>
              <a:spcAft>
                <a:spcPts val="0"/>
              </a:spcAft>
              <a:buNone/>
            </a:pPr>
            <a:r>
              <a:rPr lang="en" sz="3600" dirty="0"/>
              <a:t>B</a:t>
            </a:r>
            <a:r>
              <a:rPr lang="en" sz="3600" dirty="0" smtClean="0"/>
              <a:t>. Non-Functional Cases</a:t>
            </a:r>
            <a:endParaRPr sz="3600" dirty="0"/>
          </a:p>
        </p:txBody>
      </p:sp>
      <p:graphicFrame>
        <p:nvGraphicFramePr>
          <p:cNvPr id="89" name="Google Shape;698;p43"/>
          <p:cNvGraphicFramePr/>
          <p:nvPr>
            <p:extLst>
              <p:ext uri="{D42A27DB-BD31-4B8C-83A1-F6EECF244321}">
                <p14:modId xmlns:p14="http://schemas.microsoft.com/office/powerpoint/2010/main" val="1445565649"/>
              </p:ext>
            </p:extLst>
          </p:nvPr>
        </p:nvGraphicFramePr>
        <p:xfrm>
          <a:off x="848286" y="850034"/>
          <a:ext cx="7447428" cy="3909485"/>
        </p:xfrm>
        <a:graphic>
          <a:graphicData uri="http://schemas.openxmlformats.org/drawingml/2006/table">
            <a:tbl>
              <a:tblPr>
                <a:noFill/>
              </a:tblPr>
              <a:tblGrid>
                <a:gridCol w="2482476">
                  <a:extLst>
                    <a:ext uri="{9D8B030D-6E8A-4147-A177-3AD203B41FA5}">
                      <a16:colId xmlns:a16="http://schemas.microsoft.com/office/drawing/2014/main" val="20000"/>
                    </a:ext>
                  </a:extLst>
                </a:gridCol>
                <a:gridCol w="2482476">
                  <a:extLst>
                    <a:ext uri="{9D8B030D-6E8A-4147-A177-3AD203B41FA5}">
                      <a16:colId xmlns:a16="http://schemas.microsoft.com/office/drawing/2014/main" val="1186318376"/>
                    </a:ext>
                  </a:extLst>
                </a:gridCol>
                <a:gridCol w="2482476">
                  <a:extLst>
                    <a:ext uri="{9D8B030D-6E8A-4147-A177-3AD203B41FA5}">
                      <a16:colId xmlns:a16="http://schemas.microsoft.com/office/drawing/2014/main" val="3049769508"/>
                    </a:ext>
                  </a:extLst>
                </a:gridCol>
              </a:tblGrid>
              <a:tr h="488454">
                <a:tc gridSpan="3">
                  <a:txBody>
                    <a:bodyPr/>
                    <a:lstStyle/>
                    <a:p>
                      <a:pPr marL="0" lvl="0" indent="0" algn="ctr" rtl="0">
                        <a:spcBef>
                          <a:spcPts val="0"/>
                        </a:spcBef>
                        <a:spcAft>
                          <a:spcPts val="0"/>
                        </a:spcAft>
                        <a:buNone/>
                      </a:pPr>
                      <a:r>
                        <a:rPr lang="en" sz="2400" b="1" dirty="0" smtClean="0">
                          <a:solidFill>
                            <a:schemeClr val="tx1"/>
                          </a:solidFill>
                          <a:latin typeface="Montserrat Black"/>
                          <a:ea typeface="Montserrat Black"/>
                          <a:cs typeface="Montserrat Black"/>
                          <a:sym typeface="Montserrat Black"/>
                        </a:rPr>
                        <a:t>B4. </a:t>
                      </a:r>
                      <a:r>
                        <a:rPr lang="en-US" sz="2400" b="1" dirty="0" smtClean="0">
                          <a:solidFill>
                            <a:schemeClr val="tx1"/>
                          </a:solidFill>
                          <a:latin typeface="Montserrat Black"/>
                          <a:ea typeface="Montserrat Black"/>
                          <a:cs typeface="Montserrat Black"/>
                          <a:sym typeface="Montserrat Black"/>
                        </a:rPr>
                        <a:t>Reliability Testing</a:t>
                      </a:r>
                      <a:endParaRPr sz="24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42739">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ID</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TEST</a:t>
                      </a:r>
                      <a:r>
                        <a:rPr lang="en" b="1" baseline="0" dirty="0" smtClean="0">
                          <a:solidFill>
                            <a:schemeClr val="tx1"/>
                          </a:solidFill>
                          <a:latin typeface="Montserrat Medium"/>
                          <a:ea typeface="Montserrat Medium"/>
                          <a:cs typeface="Montserrat Medium"/>
                          <a:sym typeface="Montserrat Medium"/>
                        </a:rPr>
                        <a:t> CASE</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tx1"/>
                          </a:solidFill>
                          <a:latin typeface="Montserrat Medium"/>
                          <a:ea typeface="Montserrat Medium"/>
                          <a:cs typeface="Montserrat Medium"/>
                          <a:sym typeface="Montserrat Medium"/>
                        </a:rPr>
                        <a:t>EXPECTED</a:t>
                      </a:r>
                      <a:r>
                        <a:rPr lang="en" b="1" baseline="0" dirty="0" smtClean="0">
                          <a:solidFill>
                            <a:schemeClr val="tx1"/>
                          </a:solidFill>
                          <a:latin typeface="Montserrat Medium"/>
                          <a:ea typeface="Montserrat Medium"/>
                          <a:cs typeface="Montserrat Medium"/>
                          <a:sym typeface="Montserrat Medium"/>
                        </a:rPr>
                        <a:t> RESULT</a:t>
                      </a:r>
                      <a:endParaRPr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46911">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TC-37</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Multiple runs</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Stable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71965">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TC-38</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Restart system (Recovery)</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Works again</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83365">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TC-39</a:t>
                      </a:r>
                      <a:endParaRPr sz="1600" b="1" dirty="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Load testing</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Expected user loads</a:t>
                      </a:r>
                      <a:r>
                        <a:rPr lang="en-US" sz="1200" b="1" baseline="0" dirty="0" smtClean="0">
                          <a:solidFill>
                            <a:schemeClr val="tx1"/>
                          </a:solidFill>
                          <a:latin typeface="Montserrat Medium"/>
                          <a:ea typeface="Montserrat Medium"/>
                          <a:cs typeface="Montserrat Medium"/>
                          <a:sym typeface="Montserrat Medium"/>
                        </a:rPr>
                        <a:t> processed</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71965">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TC-40</a:t>
                      </a:r>
                      <a:endParaRPr lang="en" sz="1600" b="1" dirty="0" smtClean="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Feature testing</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Individual functions working</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71965">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TC-41</a:t>
                      </a:r>
                      <a:endParaRPr lang="en" sz="1600" b="1" dirty="0" smtClean="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Endurance</a:t>
                      </a:r>
                      <a:r>
                        <a:rPr lang="en-US" sz="1200" b="1" baseline="0" dirty="0" smtClean="0">
                          <a:solidFill>
                            <a:schemeClr val="tx1"/>
                          </a:solidFill>
                          <a:latin typeface="Montserrat Medium"/>
                          <a:ea typeface="Montserrat Medium"/>
                          <a:cs typeface="Montserrat Medium"/>
                          <a:sym typeface="Montserrat Medium"/>
                        </a:rPr>
                        <a:t> testing</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Stable</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867548"/>
                  </a:ext>
                </a:extLst>
              </a:tr>
              <a:tr h="471965">
                <a:tc>
                  <a:txBody>
                    <a:bodyPr/>
                    <a:lstStyle/>
                    <a:p>
                      <a:pPr marL="0" lvl="0" indent="0" algn="ctr" rtl="0">
                        <a:spcBef>
                          <a:spcPts val="0"/>
                        </a:spcBef>
                        <a:spcAft>
                          <a:spcPts val="0"/>
                        </a:spcAft>
                        <a:buNone/>
                      </a:pPr>
                      <a:r>
                        <a:rPr lang="en" sz="1600" b="1" dirty="0" smtClean="0">
                          <a:solidFill>
                            <a:schemeClr val="tx1"/>
                          </a:solidFill>
                          <a:latin typeface="Montserrat Black"/>
                          <a:ea typeface="Montserrat Black"/>
                          <a:cs typeface="Montserrat Black"/>
                          <a:sym typeface="Montserrat Black"/>
                        </a:rPr>
                        <a:t>TC-42</a:t>
                      </a:r>
                      <a:endParaRPr lang="en" sz="1600" b="1" dirty="0" smtClean="0">
                        <a:solidFill>
                          <a:schemeClr val="tx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Mean Time To Repair</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b="1" dirty="0" smtClean="0">
                          <a:solidFill>
                            <a:schemeClr val="tx1"/>
                          </a:solidFill>
                          <a:latin typeface="Montserrat Medium"/>
                          <a:ea typeface="Montserrat Medium"/>
                          <a:cs typeface="Montserrat Medium"/>
                          <a:sym typeface="Montserrat Medium"/>
                        </a:rPr>
                        <a:t>&lt;</a:t>
                      </a:r>
                      <a:r>
                        <a:rPr lang="en-US" sz="1200" b="1" baseline="0" dirty="0" smtClean="0">
                          <a:solidFill>
                            <a:schemeClr val="tx1"/>
                          </a:solidFill>
                          <a:latin typeface="Montserrat Medium"/>
                          <a:ea typeface="Montserrat Medium"/>
                          <a:cs typeface="Montserrat Medium"/>
                          <a:sym typeface="Montserrat Medium"/>
                        </a:rPr>
                        <a:t> 1s</a:t>
                      </a:r>
                      <a:endParaRPr sz="1200" b="1" dirty="0">
                        <a:solidFill>
                          <a:schemeClr val="tx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6808715"/>
                  </a:ext>
                </a:extLst>
              </a:tr>
            </a:tbl>
          </a:graphicData>
        </a:graphic>
      </p:graphicFrame>
    </p:spTree>
    <p:extLst>
      <p:ext uri="{BB962C8B-B14F-4D97-AF65-F5344CB8AC3E}">
        <p14:creationId xmlns:p14="http://schemas.microsoft.com/office/powerpoint/2010/main" val="3696232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31"/>
        <p:cNvGrpSpPr/>
        <p:nvPr/>
      </p:nvGrpSpPr>
      <p:grpSpPr>
        <a:xfrm>
          <a:off x="0" y="0"/>
          <a:ext cx="0" cy="0"/>
          <a:chOff x="0" y="0"/>
          <a:chExt cx="0" cy="0"/>
        </a:xfrm>
      </p:grpSpPr>
      <p:sp>
        <p:nvSpPr>
          <p:cNvPr id="232" name="Google Shape;232;p37"/>
          <p:cNvSpPr txBox="1">
            <a:spLocks noGrp="1"/>
          </p:cNvSpPr>
          <p:nvPr>
            <p:ph type="title"/>
          </p:nvPr>
        </p:nvSpPr>
        <p:spPr>
          <a:xfrm>
            <a:off x="715100" y="1748375"/>
            <a:ext cx="3733200" cy="1664100"/>
          </a:xfrm>
          <a:prstGeom prst="rect">
            <a:avLst/>
          </a:prstGeom>
        </p:spPr>
        <p:txBody>
          <a:bodyPr spcFirstLastPara="1" wrap="square" lIns="91425" tIns="0" rIns="91425" bIns="0" anchor="ctr" anchorCtr="0">
            <a:noAutofit/>
          </a:bodyPr>
          <a:lstStyle/>
          <a:p>
            <a:pPr marL="0" lvl="0" indent="0" algn="r" rtl="0">
              <a:spcBef>
                <a:spcPts val="0"/>
              </a:spcBef>
              <a:spcAft>
                <a:spcPts val="0"/>
              </a:spcAft>
              <a:buNone/>
            </a:pPr>
            <a:r>
              <a:rPr lang="en" dirty="0" smtClean="0"/>
              <a:t>Usability </a:t>
            </a:r>
            <a:br>
              <a:rPr lang="en" dirty="0" smtClean="0"/>
            </a:br>
            <a:r>
              <a:rPr lang="en" dirty="0" smtClean="0"/>
              <a:t>testing</a:t>
            </a:r>
            <a:endParaRPr dirty="0"/>
          </a:p>
        </p:txBody>
      </p:sp>
      <p:sp>
        <p:nvSpPr>
          <p:cNvPr id="233" name="Google Shape;233;p37"/>
          <p:cNvSpPr txBox="1">
            <a:spLocks noGrp="1"/>
          </p:cNvSpPr>
          <p:nvPr>
            <p:ph type="title" idx="2"/>
          </p:nvPr>
        </p:nvSpPr>
        <p:spPr>
          <a:xfrm>
            <a:off x="4648200" y="1748375"/>
            <a:ext cx="2286000" cy="1664100"/>
          </a:xfrm>
          <a:prstGeom prst="rect">
            <a:avLst/>
          </a:prstGeom>
        </p:spPr>
        <p:txBody>
          <a:bodyPr spcFirstLastPara="1" wrap="square" lIns="91425" tIns="0" rIns="91425" bIns="0" anchor="ctr" anchorCtr="0">
            <a:noAutofit/>
          </a:bodyPr>
          <a:lstStyle/>
          <a:p>
            <a:pPr marL="0" lvl="0" indent="0" algn="l" rtl="0">
              <a:spcBef>
                <a:spcPts val="0"/>
              </a:spcBef>
              <a:spcAft>
                <a:spcPts val="0"/>
              </a:spcAft>
              <a:buNone/>
            </a:pPr>
            <a:r>
              <a:rPr lang="en" dirty="0" smtClean="0"/>
              <a:t>02</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11"/>
        <p:cNvGrpSpPr/>
        <p:nvPr/>
      </p:nvGrpSpPr>
      <p:grpSpPr>
        <a:xfrm>
          <a:off x="0" y="0"/>
          <a:ext cx="0" cy="0"/>
          <a:chOff x="0" y="0"/>
          <a:chExt cx="0" cy="0"/>
        </a:xfrm>
      </p:grpSpPr>
      <p:sp>
        <p:nvSpPr>
          <p:cNvPr id="212" name="Google Shape;212;p35"/>
          <p:cNvSpPr txBox="1">
            <a:spLocks noGrp="1"/>
          </p:cNvSpPr>
          <p:nvPr>
            <p:ph type="subTitle" idx="1"/>
          </p:nvPr>
        </p:nvSpPr>
        <p:spPr>
          <a:xfrm>
            <a:off x="4765575" y="1657350"/>
            <a:ext cx="3657600" cy="1828800"/>
          </a:xfrm>
          <a:prstGeom prst="rect">
            <a:avLst/>
          </a:prstGeom>
        </p:spPr>
        <p:txBody>
          <a:bodyPr spcFirstLastPara="1" wrap="square" lIns="91425" tIns="0" rIns="91425" bIns="0" anchor="ctr" anchorCtr="0">
            <a:noAutofit/>
          </a:bodyPr>
          <a:lstStyle/>
          <a:p>
            <a:pPr marL="0" lvl="0" indent="0"/>
            <a:r>
              <a:rPr lang="en-US" dirty="0"/>
              <a:t>Measure:</a:t>
            </a:r>
          </a:p>
          <a:p>
            <a:pPr marL="285750" lvl="0" indent="-285750">
              <a:lnSpc>
                <a:spcPct val="150000"/>
              </a:lnSpc>
              <a:buClr>
                <a:schemeClr val="bg1"/>
              </a:buClr>
              <a:buFont typeface="Arial" panose="020B0604020202020204" pitchFamily="34" charset="0"/>
              <a:buChar char="•"/>
            </a:pPr>
            <a:r>
              <a:rPr lang="en-US" dirty="0"/>
              <a:t>Time to complete tasks </a:t>
            </a:r>
          </a:p>
          <a:p>
            <a:pPr marL="285750" lvl="0" indent="-285750">
              <a:lnSpc>
                <a:spcPct val="150000"/>
              </a:lnSpc>
              <a:buClr>
                <a:schemeClr val="bg1"/>
              </a:buClr>
              <a:buFont typeface="Arial" panose="020B0604020202020204" pitchFamily="34" charset="0"/>
              <a:buChar char="•"/>
            </a:pPr>
            <a:r>
              <a:rPr lang="en-US" dirty="0"/>
              <a:t>Number of errors </a:t>
            </a:r>
          </a:p>
          <a:p>
            <a:pPr marL="285750" lvl="0" indent="-285750">
              <a:lnSpc>
                <a:spcPct val="150000"/>
              </a:lnSpc>
              <a:buClr>
                <a:schemeClr val="bg1"/>
              </a:buClr>
              <a:buFont typeface="Arial" panose="020B0604020202020204" pitchFamily="34" charset="0"/>
              <a:buChar char="•"/>
            </a:pPr>
            <a:r>
              <a:rPr lang="en-US" dirty="0"/>
              <a:t>Task success rate</a:t>
            </a:r>
          </a:p>
          <a:p>
            <a:pPr marL="285750" lvl="0" indent="-285750">
              <a:lnSpc>
                <a:spcPct val="150000"/>
              </a:lnSpc>
              <a:buClr>
                <a:schemeClr val="bg1"/>
              </a:buClr>
              <a:buFont typeface="Arial" panose="020B0604020202020204" pitchFamily="34" charset="0"/>
              <a:buChar char="•"/>
            </a:pPr>
            <a:r>
              <a:rPr lang="en-US" dirty="0"/>
              <a:t>Participants: 5–10 users</a:t>
            </a:r>
          </a:p>
          <a:p>
            <a:pPr marL="285750" lvl="0" indent="-285750">
              <a:lnSpc>
                <a:spcPct val="150000"/>
              </a:lnSpc>
              <a:buClr>
                <a:schemeClr val="bg1"/>
              </a:buClr>
              <a:buFont typeface="Arial" panose="020B0604020202020204" pitchFamily="34" charset="0"/>
              <a:buChar char="•"/>
            </a:pPr>
            <a:r>
              <a:rPr lang="en-US" dirty="0"/>
              <a:t>User satisfaction</a:t>
            </a:r>
          </a:p>
        </p:txBody>
      </p:sp>
      <p:sp>
        <p:nvSpPr>
          <p:cNvPr id="213" name="Google Shape;213;p35"/>
          <p:cNvSpPr txBox="1">
            <a:spLocks noGrp="1"/>
          </p:cNvSpPr>
          <p:nvPr>
            <p:ph type="title"/>
          </p:nvPr>
        </p:nvSpPr>
        <p:spPr>
          <a:xfrm>
            <a:off x="715100" y="1657350"/>
            <a:ext cx="3657600" cy="1828800"/>
          </a:xfrm>
          <a:prstGeom prst="rect">
            <a:avLst/>
          </a:prstGeom>
        </p:spPr>
        <p:txBody>
          <a:bodyPr spcFirstLastPara="1" wrap="square" lIns="91425" tIns="0" rIns="91425" bIns="0" anchor="ctr" anchorCtr="0">
            <a:noAutofit/>
          </a:bodyPr>
          <a:lstStyle/>
          <a:p>
            <a:pPr marL="0" lvl="0" indent="0" algn="r" rtl="0">
              <a:spcBef>
                <a:spcPts val="0"/>
              </a:spcBef>
              <a:spcAft>
                <a:spcPts val="0"/>
              </a:spcAft>
              <a:buNone/>
            </a:pPr>
            <a:r>
              <a:rPr lang="en" dirty="0" smtClean="0"/>
              <a:t>Testing </a:t>
            </a:r>
            <a:br>
              <a:rPr lang="en" dirty="0" smtClean="0"/>
            </a:br>
            <a:r>
              <a:rPr lang="en" dirty="0" smtClean="0"/>
              <a:t>plan</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Shape 324"/>
        <p:cNvGrpSpPr/>
        <p:nvPr/>
      </p:nvGrpSpPr>
      <p:grpSpPr>
        <a:xfrm>
          <a:off x="0" y="0"/>
          <a:ext cx="0" cy="0"/>
          <a:chOff x="0" y="0"/>
          <a:chExt cx="0" cy="0"/>
        </a:xfrm>
      </p:grpSpPr>
      <p:sp>
        <p:nvSpPr>
          <p:cNvPr id="326" name="Google Shape;326;p35"/>
          <p:cNvSpPr txBox="1">
            <a:spLocks noGrp="1"/>
          </p:cNvSpPr>
          <p:nvPr>
            <p:ph type="title" idx="4294967295"/>
          </p:nvPr>
        </p:nvSpPr>
        <p:spPr>
          <a:xfrm>
            <a:off x="0" y="539750"/>
            <a:ext cx="7702550" cy="676275"/>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dirty="0" smtClean="0"/>
              <a:t>Metrics to Test Usability</a:t>
            </a:r>
            <a:endParaRPr dirty="0"/>
          </a:p>
        </p:txBody>
      </p:sp>
      <p:graphicFrame>
        <p:nvGraphicFramePr>
          <p:cNvPr id="329" name="Google Shape;329;p35"/>
          <p:cNvGraphicFramePr/>
          <p:nvPr>
            <p:extLst>
              <p:ext uri="{D42A27DB-BD31-4B8C-83A1-F6EECF244321}">
                <p14:modId xmlns:p14="http://schemas.microsoft.com/office/powerpoint/2010/main" val="3304507410"/>
              </p:ext>
            </p:extLst>
          </p:nvPr>
        </p:nvGraphicFramePr>
        <p:xfrm>
          <a:off x="720000" y="1576514"/>
          <a:ext cx="7704000" cy="1653390"/>
        </p:xfrm>
        <a:graphic>
          <a:graphicData uri="http://schemas.openxmlformats.org/drawingml/2006/table">
            <a:tbl>
              <a:tblPr>
                <a:noFill/>
              </a:tblPr>
              <a:tblGrid>
                <a:gridCol w="1849029">
                  <a:extLst>
                    <a:ext uri="{9D8B030D-6E8A-4147-A177-3AD203B41FA5}">
                      <a16:colId xmlns:a16="http://schemas.microsoft.com/office/drawing/2014/main" val="20000"/>
                    </a:ext>
                  </a:extLst>
                </a:gridCol>
                <a:gridCol w="2654590">
                  <a:extLst>
                    <a:ext uri="{9D8B030D-6E8A-4147-A177-3AD203B41FA5}">
                      <a16:colId xmlns:a16="http://schemas.microsoft.com/office/drawing/2014/main" val="20001"/>
                    </a:ext>
                  </a:extLst>
                </a:gridCol>
                <a:gridCol w="3200381">
                  <a:extLst>
                    <a:ext uri="{9D8B030D-6E8A-4147-A177-3AD203B41FA5}">
                      <a16:colId xmlns:a16="http://schemas.microsoft.com/office/drawing/2014/main" val="1634702740"/>
                    </a:ext>
                  </a:extLst>
                </a:gridCol>
              </a:tblGrid>
              <a:tr h="327600">
                <a:tc>
                  <a:txBody>
                    <a:bodyPr/>
                    <a:lstStyle/>
                    <a:p>
                      <a:pPr marL="0" lvl="0" indent="0" algn="ctr" rtl="0">
                        <a:spcBef>
                          <a:spcPts val="0"/>
                        </a:spcBef>
                        <a:spcAft>
                          <a:spcPts val="0"/>
                        </a:spcAft>
                        <a:buNone/>
                      </a:pPr>
                      <a:r>
                        <a:rPr lang="en" sz="1050" b="1" dirty="0" smtClean="0">
                          <a:solidFill>
                            <a:schemeClr val="hlink"/>
                          </a:solidFill>
                          <a:uFill>
                            <a:noFill/>
                          </a:uFill>
                          <a:latin typeface="Montserrat"/>
                          <a:ea typeface="Montserrat"/>
                          <a:cs typeface="Montserrat"/>
                          <a:sym typeface="Montserrat"/>
                        </a:rPr>
                        <a:t>Metric</a:t>
                      </a:r>
                      <a:endParaRPr sz="1050" b="1" dirty="0">
                        <a:solidFill>
                          <a:schemeClr val="dk1"/>
                        </a:solidFill>
                        <a:latin typeface="Montserrat"/>
                        <a:ea typeface="Montserrat"/>
                        <a:cs typeface="Montserrat"/>
                        <a:sym typeface="Montserra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marL="0" lvl="0" indent="0" algn="ctr" rtl="0">
                        <a:spcBef>
                          <a:spcPts val="0"/>
                        </a:spcBef>
                        <a:spcAft>
                          <a:spcPts val="1600"/>
                        </a:spcAft>
                        <a:buNone/>
                      </a:pPr>
                      <a:r>
                        <a:rPr lang="en" sz="1050" b="1" dirty="0" smtClean="0">
                          <a:solidFill>
                            <a:schemeClr val="dk1"/>
                          </a:solidFill>
                          <a:latin typeface="Montserrat Medium"/>
                          <a:ea typeface="Montserrat Medium"/>
                          <a:cs typeface="Montserrat Medium"/>
                          <a:sym typeface="Montserrat Medium"/>
                        </a:rPr>
                        <a:t>Description</a:t>
                      </a:r>
                      <a:endParaRPr sz="1050" b="1" dirty="0">
                        <a:solidFill>
                          <a:schemeClr val="dk1"/>
                        </a:solidFill>
                        <a:latin typeface="Montserrat Medium"/>
                        <a:ea typeface="Montserrat Medium"/>
                        <a:cs typeface="Montserrat Medium"/>
                        <a:sym typeface="Montserrat Medium"/>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marL="0" lvl="0" indent="0" algn="ctr" rtl="0">
                        <a:spcBef>
                          <a:spcPts val="0"/>
                        </a:spcBef>
                        <a:spcAft>
                          <a:spcPts val="1600"/>
                        </a:spcAft>
                        <a:buNone/>
                      </a:pPr>
                      <a:r>
                        <a:rPr lang="en-US" sz="1050" b="1" dirty="0" smtClean="0">
                          <a:solidFill>
                            <a:schemeClr val="dk1"/>
                          </a:solidFill>
                          <a:latin typeface="Montserrat Medium"/>
                          <a:ea typeface="Montserrat Medium"/>
                          <a:cs typeface="Montserrat Medium"/>
                          <a:sym typeface="Montserrat Medium"/>
                        </a:rPr>
                        <a:t>Results</a:t>
                      </a:r>
                      <a:endParaRPr sz="1050" b="1" dirty="0">
                        <a:solidFill>
                          <a:schemeClr val="dk1"/>
                        </a:solidFill>
                        <a:latin typeface="Montserrat Medium"/>
                        <a:ea typeface="Montserrat Medium"/>
                        <a:cs typeface="Montserrat Medium"/>
                        <a:sym typeface="Montserrat Medium"/>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0000"/>
                  </a:ext>
                </a:extLst>
              </a:tr>
              <a:tr h="327600">
                <a:tc>
                  <a:txBody>
                    <a:bodyPr/>
                    <a:lstStyle/>
                    <a:p>
                      <a:pPr marL="0" lvl="0" indent="0" algn="l" rtl="0">
                        <a:spcBef>
                          <a:spcPts val="0"/>
                        </a:spcBef>
                        <a:spcAft>
                          <a:spcPts val="0"/>
                        </a:spcAft>
                        <a:buNone/>
                      </a:pPr>
                      <a:r>
                        <a:rPr lang="en-US" sz="950" b="1" dirty="0" smtClean="0">
                          <a:solidFill>
                            <a:schemeClr val="hlink"/>
                          </a:solidFill>
                          <a:uFill>
                            <a:noFill/>
                          </a:uFill>
                          <a:latin typeface="Montserrat"/>
                          <a:ea typeface="Montserrat"/>
                          <a:cs typeface="Montserrat"/>
                          <a:sym typeface="Montserrat"/>
                        </a:rPr>
                        <a:t>Task Completion Rate</a:t>
                      </a:r>
                      <a:endParaRPr sz="950" b="1" dirty="0">
                        <a:solidFill>
                          <a:schemeClr val="dk1"/>
                        </a:solidFill>
                        <a:latin typeface="Montserrat"/>
                        <a:ea typeface="Montserrat"/>
                        <a:cs typeface="Montserrat"/>
                        <a:sym typeface="Montserra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1600"/>
                        </a:spcAft>
                        <a:buNone/>
                      </a:pPr>
                      <a:r>
                        <a:rPr lang="en-US" sz="950" dirty="0" smtClean="0">
                          <a:solidFill>
                            <a:schemeClr val="dk1"/>
                          </a:solidFill>
                          <a:latin typeface="Montserrat Medium"/>
                          <a:ea typeface="Montserrat Medium"/>
                          <a:cs typeface="Montserrat Medium"/>
                          <a:sym typeface="Montserrat Medium"/>
                        </a:rPr>
                        <a:t>% of users completed task</a:t>
                      </a:r>
                      <a:endParaRPr sz="950" dirty="0">
                        <a:solidFill>
                          <a:schemeClr val="dk1"/>
                        </a:solidFill>
                        <a:latin typeface="Montserrat Medium"/>
                        <a:ea typeface="Montserrat Medium"/>
                        <a:cs typeface="Montserrat Medium"/>
                        <a:sym typeface="Montserrat Medium"/>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1600"/>
                        </a:spcAft>
                        <a:buNone/>
                      </a:pPr>
                      <a:r>
                        <a:rPr lang="en-US" sz="950" dirty="0" smtClean="0">
                          <a:solidFill>
                            <a:schemeClr val="dk1"/>
                          </a:solidFill>
                          <a:latin typeface="Montserrat Medium"/>
                          <a:ea typeface="Montserrat Medium"/>
                          <a:cs typeface="Montserrat Medium"/>
                          <a:sym typeface="Montserrat Medium"/>
                        </a:rPr>
                        <a:t>100 %</a:t>
                      </a:r>
                      <a:endParaRPr sz="950" dirty="0">
                        <a:solidFill>
                          <a:schemeClr val="dk1"/>
                        </a:solidFill>
                        <a:latin typeface="Montserrat Medium"/>
                        <a:ea typeface="Montserrat Medium"/>
                        <a:cs typeface="Montserrat Medium"/>
                        <a:sym typeface="Montserrat Medium"/>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27600">
                <a:tc>
                  <a:txBody>
                    <a:bodyPr/>
                    <a:lstStyle/>
                    <a:p>
                      <a:pPr marL="0" lvl="0" indent="0" algn="l" rtl="0">
                        <a:spcBef>
                          <a:spcPts val="0"/>
                        </a:spcBef>
                        <a:spcAft>
                          <a:spcPts val="0"/>
                        </a:spcAft>
                        <a:buNone/>
                      </a:pPr>
                      <a:r>
                        <a:rPr lang="en-US" sz="950" b="1" dirty="0" smtClean="0">
                          <a:solidFill>
                            <a:schemeClr val="hlink"/>
                          </a:solidFill>
                          <a:uFill>
                            <a:noFill/>
                          </a:uFill>
                          <a:latin typeface="Montserrat"/>
                          <a:ea typeface="Montserrat"/>
                          <a:cs typeface="Montserrat"/>
                          <a:sym typeface="Montserrat"/>
                        </a:rPr>
                        <a:t>Time to Complete</a:t>
                      </a:r>
                      <a:endParaRPr sz="950" b="1" dirty="0">
                        <a:solidFill>
                          <a:schemeClr val="dk1"/>
                        </a:solidFill>
                        <a:latin typeface="Montserrat"/>
                        <a:ea typeface="Montserrat"/>
                        <a:cs typeface="Montserrat"/>
                        <a:sym typeface="Montserra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1600"/>
                        </a:spcAft>
                        <a:buNone/>
                      </a:pPr>
                      <a:r>
                        <a:rPr lang="en-US" sz="950" dirty="0" smtClean="0">
                          <a:solidFill>
                            <a:schemeClr val="dk1"/>
                          </a:solidFill>
                          <a:latin typeface="Montserrat Medium"/>
                          <a:ea typeface="Montserrat Medium"/>
                          <a:cs typeface="Montserrat Medium"/>
                          <a:sym typeface="Montserrat Medium"/>
                        </a:rPr>
                        <a:t>Minutes</a:t>
                      </a:r>
                      <a:endParaRPr sz="950" dirty="0">
                        <a:solidFill>
                          <a:schemeClr val="dk1"/>
                        </a:solidFill>
                        <a:latin typeface="Montserrat Medium"/>
                        <a:ea typeface="Montserrat Medium"/>
                        <a:cs typeface="Montserrat Medium"/>
                        <a:sym typeface="Montserrat Medium"/>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1600"/>
                        </a:spcAft>
                        <a:buNone/>
                      </a:pPr>
                      <a:r>
                        <a:rPr lang="en-US" sz="950" baseline="0" dirty="0" smtClean="0">
                          <a:solidFill>
                            <a:schemeClr val="dk1"/>
                          </a:solidFill>
                          <a:latin typeface="Montserrat Medium"/>
                          <a:ea typeface="Montserrat Medium"/>
                          <a:cs typeface="Montserrat Medium"/>
                          <a:sym typeface="Montserrat Medium"/>
                        </a:rPr>
                        <a:t>~ 3 minutes</a:t>
                      </a:r>
                      <a:endParaRPr sz="950" dirty="0">
                        <a:solidFill>
                          <a:schemeClr val="dk1"/>
                        </a:solidFill>
                        <a:latin typeface="Montserrat Medium"/>
                        <a:ea typeface="Montserrat Medium"/>
                        <a:cs typeface="Montserrat Medium"/>
                        <a:sym typeface="Montserrat Medium"/>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27600">
                <a:tc>
                  <a:txBody>
                    <a:bodyPr/>
                    <a:lstStyle/>
                    <a:p>
                      <a:pPr marL="0" lvl="0" indent="0" algn="l" rtl="0">
                        <a:spcBef>
                          <a:spcPts val="0"/>
                        </a:spcBef>
                        <a:spcAft>
                          <a:spcPts val="0"/>
                        </a:spcAft>
                        <a:buNone/>
                      </a:pPr>
                      <a:r>
                        <a:rPr lang="en-US" sz="950" b="1" dirty="0" smtClean="0">
                          <a:solidFill>
                            <a:schemeClr val="hlink"/>
                          </a:solidFill>
                          <a:uFill>
                            <a:noFill/>
                          </a:uFill>
                          <a:latin typeface="Montserrat"/>
                          <a:ea typeface="Montserrat"/>
                          <a:cs typeface="Montserrat"/>
                          <a:sym typeface="Montserrat"/>
                        </a:rPr>
                        <a:t>Error Count</a:t>
                      </a:r>
                      <a:endParaRPr sz="950" b="1" dirty="0">
                        <a:solidFill>
                          <a:schemeClr val="dk1"/>
                        </a:solidFill>
                        <a:latin typeface="Montserrat"/>
                        <a:ea typeface="Montserrat"/>
                        <a:cs typeface="Montserrat"/>
                        <a:sym typeface="Montserra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1600"/>
                        </a:spcAft>
                        <a:buNone/>
                      </a:pPr>
                      <a:r>
                        <a:rPr lang="en-US" sz="950" dirty="0" smtClean="0">
                          <a:solidFill>
                            <a:schemeClr val="dk1"/>
                          </a:solidFill>
                          <a:latin typeface="Montserrat Medium"/>
                          <a:ea typeface="Montserrat Medium"/>
                          <a:cs typeface="Montserrat Medium"/>
                          <a:sym typeface="Montserrat Medium"/>
                        </a:rPr>
                        <a:t>Number of mistakes</a:t>
                      </a:r>
                      <a:endParaRPr sz="950" dirty="0">
                        <a:solidFill>
                          <a:schemeClr val="dk1"/>
                        </a:solidFill>
                        <a:latin typeface="Montserrat Medium"/>
                        <a:ea typeface="Montserrat Medium"/>
                        <a:cs typeface="Montserrat Medium"/>
                        <a:sym typeface="Montserrat Medium"/>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1600"/>
                        </a:spcAft>
                        <a:buNone/>
                      </a:pPr>
                      <a:r>
                        <a:rPr lang="en-US" sz="950" dirty="0" smtClean="0">
                          <a:solidFill>
                            <a:schemeClr val="dk1"/>
                          </a:solidFill>
                          <a:latin typeface="Montserrat Medium"/>
                          <a:ea typeface="Montserrat Medium"/>
                          <a:cs typeface="Montserrat Medium"/>
                          <a:sym typeface="Montserrat Medium"/>
                        </a:rPr>
                        <a:t>2 mistakes</a:t>
                      </a:r>
                      <a:endParaRPr sz="950" dirty="0">
                        <a:solidFill>
                          <a:schemeClr val="dk1"/>
                        </a:solidFill>
                        <a:latin typeface="Montserrat Medium"/>
                        <a:ea typeface="Montserrat Medium"/>
                        <a:cs typeface="Montserrat Medium"/>
                        <a:sym typeface="Montserrat Medium"/>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27600">
                <a:tc>
                  <a:txBody>
                    <a:bodyPr/>
                    <a:lstStyle/>
                    <a:p>
                      <a:pPr marL="0" lvl="0" indent="0" algn="l" rtl="0">
                        <a:spcBef>
                          <a:spcPts val="0"/>
                        </a:spcBef>
                        <a:spcAft>
                          <a:spcPts val="0"/>
                        </a:spcAft>
                        <a:buNone/>
                      </a:pPr>
                      <a:r>
                        <a:rPr lang="en-US" sz="950" b="1" dirty="0" smtClean="0">
                          <a:solidFill>
                            <a:schemeClr val="hlink"/>
                          </a:solidFill>
                          <a:uFill>
                            <a:noFill/>
                          </a:uFill>
                          <a:latin typeface="Montserrat"/>
                          <a:ea typeface="Montserrat"/>
                          <a:cs typeface="Montserrat"/>
                          <a:sym typeface="Montserrat"/>
                        </a:rPr>
                        <a:t>User Satisfaction</a:t>
                      </a:r>
                      <a:endParaRPr sz="950" b="1" dirty="0">
                        <a:solidFill>
                          <a:schemeClr val="dk1"/>
                        </a:solidFill>
                        <a:latin typeface="Montserrat"/>
                        <a:ea typeface="Montserrat"/>
                        <a:cs typeface="Montserrat"/>
                        <a:sym typeface="Montserra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US" sz="950" dirty="0" smtClean="0">
                          <a:solidFill>
                            <a:schemeClr val="dk1"/>
                          </a:solidFill>
                          <a:latin typeface="Montserrat Medium"/>
                          <a:ea typeface="Montserrat Medium"/>
                          <a:cs typeface="Montserrat Medium"/>
                          <a:sym typeface="Montserrat Medium"/>
                        </a:rPr>
                        <a:t>Questionnaire</a:t>
                      </a:r>
                      <a:endParaRPr sz="950" dirty="0">
                        <a:solidFill>
                          <a:schemeClr val="dk1"/>
                        </a:solidFill>
                        <a:latin typeface="Montserrat Medium"/>
                        <a:ea typeface="Montserrat Medium"/>
                        <a:cs typeface="Montserrat Medium"/>
                        <a:sym typeface="Montserrat Medium"/>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US" sz="950" dirty="0" smtClean="0">
                          <a:solidFill>
                            <a:schemeClr val="dk1"/>
                          </a:solidFill>
                          <a:latin typeface="Montserrat Medium"/>
                          <a:ea typeface="Montserrat Medium"/>
                          <a:cs typeface="Montserrat Medium"/>
                          <a:sym typeface="Montserrat Medium"/>
                        </a:rPr>
                        <a:t>~</a:t>
                      </a:r>
                      <a:r>
                        <a:rPr lang="en-US" sz="950" baseline="0" dirty="0" smtClean="0">
                          <a:solidFill>
                            <a:schemeClr val="dk1"/>
                          </a:solidFill>
                          <a:latin typeface="Montserrat Medium"/>
                          <a:ea typeface="Montserrat Medium"/>
                          <a:cs typeface="Montserrat Medium"/>
                          <a:sym typeface="Montserrat Medium"/>
                        </a:rPr>
                        <a:t> score: 85</a:t>
                      </a:r>
                      <a:endParaRPr sz="950" dirty="0">
                        <a:solidFill>
                          <a:schemeClr val="dk1"/>
                        </a:solidFill>
                        <a:latin typeface="Montserrat Medium"/>
                        <a:ea typeface="Montserrat Medium"/>
                        <a:cs typeface="Montserrat Medium"/>
                        <a:sym typeface="Montserrat Medium"/>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5" name="Google Shape;447;p38"/>
          <p:cNvSpPr txBox="1">
            <a:spLocks/>
          </p:cNvSpPr>
          <p:nvPr/>
        </p:nvSpPr>
        <p:spPr>
          <a:xfrm>
            <a:off x="720000" y="3437217"/>
            <a:ext cx="3489052" cy="728383"/>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Montserrat Medium"/>
              <a:buNone/>
              <a:defRPr sz="1600" b="0" i="0" u="none" strike="noStrike" cap="none">
                <a:solidFill>
                  <a:schemeClr val="dk1"/>
                </a:solidFill>
                <a:latin typeface="Montserrat Medium"/>
                <a:ea typeface="Montserrat Medium"/>
                <a:cs typeface="Montserrat Medium"/>
                <a:sym typeface="Montserrat Medium"/>
              </a:defRPr>
            </a:lvl1pPr>
            <a:lvl2pPr marL="914400" marR="0" lvl="1"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2pPr>
            <a:lvl3pPr marL="1371600" marR="0" lvl="2"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3pPr>
            <a:lvl4pPr marL="1828800" marR="0" lvl="3"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4pPr>
            <a:lvl5pPr marL="2286000" marR="0" lvl="4"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5pPr>
            <a:lvl6pPr marL="2743200" marR="0" lvl="5"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6pPr>
            <a:lvl7pPr marL="3200400" marR="0" lvl="6"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7pPr>
            <a:lvl8pPr marL="3657600" marR="0" lvl="7"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8pPr>
            <a:lvl9pPr marL="4114800" marR="0" lvl="8"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9pPr>
          </a:lstStyle>
          <a:p>
            <a:pPr algn="l"/>
            <a:r>
              <a:rPr lang="en-US" sz="1100" dirty="0"/>
              <a:t>Use </a:t>
            </a:r>
            <a:r>
              <a:rPr lang="en-US" sz="1100" b="1" dirty="0"/>
              <a:t>SUS (System Usability Scale)</a:t>
            </a:r>
            <a:endParaRPr lang="en-US" sz="1100" dirty="0"/>
          </a:p>
          <a:p>
            <a:pPr algn="l"/>
            <a:r>
              <a:rPr lang="en-US" sz="1100" dirty="0"/>
              <a:t>Score range: 0–100 </a:t>
            </a:r>
          </a:p>
          <a:p>
            <a:pPr algn="l"/>
            <a:r>
              <a:rPr lang="en-US" sz="1100" dirty="0"/>
              <a:t>Passing score: </a:t>
            </a:r>
            <a:r>
              <a:rPr lang="en-US" sz="1100" b="1" dirty="0"/>
              <a:t>≥ 68</a:t>
            </a:r>
            <a:r>
              <a:rPr lang="en-US" sz="1100" dirty="0"/>
              <a:t> </a:t>
            </a:r>
            <a:endParaRPr lang="en-US" sz="1100" dirty="0" smtClean="0"/>
          </a:p>
          <a:p>
            <a:pPr algn="l"/>
            <a:endParaRPr lang="en-US" sz="1100" dirty="0"/>
          </a:p>
        </p:txBody>
      </p:sp>
      <p:sp>
        <p:nvSpPr>
          <p:cNvPr id="8" name="Google Shape;447;p38"/>
          <p:cNvSpPr txBox="1">
            <a:spLocks/>
          </p:cNvSpPr>
          <p:nvPr/>
        </p:nvSpPr>
        <p:spPr>
          <a:xfrm>
            <a:off x="4486457" y="3437216"/>
            <a:ext cx="3489052" cy="728383"/>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Montserrat Medium"/>
              <a:buNone/>
              <a:defRPr sz="1600" b="0" i="0" u="none" strike="noStrike" cap="none">
                <a:solidFill>
                  <a:schemeClr val="dk1"/>
                </a:solidFill>
                <a:latin typeface="Montserrat Medium"/>
                <a:ea typeface="Montserrat Medium"/>
                <a:cs typeface="Montserrat Medium"/>
                <a:sym typeface="Montserrat Medium"/>
              </a:defRPr>
            </a:lvl1pPr>
            <a:lvl2pPr marL="914400" marR="0" lvl="1"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2pPr>
            <a:lvl3pPr marL="1371600" marR="0" lvl="2"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3pPr>
            <a:lvl4pPr marL="1828800" marR="0" lvl="3"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4pPr>
            <a:lvl5pPr marL="2286000" marR="0" lvl="4"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5pPr>
            <a:lvl6pPr marL="2743200" marR="0" lvl="5"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6pPr>
            <a:lvl7pPr marL="3200400" marR="0" lvl="6"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7pPr>
            <a:lvl8pPr marL="3657600" marR="0" lvl="7"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8pPr>
            <a:lvl9pPr marL="4114800" marR="0" lvl="8"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9pPr>
          </a:lstStyle>
          <a:p>
            <a:pPr algn="l"/>
            <a:r>
              <a:rPr lang="en-US" sz="1100" dirty="0"/>
              <a:t>Example of feedbacks:</a:t>
            </a:r>
          </a:p>
          <a:p>
            <a:pPr algn="l"/>
            <a:r>
              <a:rPr lang="en-US" sz="1100" dirty="0"/>
              <a:t>“The system was easy to use” </a:t>
            </a:r>
          </a:p>
          <a:p>
            <a:pPr algn="l"/>
            <a:r>
              <a:rPr lang="en-US" sz="1100" dirty="0"/>
              <a:t>“I felt confident using the system”</a:t>
            </a:r>
          </a:p>
        </p:txBody>
      </p:sp>
    </p:spTree>
    <p:extLst>
      <p:ext uri="{BB962C8B-B14F-4D97-AF65-F5344CB8AC3E}">
        <p14:creationId xmlns:p14="http://schemas.microsoft.com/office/powerpoint/2010/main" val="1991403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31"/>
        <p:cNvGrpSpPr/>
        <p:nvPr/>
      </p:nvGrpSpPr>
      <p:grpSpPr>
        <a:xfrm>
          <a:off x="0" y="0"/>
          <a:ext cx="0" cy="0"/>
          <a:chOff x="0" y="0"/>
          <a:chExt cx="0" cy="0"/>
        </a:xfrm>
      </p:grpSpPr>
      <p:sp>
        <p:nvSpPr>
          <p:cNvPr id="232" name="Google Shape;232;p37"/>
          <p:cNvSpPr txBox="1">
            <a:spLocks noGrp="1"/>
          </p:cNvSpPr>
          <p:nvPr>
            <p:ph type="title"/>
          </p:nvPr>
        </p:nvSpPr>
        <p:spPr>
          <a:xfrm>
            <a:off x="715100" y="1748375"/>
            <a:ext cx="3733200" cy="1664100"/>
          </a:xfrm>
          <a:prstGeom prst="rect">
            <a:avLst/>
          </a:prstGeom>
        </p:spPr>
        <p:txBody>
          <a:bodyPr spcFirstLastPara="1" wrap="square" lIns="91425" tIns="0" rIns="91425" bIns="0" anchor="ctr" anchorCtr="0">
            <a:noAutofit/>
          </a:bodyPr>
          <a:lstStyle/>
          <a:p>
            <a:pPr lvl="0"/>
            <a:r>
              <a:rPr lang="en" dirty="0" smtClean="0"/>
              <a:t>Field </a:t>
            </a:r>
            <a:br>
              <a:rPr lang="en" dirty="0" smtClean="0"/>
            </a:br>
            <a:r>
              <a:rPr lang="en" dirty="0" smtClean="0"/>
              <a:t>study</a:t>
            </a:r>
            <a:br>
              <a:rPr lang="en" dirty="0" smtClean="0"/>
            </a:br>
            <a:r>
              <a:rPr lang="en-US" sz="3200" dirty="0"/>
              <a:t>(REAL ENVIRONMENT </a:t>
            </a:r>
            <a:r>
              <a:rPr lang="en-US" sz="3200" dirty="0" smtClean="0"/>
              <a:t>TEST)</a:t>
            </a:r>
            <a:endParaRPr sz="3200" dirty="0"/>
          </a:p>
        </p:txBody>
      </p:sp>
      <p:sp>
        <p:nvSpPr>
          <p:cNvPr id="233" name="Google Shape;233;p37"/>
          <p:cNvSpPr txBox="1">
            <a:spLocks noGrp="1"/>
          </p:cNvSpPr>
          <p:nvPr>
            <p:ph type="title" idx="2"/>
          </p:nvPr>
        </p:nvSpPr>
        <p:spPr>
          <a:xfrm>
            <a:off x="4648200" y="1748375"/>
            <a:ext cx="2286000" cy="1664100"/>
          </a:xfrm>
          <a:prstGeom prst="rect">
            <a:avLst/>
          </a:prstGeom>
        </p:spPr>
        <p:txBody>
          <a:bodyPr spcFirstLastPara="1" wrap="square" lIns="91425" tIns="0" rIns="91425" bIns="0" anchor="ctr" anchorCtr="0">
            <a:noAutofit/>
          </a:bodyPr>
          <a:lstStyle/>
          <a:p>
            <a:pPr marL="0" lvl="0" indent="0" algn="l" rtl="0">
              <a:spcBef>
                <a:spcPts val="0"/>
              </a:spcBef>
              <a:spcAft>
                <a:spcPts val="0"/>
              </a:spcAft>
              <a:buNone/>
            </a:pPr>
            <a:r>
              <a:rPr lang="en" dirty="0" smtClean="0"/>
              <a:t>03</a:t>
            </a:r>
            <a:endParaRPr dirty="0"/>
          </a:p>
        </p:txBody>
      </p:sp>
    </p:spTree>
    <p:extLst>
      <p:ext uri="{BB962C8B-B14F-4D97-AF65-F5344CB8AC3E}">
        <p14:creationId xmlns:p14="http://schemas.microsoft.com/office/powerpoint/2010/main" val="4177725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304" name="Google Shape;304;p41"/>
          <p:cNvSpPr txBox="1">
            <a:spLocks noGrp="1"/>
          </p:cNvSpPr>
          <p:nvPr>
            <p:ph type="subTitle" idx="1"/>
          </p:nvPr>
        </p:nvSpPr>
        <p:spPr>
          <a:xfrm>
            <a:off x="720000" y="1546255"/>
            <a:ext cx="2336400" cy="347400"/>
          </a:xfrm>
          <a:prstGeom prst="rect">
            <a:avLst/>
          </a:prstGeom>
        </p:spPr>
        <p:txBody>
          <a:bodyPr spcFirstLastPara="1" wrap="square" lIns="91425" tIns="0" rIns="91425" bIns="0" anchor="b" anchorCtr="0">
            <a:noAutofit/>
          </a:bodyPr>
          <a:lstStyle/>
          <a:p>
            <a:pPr marL="0" lvl="0" indent="0"/>
            <a:r>
              <a:rPr lang="en-US" dirty="0"/>
              <a:t>Implementation</a:t>
            </a:r>
          </a:p>
        </p:txBody>
      </p:sp>
      <p:sp>
        <p:nvSpPr>
          <p:cNvPr id="305" name="Google Shape;305;p41"/>
          <p:cNvSpPr txBox="1">
            <a:spLocks noGrp="1"/>
          </p:cNvSpPr>
          <p:nvPr>
            <p:ph type="subTitle" idx="2"/>
          </p:nvPr>
        </p:nvSpPr>
        <p:spPr>
          <a:xfrm>
            <a:off x="853440" y="2141220"/>
            <a:ext cx="2142000" cy="2026920"/>
          </a:xfrm>
          <a:prstGeom prst="rect">
            <a:avLst/>
          </a:prstGeom>
        </p:spPr>
        <p:txBody>
          <a:bodyPr spcFirstLastPara="1" wrap="square" lIns="91425" tIns="91425" rIns="91425" bIns="91425" anchor="t" anchorCtr="0">
            <a:noAutofit/>
          </a:bodyPr>
          <a:lstStyle/>
          <a:p>
            <a:pPr marL="285750" lvl="0" indent="-285750" algn="l">
              <a:lnSpc>
                <a:spcPct val="150000"/>
              </a:lnSpc>
              <a:buFont typeface="Arial" panose="020B0604020202020204" pitchFamily="34" charset="0"/>
              <a:buChar char="•"/>
            </a:pPr>
            <a:r>
              <a:rPr lang="en-US" dirty="0" smtClean="0"/>
              <a:t>Upload video of performing </a:t>
            </a:r>
            <a:r>
              <a:rPr lang="en-US" dirty="0"/>
              <a:t>scenes naturally.</a:t>
            </a:r>
          </a:p>
          <a:p>
            <a:pPr marL="285750" lvl="0" indent="-285750" algn="l">
              <a:lnSpc>
                <a:spcPct val="150000"/>
              </a:lnSpc>
              <a:buFont typeface="Arial" panose="020B0604020202020204" pitchFamily="34" charset="0"/>
              <a:buChar char="•"/>
            </a:pPr>
            <a:r>
              <a:rPr lang="en-US" dirty="0"/>
              <a:t>Use the system for real auditions</a:t>
            </a:r>
          </a:p>
        </p:txBody>
      </p:sp>
      <p:sp>
        <p:nvSpPr>
          <p:cNvPr id="306" name="Google Shape;306;p41"/>
          <p:cNvSpPr txBox="1">
            <a:spLocks noGrp="1"/>
          </p:cNvSpPr>
          <p:nvPr>
            <p:ph type="subTitle" idx="3"/>
          </p:nvPr>
        </p:nvSpPr>
        <p:spPr>
          <a:xfrm>
            <a:off x="3694620" y="2141219"/>
            <a:ext cx="1853430" cy="1729701"/>
          </a:xfrm>
          <a:prstGeom prst="rect">
            <a:avLst/>
          </a:prstGeom>
        </p:spPr>
        <p:txBody>
          <a:bodyPr spcFirstLastPara="1" wrap="square" lIns="91425" tIns="91425" rIns="91425" bIns="91425" anchor="t" anchorCtr="0">
            <a:noAutofit/>
          </a:bodyPr>
          <a:lstStyle/>
          <a:p>
            <a:pPr marL="0" lvl="0" indent="0">
              <a:lnSpc>
                <a:spcPct val="150000"/>
              </a:lnSpc>
            </a:pPr>
            <a:r>
              <a:rPr lang="en-US" dirty="0"/>
              <a:t>Observations – Interviews - Video recordings </a:t>
            </a:r>
            <a:r>
              <a:rPr lang="en-US" dirty="0" smtClean="0"/>
              <a:t>upload- </a:t>
            </a:r>
            <a:r>
              <a:rPr lang="en-US" dirty="0"/>
              <a:t>User feedback</a:t>
            </a:r>
          </a:p>
        </p:txBody>
      </p:sp>
      <p:sp>
        <p:nvSpPr>
          <p:cNvPr id="307" name="Google Shape;307;p41"/>
          <p:cNvSpPr txBox="1">
            <a:spLocks noGrp="1"/>
          </p:cNvSpPr>
          <p:nvPr>
            <p:ph type="subTitle" idx="4"/>
          </p:nvPr>
        </p:nvSpPr>
        <p:spPr>
          <a:xfrm>
            <a:off x="6282000" y="2141219"/>
            <a:ext cx="2142000" cy="1729701"/>
          </a:xfrm>
          <a:prstGeom prst="rect">
            <a:avLst/>
          </a:prstGeom>
        </p:spPr>
        <p:txBody>
          <a:bodyPr spcFirstLastPara="1" wrap="square" lIns="91425" tIns="91425" rIns="91425" bIns="91425" anchor="t" anchorCtr="0">
            <a:noAutofit/>
          </a:bodyPr>
          <a:lstStyle/>
          <a:p>
            <a:pPr marL="285750" lvl="0" indent="-285750" algn="l">
              <a:lnSpc>
                <a:spcPct val="150000"/>
              </a:lnSpc>
              <a:buFont typeface="Arial" panose="020B0604020202020204" pitchFamily="34" charset="0"/>
              <a:buChar char="•"/>
            </a:pPr>
            <a:r>
              <a:rPr lang="en-US" dirty="0" smtClean="0"/>
              <a:t>Backend processing time, report accuracy</a:t>
            </a:r>
            <a:endParaRPr lang="en-US" dirty="0"/>
          </a:p>
          <a:p>
            <a:pPr marL="285750" lvl="0" indent="-285750" algn="l">
              <a:lnSpc>
                <a:spcPct val="150000"/>
              </a:lnSpc>
              <a:buFont typeface="Arial" panose="020B0604020202020204" pitchFamily="34" charset="0"/>
              <a:buChar char="•"/>
            </a:pPr>
            <a:r>
              <a:rPr lang="en-US" dirty="0"/>
              <a:t>Actor feels stressed = gaze instability</a:t>
            </a:r>
          </a:p>
        </p:txBody>
      </p:sp>
      <p:sp>
        <p:nvSpPr>
          <p:cNvPr id="308" name="Google Shape;308;p41"/>
          <p:cNvSpPr txBox="1">
            <a:spLocks noGrp="1"/>
          </p:cNvSpPr>
          <p:nvPr>
            <p:ph type="title"/>
          </p:nvPr>
        </p:nvSpPr>
        <p:spPr>
          <a:xfrm>
            <a:off x="720000" y="536747"/>
            <a:ext cx="7704000" cy="5727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en" dirty="0" smtClean="0"/>
              <a:t>STRATEGY</a:t>
            </a:r>
            <a:endParaRPr dirty="0"/>
          </a:p>
        </p:txBody>
      </p:sp>
      <p:sp>
        <p:nvSpPr>
          <p:cNvPr id="309" name="Google Shape;309;p41"/>
          <p:cNvSpPr txBox="1">
            <a:spLocks noGrp="1"/>
          </p:cNvSpPr>
          <p:nvPr>
            <p:ph type="subTitle" idx="5"/>
          </p:nvPr>
        </p:nvSpPr>
        <p:spPr>
          <a:xfrm>
            <a:off x="3403800" y="1546255"/>
            <a:ext cx="2336400" cy="347400"/>
          </a:xfrm>
          <a:prstGeom prst="rect">
            <a:avLst/>
          </a:prstGeom>
        </p:spPr>
        <p:txBody>
          <a:bodyPr spcFirstLastPara="1" wrap="square" lIns="91425" tIns="0" rIns="91425" bIns="0" anchor="b" anchorCtr="0">
            <a:noAutofit/>
          </a:bodyPr>
          <a:lstStyle/>
          <a:p>
            <a:pPr lvl="0"/>
            <a:r>
              <a:rPr lang="en-US" dirty="0"/>
              <a:t>Data Collection</a:t>
            </a:r>
          </a:p>
        </p:txBody>
      </p:sp>
      <p:sp>
        <p:nvSpPr>
          <p:cNvPr id="310" name="Google Shape;310;p41"/>
          <p:cNvSpPr txBox="1">
            <a:spLocks noGrp="1"/>
          </p:cNvSpPr>
          <p:nvPr>
            <p:ph type="subTitle" idx="6"/>
          </p:nvPr>
        </p:nvSpPr>
        <p:spPr>
          <a:xfrm>
            <a:off x="6087600" y="1546255"/>
            <a:ext cx="2336400" cy="347400"/>
          </a:xfrm>
          <a:prstGeom prst="rect">
            <a:avLst/>
          </a:prstGeom>
        </p:spPr>
        <p:txBody>
          <a:bodyPr spcFirstLastPara="1" wrap="square" lIns="91425" tIns="0" rIns="91425" bIns="0" anchor="b" anchorCtr="0">
            <a:noAutofit/>
          </a:bodyPr>
          <a:lstStyle/>
          <a:p>
            <a:pPr lvl="0"/>
            <a:r>
              <a:rPr lang="en-US" dirty="0"/>
              <a:t>Findings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31"/>
        <p:cNvGrpSpPr/>
        <p:nvPr/>
      </p:nvGrpSpPr>
      <p:grpSpPr>
        <a:xfrm>
          <a:off x="0" y="0"/>
          <a:ext cx="0" cy="0"/>
          <a:chOff x="0" y="0"/>
          <a:chExt cx="0" cy="0"/>
        </a:xfrm>
      </p:grpSpPr>
      <p:sp>
        <p:nvSpPr>
          <p:cNvPr id="232" name="Google Shape;232;p37"/>
          <p:cNvSpPr txBox="1">
            <a:spLocks noGrp="1"/>
          </p:cNvSpPr>
          <p:nvPr>
            <p:ph type="title"/>
          </p:nvPr>
        </p:nvSpPr>
        <p:spPr>
          <a:xfrm>
            <a:off x="238000" y="1295400"/>
            <a:ext cx="4334000" cy="3352800"/>
          </a:xfrm>
          <a:prstGeom prst="rect">
            <a:avLst/>
          </a:prstGeom>
        </p:spPr>
        <p:txBody>
          <a:bodyPr spcFirstLastPara="1" wrap="square" lIns="91425" tIns="0" rIns="91425" bIns="0" anchor="ctr" anchorCtr="0">
            <a:noAutofit/>
          </a:bodyPr>
          <a:lstStyle/>
          <a:p>
            <a:r>
              <a:rPr lang="en-US" dirty="0" smtClean="0"/>
              <a:t>Playwright</a:t>
            </a:r>
            <a:br>
              <a:rPr lang="en-US" dirty="0" smtClean="0"/>
            </a:br>
            <a:r>
              <a:rPr lang="en-US" dirty="0" smtClean="0"/>
              <a:t>Automated </a:t>
            </a:r>
            <a:br>
              <a:rPr lang="en-US" dirty="0" smtClean="0"/>
            </a:br>
            <a:r>
              <a:rPr lang="en-US" dirty="0" smtClean="0"/>
              <a:t>testing</a:t>
            </a:r>
            <a:r>
              <a:rPr lang="en-US" sz="4000" dirty="0"/>
              <a:t/>
            </a:r>
            <a:br>
              <a:rPr lang="en-US" sz="4000" dirty="0"/>
            </a:br>
            <a:endParaRPr sz="3200" dirty="0"/>
          </a:p>
        </p:txBody>
      </p:sp>
      <p:sp>
        <p:nvSpPr>
          <p:cNvPr id="233" name="Google Shape;233;p37"/>
          <p:cNvSpPr txBox="1">
            <a:spLocks noGrp="1"/>
          </p:cNvSpPr>
          <p:nvPr>
            <p:ph type="title" idx="2"/>
          </p:nvPr>
        </p:nvSpPr>
        <p:spPr>
          <a:xfrm>
            <a:off x="4648200" y="1748375"/>
            <a:ext cx="2286000" cy="1664100"/>
          </a:xfrm>
          <a:prstGeom prst="rect">
            <a:avLst/>
          </a:prstGeom>
        </p:spPr>
        <p:txBody>
          <a:bodyPr spcFirstLastPara="1" wrap="square" lIns="91425" tIns="0" rIns="91425" bIns="0" anchor="ctr" anchorCtr="0">
            <a:noAutofit/>
          </a:bodyPr>
          <a:lstStyle/>
          <a:p>
            <a:pPr marL="0" lvl="0" indent="0" algn="l" rtl="0">
              <a:spcBef>
                <a:spcPts val="0"/>
              </a:spcBef>
              <a:spcAft>
                <a:spcPts val="0"/>
              </a:spcAft>
              <a:buNone/>
            </a:pPr>
            <a:r>
              <a:rPr lang="en" dirty="0" smtClean="0"/>
              <a:t>04</a:t>
            </a:r>
            <a:endParaRPr dirty="0"/>
          </a:p>
        </p:txBody>
      </p:sp>
    </p:spTree>
    <p:extLst>
      <p:ext uri="{BB962C8B-B14F-4D97-AF65-F5344CB8AC3E}">
        <p14:creationId xmlns:p14="http://schemas.microsoft.com/office/powerpoint/2010/main" val="592434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228600" y="646784"/>
            <a:ext cx="8860199" cy="4839616"/>
          </a:xfrm>
        </p:spPr>
        <p:txBody>
          <a:bodyPr/>
          <a:lstStyle/>
          <a:p>
            <a:pPr marL="139700" indent="0">
              <a:lnSpc>
                <a:spcPct val="100000"/>
              </a:lnSpc>
              <a:buNone/>
            </a:pPr>
            <a:r>
              <a:rPr lang="en-US" sz="800" dirty="0"/>
              <a:t>=================================================================== test session starts ===================================================================</a:t>
            </a:r>
          </a:p>
          <a:p>
            <a:pPr marL="139700" indent="0">
              <a:lnSpc>
                <a:spcPct val="100000"/>
              </a:lnSpc>
              <a:buNone/>
            </a:pPr>
            <a:r>
              <a:rPr lang="en-US" sz="800" dirty="0"/>
              <a:t>platform win32 -- Python 3.9.23, pytest-8.4.2, pluggy-1.6.0 -- C:\Graduation Project\V8\</a:t>
            </a:r>
            <a:r>
              <a:rPr lang="en-US" sz="800" dirty="0" err="1"/>
              <a:t>venv</a:t>
            </a:r>
            <a:r>
              <a:rPr lang="en-US" sz="800" dirty="0"/>
              <a:t>\Scripts\python.exe</a:t>
            </a:r>
          </a:p>
          <a:p>
            <a:pPr marL="139700" indent="0">
              <a:lnSpc>
                <a:spcPct val="100000"/>
              </a:lnSpc>
              <a:buNone/>
            </a:pPr>
            <a:r>
              <a:rPr lang="en-US" sz="800" dirty="0" err="1"/>
              <a:t>cachedir</a:t>
            </a:r>
            <a:r>
              <a:rPr lang="en-US" sz="800" dirty="0"/>
              <a:t>: .</a:t>
            </a:r>
            <a:r>
              <a:rPr lang="en-US" sz="800" dirty="0" err="1"/>
              <a:t>pytest_cache</a:t>
            </a:r>
            <a:endParaRPr lang="en-US" sz="800" dirty="0"/>
          </a:p>
          <a:p>
            <a:pPr marL="139700" indent="0">
              <a:lnSpc>
                <a:spcPct val="100000"/>
              </a:lnSpc>
              <a:buNone/>
            </a:pPr>
            <a:r>
              <a:rPr lang="en-US" sz="800" dirty="0" err="1"/>
              <a:t>rootdir</a:t>
            </a:r>
            <a:r>
              <a:rPr lang="en-US" sz="800" dirty="0"/>
              <a:t>: C:\Graduation Project\V8\</a:t>
            </a:r>
            <a:r>
              <a:rPr lang="en-US" sz="800" dirty="0" err="1"/>
              <a:t>web_app</a:t>
            </a:r>
            <a:r>
              <a:rPr lang="en-US" sz="800" dirty="0"/>
              <a:t>\tests</a:t>
            </a:r>
          </a:p>
          <a:p>
            <a:pPr marL="139700" indent="0">
              <a:lnSpc>
                <a:spcPct val="100000"/>
              </a:lnSpc>
              <a:buNone/>
            </a:pPr>
            <a:r>
              <a:rPr lang="en-US" sz="800" dirty="0"/>
              <a:t>plugins: anyio-4.12.1, dash-4.0.0, base-url-2.1.0, playwright-0.7.1, timeout-2.4.0</a:t>
            </a:r>
          </a:p>
          <a:p>
            <a:pPr marL="139700" indent="0">
              <a:lnSpc>
                <a:spcPct val="100000"/>
              </a:lnSpc>
              <a:buNone/>
            </a:pPr>
            <a:r>
              <a:rPr lang="en-US" sz="800" dirty="0"/>
              <a:t>collected 16 items                                                                                                                                         </a:t>
            </a:r>
          </a:p>
          <a:p>
            <a:pPr marL="139700" indent="0">
              <a:lnSpc>
                <a:spcPct val="100000"/>
              </a:lnSpc>
              <a:buNone/>
            </a:pPr>
            <a:endParaRPr lang="en-US" sz="800" dirty="0"/>
          </a:p>
          <a:p>
            <a:pPr marL="139700" indent="0">
              <a:lnSpc>
                <a:spcPct val="100000"/>
              </a:lnSpc>
              <a:buNone/>
            </a:pPr>
            <a:r>
              <a:rPr lang="en-US" sz="800" dirty="0"/>
              <a:t>test_app.py::</a:t>
            </a:r>
            <a:r>
              <a:rPr lang="en-US" sz="800" dirty="0" err="1"/>
              <a:t>TestFunctionalCases</a:t>
            </a:r>
            <a:r>
              <a:rPr lang="en-US" sz="800" dirty="0"/>
              <a:t>::test_A1_user_authentication_and_session PASSED</a:t>
            </a:r>
          </a:p>
          <a:p>
            <a:pPr marL="139700" indent="0">
              <a:lnSpc>
                <a:spcPct val="100000"/>
              </a:lnSpc>
              <a:buNone/>
            </a:pPr>
            <a:r>
              <a:rPr lang="en-US" sz="800" dirty="0"/>
              <a:t>test_app.py::</a:t>
            </a:r>
            <a:r>
              <a:rPr lang="en-US" sz="800" dirty="0" err="1"/>
              <a:t>TestFunctionalCases</a:t>
            </a:r>
            <a:r>
              <a:rPr lang="en-US" sz="800" dirty="0"/>
              <a:t>::test_A2_report_generation_and_download PASSED</a:t>
            </a:r>
          </a:p>
          <a:p>
            <a:pPr marL="139700" indent="0">
              <a:lnSpc>
                <a:spcPct val="100000"/>
              </a:lnSpc>
              <a:buNone/>
            </a:pPr>
            <a:r>
              <a:rPr lang="en-US" sz="800" dirty="0"/>
              <a:t>test_app.py::</a:t>
            </a:r>
            <a:r>
              <a:rPr lang="en-US" sz="800" dirty="0" err="1"/>
              <a:t>TestFunctionalCases</a:t>
            </a:r>
            <a:r>
              <a:rPr lang="en-US" sz="800" dirty="0"/>
              <a:t>::test_A3_report_content_validation PASSED</a:t>
            </a:r>
          </a:p>
          <a:p>
            <a:pPr marL="139700" indent="0">
              <a:lnSpc>
                <a:spcPct val="100000"/>
              </a:lnSpc>
              <a:buNone/>
            </a:pPr>
            <a:r>
              <a:rPr lang="en-US" sz="800" dirty="0"/>
              <a:t>test_app.py::</a:t>
            </a:r>
            <a:r>
              <a:rPr lang="en-US" sz="800" dirty="0" err="1"/>
              <a:t>TestFunctionalCases</a:t>
            </a:r>
            <a:r>
              <a:rPr lang="en-US" sz="800" dirty="0"/>
              <a:t>::test_A4_report_history_and_retrieval PASSED</a:t>
            </a:r>
          </a:p>
          <a:p>
            <a:pPr marL="139700" indent="0">
              <a:lnSpc>
                <a:spcPct val="100000"/>
              </a:lnSpc>
              <a:buNone/>
            </a:pPr>
            <a:r>
              <a:rPr lang="en-US" sz="800" dirty="0"/>
              <a:t>test_app.py::</a:t>
            </a:r>
            <a:r>
              <a:rPr lang="en-US" sz="800" dirty="0" err="1"/>
              <a:t>TestFunctionalCases</a:t>
            </a:r>
            <a:r>
              <a:rPr lang="en-US" sz="800" dirty="0"/>
              <a:t>::test_A5_performance_metrics_in_report PASSED</a:t>
            </a:r>
          </a:p>
          <a:p>
            <a:pPr marL="139700" indent="0">
              <a:lnSpc>
                <a:spcPct val="100000"/>
              </a:lnSpc>
              <a:buNone/>
            </a:pPr>
            <a:r>
              <a:rPr lang="en-US" sz="800" dirty="0"/>
              <a:t>test_app.py::</a:t>
            </a:r>
            <a:r>
              <a:rPr lang="en-US" sz="800" dirty="0" err="1"/>
              <a:t>TestNonFunctionalCases</a:t>
            </a:r>
            <a:r>
              <a:rPr lang="en-US" sz="800" dirty="0"/>
              <a:t>::test_B1_page_load_time   Page load time: 1752ms ✓</a:t>
            </a:r>
          </a:p>
          <a:p>
            <a:pPr marL="139700" indent="0">
              <a:lnSpc>
                <a:spcPct val="100000"/>
              </a:lnSpc>
              <a:buNone/>
            </a:pPr>
            <a:r>
              <a:rPr lang="en-US" sz="800" dirty="0"/>
              <a:t>PASSED</a:t>
            </a:r>
          </a:p>
          <a:p>
            <a:pPr marL="139700" indent="0">
              <a:lnSpc>
                <a:spcPct val="100000"/>
              </a:lnSpc>
              <a:buNone/>
            </a:pPr>
            <a:r>
              <a:rPr lang="en-US" sz="800" dirty="0"/>
              <a:t>test_app.py::</a:t>
            </a:r>
            <a:r>
              <a:rPr lang="en-US" sz="800" dirty="0" err="1"/>
              <a:t>TestNonFunctionalCases</a:t>
            </a:r>
            <a:r>
              <a:rPr lang="en-US" sz="800" dirty="0"/>
              <a:t>::test_B2_report_generation_time PASSED</a:t>
            </a:r>
          </a:p>
          <a:p>
            <a:pPr marL="139700" indent="0">
              <a:lnSpc>
                <a:spcPct val="100000"/>
              </a:lnSpc>
              <a:buNone/>
            </a:pPr>
            <a:r>
              <a:rPr lang="en-US" sz="800" dirty="0"/>
              <a:t>test_app.py::</a:t>
            </a:r>
            <a:r>
              <a:rPr lang="en-US" sz="800" dirty="0" err="1"/>
              <a:t>TestNonFunctionalCases</a:t>
            </a:r>
            <a:r>
              <a:rPr lang="en-US" sz="800" dirty="0"/>
              <a:t>::test_B3_concurrent_report_requests FAILED</a:t>
            </a:r>
          </a:p>
          <a:p>
            <a:pPr marL="139700" indent="0">
              <a:lnSpc>
                <a:spcPct val="100000"/>
              </a:lnSpc>
              <a:buNone/>
            </a:pPr>
            <a:r>
              <a:rPr lang="en-US" sz="800" dirty="0"/>
              <a:t>test_app.py::</a:t>
            </a:r>
            <a:r>
              <a:rPr lang="en-US" sz="800" dirty="0" err="1"/>
              <a:t>TestNonFunctionalCases</a:t>
            </a:r>
            <a:r>
              <a:rPr lang="en-US" sz="800" dirty="0"/>
              <a:t>::test_B4_api_response_time   /</a:t>
            </a:r>
            <a:r>
              <a:rPr lang="en-US" sz="800" dirty="0" err="1"/>
              <a:t>api</a:t>
            </a:r>
            <a:r>
              <a:rPr lang="en-US" sz="800" dirty="0"/>
              <a:t>/reports: Not available</a:t>
            </a:r>
          </a:p>
          <a:p>
            <a:pPr marL="139700" indent="0">
              <a:lnSpc>
                <a:spcPct val="100000"/>
              </a:lnSpc>
              <a:buNone/>
            </a:pPr>
            <a:r>
              <a:rPr lang="en-US" sz="800" dirty="0"/>
              <a:t>  /</a:t>
            </a:r>
            <a:r>
              <a:rPr lang="en-US" sz="800" dirty="0" err="1"/>
              <a:t>api</a:t>
            </a:r>
            <a:r>
              <a:rPr lang="en-US" sz="800" dirty="0"/>
              <a:t>/performance-metrics: Not available</a:t>
            </a:r>
          </a:p>
          <a:p>
            <a:pPr marL="139700" indent="0">
              <a:lnSpc>
                <a:spcPct val="100000"/>
              </a:lnSpc>
              <a:buNone/>
            </a:pPr>
            <a:r>
              <a:rPr lang="en-US" sz="800" dirty="0"/>
              <a:t>  /</a:t>
            </a:r>
            <a:r>
              <a:rPr lang="en-US" sz="800" dirty="0" err="1"/>
              <a:t>api</a:t>
            </a:r>
            <a:r>
              <a:rPr lang="en-US" sz="800" dirty="0"/>
              <a:t>/user/history: Not available</a:t>
            </a:r>
          </a:p>
          <a:p>
            <a:pPr marL="139700" indent="0">
              <a:lnSpc>
                <a:spcPct val="100000"/>
              </a:lnSpc>
              <a:buNone/>
            </a:pPr>
            <a:r>
              <a:rPr lang="en-US" sz="800" dirty="0"/>
              <a:t>PASSED</a:t>
            </a:r>
          </a:p>
          <a:p>
            <a:pPr marL="139700" indent="0">
              <a:lnSpc>
                <a:spcPct val="100000"/>
              </a:lnSpc>
              <a:buNone/>
            </a:pPr>
            <a:r>
              <a:rPr lang="en-US" sz="800" dirty="0"/>
              <a:t>test_app.py::</a:t>
            </a:r>
            <a:r>
              <a:rPr lang="en-US" sz="800" dirty="0" err="1"/>
              <a:t>TestNonFunctionalCases</a:t>
            </a:r>
            <a:r>
              <a:rPr lang="en-US" sz="800" dirty="0"/>
              <a:t>::test_B5_database_query_performance   Database query time: 542ms ✓</a:t>
            </a:r>
          </a:p>
          <a:p>
            <a:pPr marL="139700" indent="0">
              <a:lnSpc>
                <a:spcPct val="100000"/>
              </a:lnSpc>
              <a:buNone/>
            </a:pPr>
            <a:r>
              <a:rPr lang="en-US" sz="800" dirty="0"/>
              <a:t>PASSED</a:t>
            </a:r>
          </a:p>
          <a:p>
            <a:pPr marL="139700" indent="0">
              <a:lnSpc>
                <a:spcPct val="100000"/>
              </a:lnSpc>
              <a:buNone/>
            </a:pPr>
            <a:r>
              <a:rPr lang="en-US" sz="800" dirty="0"/>
              <a:t>test_app.py::</a:t>
            </a:r>
            <a:r>
              <a:rPr lang="en-US" sz="800" dirty="0" err="1"/>
              <a:t>TestReportQuality</a:t>
            </a:r>
            <a:r>
              <a:rPr lang="en-US" sz="800" dirty="0"/>
              <a:t>::</a:t>
            </a:r>
            <a:r>
              <a:rPr lang="en-US" sz="800" dirty="0" err="1"/>
              <a:t>test_report_emotion_summary_exists</a:t>
            </a:r>
            <a:r>
              <a:rPr lang="en-US" sz="800" dirty="0"/>
              <a:t> PASSED</a:t>
            </a:r>
          </a:p>
          <a:p>
            <a:pPr marL="139700" indent="0">
              <a:lnSpc>
                <a:spcPct val="100000"/>
              </a:lnSpc>
              <a:buNone/>
            </a:pPr>
            <a:r>
              <a:rPr lang="en-US" sz="800" dirty="0"/>
              <a:t>test_app.py::</a:t>
            </a:r>
            <a:r>
              <a:rPr lang="en-US" sz="800" dirty="0" err="1"/>
              <a:t>TestReportQuality</a:t>
            </a:r>
            <a:r>
              <a:rPr lang="en-US" sz="800" dirty="0"/>
              <a:t>::</a:t>
            </a:r>
            <a:r>
              <a:rPr lang="en-US" sz="800" dirty="0" err="1"/>
              <a:t>test_report_recommendations_exist</a:t>
            </a:r>
            <a:r>
              <a:rPr lang="en-US" sz="800" dirty="0"/>
              <a:t> PASSED</a:t>
            </a:r>
          </a:p>
          <a:p>
            <a:pPr marL="139700" indent="0">
              <a:lnSpc>
                <a:spcPct val="100000"/>
              </a:lnSpc>
              <a:buNone/>
            </a:pPr>
            <a:r>
              <a:rPr lang="en-US" sz="800" dirty="0"/>
              <a:t>test_app.py::</a:t>
            </a:r>
            <a:r>
              <a:rPr lang="en-US" sz="800" dirty="0" err="1"/>
              <a:t>TestReportQuality</a:t>
            </a:r>
            <a:r>
              <a:rPr lang="en-US" sz="800" dirty="0"/>
              <a:t>::</a:t>
            </a:r>
            <a:r>
              <a:rPr lang="en-US" sz="800" dirty="0" err="1"/>
              <a:t>test_report_download_formats</a:t>
            </a:r>
            <a:r>
              <a:rPr lang="en-US" sz="800" dirty="0"/>
              <a:t> PASSED</a:t>
            </a:r>
          </a:p>
          <a:p>
            <a:pPr marL="139700" indent="0">
              <a:lnSpc>
                <a:spcPct val="100000"/>
              </a:lnSpc>
              <a:buNone/>
            </a:pPr>
            <a:r>
              <a:rPr lang="en-US" sz="800" dirty="0"/>
              <a:t>test_app.py::</a:t>
            </a:r>
            <a:r>
              <a:rPr lang="en-US" sz="800" dirty="0" err="1"/>
              <a:t>TestUsabilitySUS</a:t>
            </a:r>
            <a:r>
              <a:rPr lang="en-US" sz="800" dirty="0"/>
              <a:t>::</a:t>
            </a:r>
            <a:r>
              <a:rPr lang="en-US" sz="800" dirty="0" err="1"/>
              <a:t>test_sus_task_navigation</a:t>
            </a:r>
            <a:r>
              <a:rPr lang="en-US" sz="800" dirty="0"/>
              <a:t> ✓ SUS navigation test passed</a:t>
            </a:r>
          </a:p>
          <a:p>
            <a:pPr marL="139700" indent="0">
              <a:lnSpc>
                <a:spcPct val="100000"/>
              </a:lnSpc>
              <a:buNone/>
            </a:pPr>
            <a:r>
              <a:rPr lang="en-US" sz="800" dirty="0"/>
              <a:t>PASSED</a:t>
            </a:r>
          </a:p>
          <a:p>
            <a:pPr marL="139700" indent="0">
              <a:lnSpc>
                <a:spcPct val="100000"/>
              </a:lnSpc>
              <a:buNone/>
            </a:pPr>
            <a:r>
              <a:rPr lang="en-US" sz="800" dirty="0"/>
              <a:t>test_app.py::</a:t>
            </a:r>
            <a:r>
              <a:rPr lang="en-US" sz="800" dirty="0" err="1"/>
              <a:t>TestUsabilitySUS</a:t>
            </a:r>
            <a:r>
              <a:rPr lang="en-US" sz="800" dirty="0"/>
              <a:t>::</a:t>
            </a:r>
            <a:r>
              <a:rPr lang="en-US" sz="800" dirty="0" err="1"/>
              <a:t>test_sus_error_count</a:t>
            </a:r>
            <a:r>
              <a:rPr lang="en-US" sz="800" dirty="0"/>
              <a:t>   Errors in workflow: 0 ✓</a:t>
            </a:r>
          </a:p>
          <a:p>
            <a:pPr marL="139700" indent="0">
              <a:lnSpc>
                <a:spcPct val="100000"/>
              </a:lnSpc>
              <a:buNone/>
            </a:pPr>
            <a:r>
              <a:rPr lang="en-US" sz="800" dirty="0"/>
              <a:t>PASSED</a:t>
            </a:r>
          </a:p>
          <a:p>
            <a:pPr marL="139700" indent="0">
              <a:lnSpc>
                <a:spcPct val="100000"/>
              </a:lnSpc>
              <a:buNone/>
            </a:pPr>
            <a:r>
              <a:rPr lang="en-US" sz="800" dirty="0"/>
              <a:t>test_app.py::</a:t>
            </a:r>
            <a:r>
              <a:rPr lang="en-US" sz="800" dirty="0" err="1"/>
              <a:t>test_backend_emotion_api</a:t>
            </a:r>
            <a:r>
              <a:rPr lang="en-US" sz="800" dirty="0"/>
              <a:t>   Note: Backend emotion API endpoint not found - check implementation</a:t>
            </a:r>
          </a:p>
          <a:p>
            <a:pPr marL="139700" indent="0">
              <a:lnSpc>
                <a:spcPct val="100000"/>
              </a:lnSpc>
              <a:buNone/>
            </a:pPr>
            <a:r>
              <a:rPr lang="en-US" sz="800" dirty="0"/>
              <a:t>PASSED</a:t>
            </a:r>
          </a:p>
          <a:p>
            <a:pPr marL="139700" indent="0">
              <a:lnSpc>
                <a:spcPct val="100000"/>
              </a:lnSpc>
              <a:buNone/>
            </a:pPr>
            <a:endParaRPr lang="en-US" sz="800" dirty="0"/>
          </a:p>
        </p:txBody>
      </p:sp>
    </p:spTree>
    <p:extLst>
      <p:ext uri="{BB962C8B-B14F-4D97-AF65-F5344CB8AC3E}">
        <p14:creationId xmlns:p14="http://schemas.microsoft.com/office/powerpoint/2010/main" val="3319357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55417" y="535948"/>
            <a:ext cx="10176165" cy="4839616"/>
          </a:xfrm>
        </p:spPr>
        <p:txBody>
          <a:bodyPr/>
          <a:lstStyle/>
          <a:p>
            <a:pPr marL="139700" indent="0">
              <a:lnSpc>
                <a:spcPct val="100000"/>
              </a:lnSpc>
              <a:buNone/>
            </a:pPr>
            <a:r>
              <a:rPr lang="en-US" sz="800" dirty="0"/>
              <a:t>======================================================================== FAILURES =========================================================================</a:t>
            </a:r>
          </a:p>
          <a:p>
            <a:pPr marL="139700" indent="0">
              <a:lnSpc>
                <a:spcPct val="100000"/>
              </a:lnSpc>
              <a:buNone/>
            </a:pPr>
            <a:r>
              <a:rPr lang="en-US" sz="800" dirty="0" smtClean="0"/>
              <a:t>_______________________________________ </a:t>
            </a:r>
            <a:r>
              <a:rPr lang="en-US" sz="800" dirty="0"/>
              <a:t>TestNonFunctionalCases.test_B3_concurrent_report_requests </a:t>
            </a:r>
            <a:r>
              <a:rPr lang="en-US" sz="800" dirty="0" smtClean="0"/>
              <a:t>_______________________________________</a:t>
            </a:r>
            <a:endParaRPr lang="en-US" sz="800" dirty="0"/>
          </a:p>
          <a:p>
            <a:pPr marL="139700" indent="0">
              <a:lnSpc>
                <a:spcPct val="100000"/>
              </a:lnSpc>
              <a:buNone/>
            </a:pPr>
            <a:endParaRPr lang="en-US" sz="800" dirty="0"/>
          </a:p>
          <a:p>
            <a:pPr marL="139700" indent="0">
              <a:lnSpc>
                <a:spcPct val="100000"/>
              </a:lnSpc>
              <a:buNone/>
            </a:pPr>
            <a:r>
              <a:rPr lang="en-US" sz="800" dirty="0"/>
              <a:t>self = &lt;</a:t>
            </a:r>
            <a:r>
              <a:rPr lang="en-US" sz="800" dirty="0" err="1"/>
              <a:t>test_app.TestNonFunctionalCases</a:t>
            </a:r>
            <a:r>
              <a:rPr lang="en-US" sz="800" dirty="0"/>
              <a:t> object at 0x000002ABFF2E9070&gt;</a:t>
            </a:r>
          </a:p>
          <a:p>
            <a:pPr marL="139700" indent="0">
              <a:lnSpc>
                <a:spcPct val="100000"/>
              </a:lnSpc>
              <a:buNone/>
            </a:pPr>
            <a:endParaRPr lang="en-US" sz="800" dirty="0"/>
          </a:p>
          <a:p>
            <a:pPr marL="139700" indent="0">
              <a:lnSpc>
                <a:spcPct val="100000"/>
              </a:lnSpc>
              <a:buNone/>
            </a:pPr>
            <a:r>
              <a:rPr lang="en-US" sz="800" dirty="0"/>
              <a:t>    </a:t>
            </a:r>
            <a:r>
              <a:rPr lang="en-US" sz="800" dirty="0" err="1"/>
              <a:t>def</a:t>
            </a:r>
            <a:r>
              <a:rPr lang="en-US" sz="800" dirty="0"/>
              <a:t> test_B3_concurrent_report_requests(self):</a:t>
            </a:r>
          </a:p>
          <a:p>
            <a:pPr marL="139700" indent="0">
              <a:lnSpc>
                <a:spcPct val="100000"/>
              </a:lnSpc>
              <a:buNone/>
            </a:pPr>
            <a:r>
              <a:rPr lang="en-US" sz="800" dirty="0"/>
              <a:t>        """Test handling concurrent report requests"""</a:t>
            </a:r>
          </a:p>
          <a:p>
            <a:pPr marL="139700" indent="0">
              <a:lnSpc>
                <a:spcPct val="100000"/>
              </a:lnSpc>
              <a:buNone/>
            </a:pPr>
            <a:r>
              <a:rPr lang="en-US" sz="800" dirty="0"/>
              <a:t>        import </a:t>
            </a:r>
            <a:r>
              <a:rPr lang="en-US" sz="800" dirty="0" err="1"/>
              <a:t>concurrent.futures</a:t>
            </a:r>
            <a:endParaRPr lang="en-US" sz="800" dirty="0"/>
          </a:p>
          <a:p>
            <a:pPr marL="139700" indent="0">
              <a:lnSpc>
                <a:spcPct val="100000"/>
              </a:lnSpc>
              <a:buNone/>
            </a:pPr>
            <a:r>
              <a:rPr lang="en-US" sz="800" dirty="0"/>
              <a:t>    </a:t>
            </a:r>
          </a:p>
          <a:p>
            <a:pPr marL="139700" indent="0">
              <a:lnSpc>
                <a:spcPct val="100000"/>
              </a:lnSpc>
              <a:buNone/>
            </a:pPr>
            <a:r>
              <a:rPr lang="en-US" sz="800" dirty="0"/>
              <a:t>        </a:t>
            </a:r>
            <a:r>
              <a:rPr lang="en-US" sz="800" dirty="0" err="1"/>
              <a:t>def</a:t>
            </a:r>
            <a:r>
              <a:rPr lang="en-US" sz="800" dirty="0"/>
              <a:t> </a:t>
            </a:r>
            <a:r>
              <a:rPr lang="en-US" sz="800" dirty="0" err="1"/>
              <a:t>request_report</a:t>
            </a:r>
            <a:r>
              <a:rPr lang="en-US" sz="800" dirty="0"/>
              <a:t>():</a:t>
            </a:r>
          </a:p>
          <a:p>
            <a:pPr marL="139700" indent="0">
              <a:lnSpc>
                <a:spcPct val="100000"/>
              </a:lnSpc>
              <a:buNone/>
            </a:pPr>
            <a:r>
              <a:rPr lang="en-US" sz="800" dirty="0"/>
              <a:t>            try:</a:t>
            </a:r>
          </a:p>
          <a:p>
            <a:pPr marL="139700" indent="0">
              <a:lnSpc>
                <a:spcPct val="100000"/>
              </a:lnSpc>
              <a:buNone/>
            </a:pPr>
            <a:r>
              <a:rPr lang="en-US" sz="800" dirty="0"/>
              <a:t>                response = </a:t>
            </a:r>
            <a:r>
              <a:rPr lang="en-US" sz="800" dirty="0" err="1"/>
              <a:t>requests.get</a:t>
            </a:r>
            <a:r>
              <a:rPr lang="en-US" sz="800" dirty="0"/>
              <a:t>(f'{</a:t>
            </a:r>
            <a:r>
              <a:rPr lang="en-US" sz="800" dirty="0" err="1"/>
              <a:t>self.api_base</a:t>
            </a:r>
            <a:r>
              <a:rPr lang="en-US" sz="800" dirty="0"/>
              <a:t>}/</a:t>
            </a:r>
            <a:r>
              <a:rPr lang="en-US" sz="800" dirty="0" err="1"/>
              <a:t>api</a:t>
            </a:r>
            <a:r>
              <a:rPr lang="en-US" sz="800" dirty="0"/>
              <a:t>/generate-report', timeout=10)</a:t>
            </a:r>
          </a:p>
          <a:p>
            <a:pPr marL="139700" indent="0">
              <a:lnSpc>
                <a:spcPct val="100000"/>
              </a:lnSpc>
              <a:buNone/>
            </a:pPr>
            <a:r>
              <a:rPr lang="en-US" sz="800" dirty="0"/>
              <a:t>                return </a:t>
            </a:r>
            <a:r>
              <a:rPr lang="en-US" sz="800" dirty="0" err="1"/>
              <a:t>response.status_code</a:t>
            </a:r>
            <a:r>
              <a:rPr lang="en-US" sz="800" dirty="0"/>
              <a:t> == 200</a:t>
            </a:r>
          </a:p>
          <a:p>
            <a:pPr marL="139700" indent="0">
              <a:lnSpc>
                <a:spcPct val="100000"/>
              </a:lnSpc>
              <a:buNone/>
            </a:pPr>
            <a:r>
              <a:rPr lang="en-US" sz="800" dirty="0"/>
              <a:t>            except:</a:t>
            </a:r>
          </a:p>
          <a:p>
            <a:pPr marL="139700" indent="0">
              <a:lnSpc>
                <a:spcPct val="100000"/>
              </a:lnSpc>
              <a:buNone/>
            </a:pPr>
            <a:r>
              <a:rPr lang="en-US" sz="800" dirty="0"/>
              <a:t>                return False</a:t>
            </a:r>
          </a:p>
          <a:p>
            <a:pPr marL="139700" indent="0">
              <a:lnSpc>
                <a:spcPct val="100000"/>
              </a:lnSpc>
              <a:buNone/>
            </a:pPr>
            <a:r>
              <a:rPr lang="en-US" sz="800" dirty="0"/>
              <a:t>    </a:t>
            </a:r>
          </a:p>
          <a:p>
            <a:pPr marL="139700" indent="0">
              <a:lnSpc>
                <a:spcPct val="100000"/>
              </a:lnSpc>
              <a:buNone/>
            </a:pPr>
            <a:r>
              <a:rPr lang="en-US" sz="800" dirty="0"/>
              <a:t>        # Simulate 5 concurrent report requests</a:t>
            </a:r>
          </a:p>
          <a:p>
            <a:pPr marL="139700" indent="0">
              <a:lnSpc>
                <a:spcPct val="100000"/>
              </a:lnSpc>
              <a:buNone/>
            </a:pPr>
            <a:r>
              <a:rPr lang="en-US" sz="800" dirty="0"/>
              <a:t>        with </a:t>
            </a:r>
            <a:r>
              <a:rPr lang="en-US" sz="800" dirty="0" err="1"/>
              <a:t>concurrent.futures.ThreadPoolExecutor</a:t>
            </a:r>
            <a:r>
              <a:rPr lang="en-US" sz="800" dirty="0"/>
              <a:t>(</a:t>
            </a:r>
            <a:r>
              <a:rPr lang="en-US" sz="800" dirty="0" err="1"/>
              <a:t>max_workers</a:t>
            </a:r>
            <a:r>
              <a:rPr lang="en-US" sz="800" dirty="0"/>
              <a:t>=5) as executor:</a:t>
            </a:r>
          </a:p>
          <a:p>
            <a:pPr marL="139700" indent="0">
              <a:lnSpc>
                <a:spcPct val="100000"/>
              </a:lnSpc>
              <a:buNone/>
            </a:pPr>
            <a:r>
              <a:rPr lang="en-US" sz="800" dirty="0"/>
              <a:t>            futures = [</a:t>
            </a:r>
            <a:r>
              <a:rPr lang="en-US" sz="800" dirty="0" err="1"/>
              <a:t>executor.submit</a:t>
            </a:r>
            <a:r>
              <a:rPr lang="en-US" sz="800" dirty="0"/>
              <a:t>(</a:t>
            </a:r>
            <a:r>
              <a:rPr lang="en-US" sz="800" dirty="0" err="1"/>
              <a:t>request_report</a:t>
            </a:r>
            <a:r>
              <a:rPr lang="en-US" sz="800" dirty="0"/>
              <a:t>) for _ in range(5)]</a:t>
            </a:r>
          </a:p>
          <a:p>
            <a:pPr marL="139700" indent="0">
              <a:lnSpc>
                <a:spcPct val="100000"/>
              </a:lnSpc>
              <a:buNone/>
            </a:pPr>
            <a:r>
              <a:rPr lang="en-US" sz="800" dirty="0"/>
              <a:t>            results = [</a:t>
            </a:r>
            <a:r>
              <a:rPr lang="en-US" sz="800" dirty="0" err="1"/>
              <a:t>f.result</a:t>
            </a:r>
            <a:r>
              <a:rPr lang="en-US" sz="800" dirty="0"/>
              <a:t>() for f in futures]</a:t>
            </a:r>
          </a:p>
          <a:p>
            <a:pPr marL="139700" indent="0">
              <a:lnSpc>
                <a:spcPct val="100000"/>
              </a:lnSpc>
              <a:buNone/>
            </a:pPr>
            <a:r>
              <a:rPr lang="en-US" sz="800" dirty="0"/>
              <a:t>    </a:t>
            </a:r>
          </a:p>
          <a:p>
            <a:pPr marL="139700" indent="0">
              <a:lnSpc>
                <a:spcPct val="100000"/>
              </a:lnSpc>
              <a:buNone/>
            </a:pPr>
            <a:r>
              <a:rPr lang="en-US" sz="800" dirty="0"/>
              <a:t>        </a:t>
            </a:r>
            <a:r>
              <a:rPr lang="en-US" sz="800" dirty="0" err="1"/>
              <a:t>success_rate</a:t>
            </a:r>
            <a:r>
              <a:rPr lang="en-US" sz="800" dirty="0"/>
              <a:t> = sum(results) / </a:t>
            </a:r>
            <a:r>
              <a:rPr lang="en-US" sz="800" dirty="0" err="1"/>
              <a:t>len</a:t>
            </a:r>
            <a:r>
              <a:rPr lang="en-US" sz="800" dirty="0"/>
              <a:t>(results) * 100</a:t>
            </a:r>
          </a:p>
          <a:p>
            <a:pPr marL="139700" indent="0">
              <a:lnSpc>
                <a:spcPct val="100000"/>
              </a:lnSpc>
              <a:buNone/>
            </a:pPr>
            <a:r>
              <a:rPr lang="en-US" sz="800" dirty="0"/>
              <a:t>&gt;       assert </a:t>
            </a:r>
            <a:r>
              <a:rPr lang="en-US" sz="800" dirty="0" err="1"/>
              <a:t>success_rate</a:t>
            </a:r>
            <a:r>
              <a:rPr lang="en-US" sz="800" dirty="0"/>
              <a:t> &gt;= 80, </a:t>
            </a:r>
            <a:r>
              <a:rPr lang="en-US" sz="800" dirty="0" err="1"/>
              <a:t>f"Only</a:t>
            </a:r>
            <a:r>
              <a:rPr lang="en-US" sz="800" dirty="0"/>
              <a:t> {</a:t>
            </a:r>
            <a:r>
              <a:rPr lang="en-US" sz="800" dirty="0" err="1"/>
              <a:t>success_rate</a:t>
            </a:r>
            <a:r>
              <a:rPr lang="en-US" sz="800" dirty="0"/>
              <a:t>}% of concurrent requests succeeded"</a:t>
            </a:r>
          </a:p>
          <a:p>
            <a:pPr marL="139700" indent="0">
              <a:lnSpc>
                <a:spcPct val="100000"/>
              </a:lnSpc>
              <a:buNone/>
            </a:pPr>
            <a:r>
              <a:rPr lang="en-US" sz="800" dirty="0"/>
              <a:t>E       </a:t>
            </a:r>
            <a:r>
              <a:rPr lang="en-US" sz="800" dirty="0" err="1"/>
              <a:t>AssertionError</a:t>
            </a:r>
            <a:r>
              <a:rPr lang="en-US" sz="800" dirty="0"/>
              <a:t>: Only 0.0% of concurrent requests succeeded</a:t>
            </a:r>
          </a:p>
          <a:p>
            <a:pPr marL="139700" indent="0">
              <a:lnSpc>
                <a:spcPct val="100000"/>
              </a:lnSpc>
              <a:buNone/>
            </a:pPr>
            <a:r>
              <a:rPr lang="en-US" sz="800" dirty="0"/>
              <a:t>E       assert 0.0 &gt;= 80</a:t>
            </a:r>
          </a:p>
          <a:p>
            <a:pPr marL="139700" indent="0">
              <a:lnSpc>
                <a:spcPct val="100000"/>
              </a:lnSpc>
              <a:buNone/>
            </a:pPr>
            <a:endParaRPr lang="en-US" sz="800" dirty="0"/>
          </a:p>
          <a:p>
            <a:pPr marL="139700" indent="0">
              <a:lnSpc>
                <a:spcPct val="100000"/>
              </a:lnSpc>
              <a:buNone/>
            </a:pPr>
            <a:r>
              <a:rPr lang="en-US" sz="800" dirty="0"/>
              <a:t>test_app.py:179: </a:t>
            </a:r>
            <a:r>
              <a:rPr lang="en-US" sz="800" dirty="0" err="1"/>
              <a:t>AssertionError</a:t>
            </a:r>
            <a:endParaRPr lang="en-US" sz="800" dirty="0"/>
          </a:p>
          <a:p>
            <a:pPr marL="139700" indent="0">
              <a:lnSpc>
                <a:spcPct val="100000"/>
              </a:lnSpc>
              <a:buNone/>
            </a:pPr>
            <a:r>
              <a:rPr lang="en-US" sz="800" dirty="0"/>
              <a:t>================================================================= short test summary info =================================================================</a:t>
            </a:r>
          </a:p>
          <a:p>
            <a:pPr marL="139700" indent="0">
              <a:lnSpc>
                <a:spcPct val="100000"/>
              </a:lnSpc>
              <a:buNone/>
            </a:pPr>
            <a:r>
              <a:rPr lang="en-US" sz="800" dirty="0"/>
              <a:t>FAILED test_app.py::</a:t>
            </a:r>
            <a:r>
              <a:rPr lang="en-US" sz="800" dirty="0" err="1"/>
              <a:t>TestNonFunctionalCases</a:t>
            </a:r>
            <a:r>
              <a:rPr lang="en-US" sz="800" dirty="0"/>
              <a:t>::test_B3_concurrent_report_requests - </a:t>
            </a:r>
            <a:r>
              <a:rPr lang="en-US" sz="800" dirty="0" err="1"/>
              <a:t>AssertionError</a:t>
            </a:r>
            <a:r>
              <a:rPr lang="en-US" sz="800" dirty="0"/>
              <a:t>: Only 0.0% of concurrent requests succeeded</a:t>
            </a:r>
          </a:p>
          <a:p>
            <a:pPr marL="139700" indent="0">
              <a:lnSpc>
                <a:spcPct val="100000"/>
              </a:lnSpc>
              <a:buNone/>
            </a:pPr>
            <a:r>
              <a:rPr lang="en-US" sz="800" dirty="0"/>
              <a:t>======================================================== 1 failed, 15 passed in 155.01s (0:02:35) </a:t>
            </a:r>
            <a:r>
              <a:rPr lang="en-US" sz="800" dirty="0" smtClean="0"/>
              <a:t>=========================================================</a:t>
            </a:r>
            <a:endParaRPr lang="en-US" sz="800" dirty="0"/>
          </a:p>
        </p:txBody>
      </p:sp>
    </p:spTree>
    <p:extLst>
      <p:ext uri="{BB962C8B-B14F-4D97-AF65-F5344CB8AC3E}">
        <p14:creationId xmlns:p14="http://schemas.microsoft.com/office/powerpoint/2010/main" val="4032219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31"/>
        <p:cNvGrpSpPr/>
        <p:nvPr/>
      </p:nvGrpSpPr>
      <p:grpSpPr>
        <a:xfrm>
          <a:off x="0" y="0"/>
          <a:ext cx="0" cy="0"/>
          <a:chOff x="0" y="0"/>
          <a:chExt cx="0" cy="0"/>
        </a:xfrm>
      </p:grpSpPr>
      <p:sp>
        <p:nvSpPr>
          <p:cNvPr id="232" name="Google Shape;232;p37"/>
          <p:cNvSpPr txBox="1">
            <a:spLocks noGrp="1"/>
          </p:cNvSpPr>
          <p:nvPr>
            <p:ph type="title"/>
          </p:nvPr>
        </p:nvSpPr>
        <p:spPr>
          <a:xfrm>
            <a:off x="238000" y="1295400"/>
            <a:ext cx="4334000" cy="3352800"/>
          </a:xfrm>
          <a:prstGeom prst="rect">
            <a:avLst/>
          </a:prstGeom>
        </p:spPr>
        <p:txBody>
          <a:bodyPr spcFirstLastPara="1" wrap="square" lIns="91425" tIns="0" rIns="91425" bIns="0" anchor="ctr" anchorCtr="0">
            <a:noAutofit/>
          </a:bodyPr>
          <a:lstStyle/>
          <a:p>
            <a:r>
              <a:rPr lang="en-US" dirty="0"/>
              <a:t>System</a:t>
            </a:r>
            <a:br>
              <a:rPr lang="en-US" dirty="0"/>
            </a:br>
            <a:r>
              <a:rPr lang="en-US" dirty="0"/>
              <a:t>Performance Testing</a:t>
            </a:r>
            <a:r>
              <a:rPr lang="en-US" sz="4000" dirty="0"/>
              <a:t/>
            </a:r>
            <a:br>
              <a:rPr lang="en-US" sz="4000" dirty="0"/>
            </a:br>
            <a:endParaRPr sz="3200" dirty="0"/>
          </a:p>
        </p:txBody>
      </p:sp>
      <p:sp>
        <p:nvSpPr>
          <p:cNvPr id="233" name="Google Shape;233;p37"/>
          <p:cNvSpPr txBox="1">
            <a:spLocks noGrp="1"/>
          </p:cNvSpPr>
          <p:nvPr>
            <p:ph type="title" idx="2"/>
          </p:nvPr>
        </p:nvSpPr>
        <p:spPr>
          <a:xfrm>
            <a:off x="4648200" y="1748375"/>
            <a:ext cx="2286000" cy="1664100"/>
          </a:xfrm>
          <a:prstGeom prst="rect">
            <a:avLst/>
          </a:prstGeom>
        </p:spPr>
        <p:txBody>
          <a:bodyPr spcFirstLastPara="1" wrap="square" lIns="91425" tIns="0" rIns="91425" bIns="0" anchor="ctr" anchorCtr="0">
            <a:noAutofit/>
          </a:bodyPr>
          <a:lstStyle/>
          <a:p>
            <a:pPr marL="0" lvl="0" indent="0" algn="l" rtl="0">
              <a:spcBef>
                <a:spcPts val="0"/>
              </a:spcBef>
              <a:spcAft>
                <a:spcPts val="0"/>
              </a:spcAft>
              <a:buNone/>
            </a:pPr>
            <a:r>
              <a:rPr lang="en" dirty="0" smtClean="0"/>
              <a:t>05</a:t>
            </a:r>
            <a:endParaRPr dirty="0"/>
          </a:p>
        </p:txBody>
      </p:sp>
    </p:spTree>
    <p:extLst>
      <p:ext uri="{BB962C8B-B14F-4D97-AF65-F5344CB8AC3E}">
        <p14:creationId xmlns:p14="http://schemas.microsoft.com/office/powerpoint/2010/main" val="1893718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7" name="Google Shape;1007;p66"/>
          <p:cNvSpPr txBox="1">
            <a:spLocks noGrp="1"/>
          </p:cNvSpPr>
          <p:nvPr>
            <p:ph type="title"/>
          </p:nvPr>
        </p:nvSpPr>
        <p:spPr>
          <a:xfrm>
            <a:off x="720000" y="255372"/>
            <a:ext cx="7704000" cy="5727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en" sz="4000" dirty="0"/>
              <a:t>PREDICTED GROWTH</a:t>
            </a:r>
            <a:endParaRPr sz="4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020" y="828072"/>
            <a:ext cx="8061960" cy="39765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7" name="Google Shape;1007;p66"/>
          <p:cNvSpPr txBox="1">
            <a:spLocks noGrp="1"/>
          </p:cNvSpPr>
          <p:nvPr>
            <p:ph type="title"/>
          </p:nvPr>
        </p:nvSpPr>
        <p:spPr>
          <a:xfrm>
            <a:off x="720000" y="255372"/>
            <a:ext cx="7704000" cy="5727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en" sz="4000" dirty="0"/>
              <a:t>PREDICTED GROWTH</a:t>
            </a:r>
            <a:endParaRPr sz="4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5389" y="934751"/>
            <a:ext cx="6831331" cy="3789903"/>
          </a:xfrm>
          <a:prstGeom prst="rect">
            <a:avLst/>
          </a:prstGeom>
        </p:spPr>
      </p:pic>
    </p:spTree>
    <p:extLst>
      <p:ext uri="{BB962C8B-B14F-4D97-AF65-F5344CB8AC3E}">
        <p14:creationId xmlns:p14="http://schemas.microsoft.com/office/powerpoint/2010/main" val="29240205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7" name="Google Shape;1007;p66"/>
          <p:cNvSpPr txBox="1">
            <a:spLocks noGrp="1"/>
          </p:cNvSpPr>
          <p:nvPr>
            <p:ph type="title"/>
          </p:nvPr>
        </p:nvSpPr>
        <p:spPr>
          <a:xfrm>
            <a:off x="720000" y="255372"/>
            <a:ext cx="7704000" cy="5727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en" sz="4000" dirty="0"/>
              <a:t>PREDICTED GROWTH</a:t>
            </a:r>
            <a:endParaRPr sz="4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9786" y="828072"/>
            <a:ext cx="4944427" cy="39555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4543133"/>
      </p:ext>
    </p:extLst>
  </p:cSld>
  <p:clrMapOvr>
    <a:masterClrMapping/>
  </p:clrMapOvr>
</p:sld>
</file>

<file path=ppt/theme/theme1.xml><?xml version="1.0" encoding="utf-8"?>
<a:theme xmlns:a="http://schemas.openxmlformats.org/drawingml/2006/main" name="Banquet Hall Business Plan by Slidesgo">
  <a:themeElements>
    <a:clrScheme name="Simple Light">
      <a:dk1>
        <a:srgbClr val="383837"/>
      </a:dk1>
      <a:lt1>
        <a:srgbClr val="F0F0EE"/>
      </a:lt1>
      <a:dk2>
        <a:srgbClr val="4C4C4B"/>
      </a:dk2>
      <a:lt2>
        <a:srgbClr val="E9E8E5"/>
      </a:lt2>
      <a:accent1>
        <a:srgbClr val="D7D8D7"/>
      </a:accent1>
      <a:accent2>
        <a:srgbClr val="CECBB8"/>
      </a:accent2>
      <a:accent3>
        <a:srgbClr val="DED3BF"/>
      </a:accent3>
      <a:accent4>
        <a:srgbClr val="C6B7A2"/>
      </a:accent4>
      <a:accent5>
        <a:srgbClr val="BAA387"/>
      </a:accent5>
      <a:accent6>
        <a:srgbClr val="A7A096"/>
      </a:accent6>
      <a:hlink>
        <a:srgbClr val="4C4C4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302</TotalTime>
  <Words>1209</Words>
  <Application>Microsoft Office PowerPoint</Application>
  <PresentationFormat>On-screen Show (16:9)</PresentationFormat>
  <Paragraphs>305</Paragraphs>
  <Slides>25</Slides>
  <Notes>21</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Montserrat Black</vt:lpstr>
      <vt:lpstr>Arial</vt:lpstr>
      <vt:lpstr>Montserrat Medium</vt:lpstr>
      <vt:lpstr>Quicksand Medium</vt:lpstr>
      <vt:lpstr>Quicksand</vt:lpstr>
      <vt:lpstr>Montserrat</vt:lpstr>
      <vt:lpstr>Bebas Neue</vt:lpstr>
      <vt:lpstr>Banquet Hall Business Plan by Slidesgo</vt:lpstr>
      <vt:lpstr>Testing &amp; Evaluation</vt:lpstr>
      <vt:lpstr>Acting Evaluation System Overview</vt:lpstr>
      <vt:lpstr>Challenges Addressed by the System</vt:lpstr>
      <vt:lpstr>TESTING STRATEGY</vt:lpstr>
      <vt:lpstr>A. Functional Cases</vt:lpstr>
      <vt:lpstr>A. Functional Cases</vt:lpstr>
      <vt:lpstr>A. Functional Cases</vt:lpstr>
      <vt:lpstr>A. Functional Cases</vt:lpstr>
      <vt:lpstr>PowerPoint Presentation</vt:lpstr>
      <vt:lpstr>B. Non-Functional Cases</vt:lpstr>
      <vt:lpstr>B. Non-Functional Cases</vt:lpstr>
      <vt:lpstr>B. Non-Functional Cases</vt:lpstr>
      <vt:lpstr>B. Non-Functional Cases</vt:lpstr>
      <vt:lpstr>Usability  testing</vt:lpstr>
      <vt:lpstr>Testing  plan</vt:lpstr>
      <vt:lpstr>Metrics to Test Usability</vt:lpstr>
      <vt:lpstr>Field  study (REAL ENVIRONMENT TEST)</vt:lpstr>
      <vt:lpstr>STRATEGY</vt:lpstr>
      <vt:lpstr>Playwright Automated  testing </vt:lpstr>
      <vt:lpstr>PowerPoint Presentation</vt:lpstr>
      <vt:lpstr>PowerPoint Presentation</vt:lpstr>
      <vt:lpstr>System Performance Testing </vt:lpstr>
      <vt:lpstr>PREDICTED GROWTH</vt:lpstr>
      <vt:lpstr>PREDICTED GROWTH</vt:lpstr>
      <vt:lpstr>PREDICTED GROWTH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Banquet Hall Business plan</dc:title>
  <cp:lastModifiedBy>Mira William</cp:lastModifiedBy>
  <cp:revision>37</cp:revision>
  <dcterms:modified xsi:type="dcterms:W3CDTF">2026-04-22T23:12:53Z</dcterms:modified>
</cp:coreProperties>
</file>