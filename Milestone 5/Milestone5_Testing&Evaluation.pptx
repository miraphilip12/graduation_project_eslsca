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25"/>
  </p:notesMasterIdLst>
  <p:sldIdLst>
    <p:sldId id="256" r:id="rId2"/>
    <p:sldId id="298" r:id="rId3"/>
    <p:sldId id="299" r:id="rId4"/>
    <p:sldId id="300" r:id="rId5"/>
    <p:sldId id="301" r:id="rId6"/>
    <p:sldId id="302" r:id="rId7"/>
    <p:sldId id="304" r:id="rId8"/>
    <p:sldId id="305" r:id="rId9"/>
    <p:sldId id="306" r:id="rId10"/>
    <p:sldId id="307" r:id="rId11"/>
    <p:sldId id="308" r:id="rId12"/>
    <p:sldId id="261" r:id="rId13"/>
    <p:sldId id="259" r:id="rId14"/>
    <p:sldId id="309" r:id="rId15"/>
    <p:sldId id="310" r:id="rId16"/>
    <p:sldId id="265" r:id="rId17"/>
    <p:sldId id="311" r:id="rId18"/>
    <p:sldId id="290" r:id="rId19"/>
    <p:sldId id="312" r:id="rId20"/>
    <p:sldId id="313" r:id="rId21"/>
    <p:sldId id="314" r:id="rId22"/>
    <p:sldId id="315" r:id="rId23"/>
    <p:sldId id="316" r:id="rId24"/>
  </p:sldIdLst>
  <p:sldSz cx="9144000" cy="5143500" type="screen16x9"/>
  <p:notesSz cx="6858000" cy="9144000"/>
  <p:embeddedFontLst>
    <p:embeddedFont>
      <p:font typeface="Montserrat Black" panose="020B0604020202020204" charset="0"/>
      <p:bold r:id="rId26"/>
      <p:boldItalic r:id="rId27"/>
    </p:embeddedFont>
    <p:embeddedFont>
      <p:font typeface="Montserrat Medium" panose="020B0604020202020204" charset="0"/>
      <p:regular r:id="rId28"/>
      <p:bold r:id="rId29"/>
      <p:italic r:id="rId30"/>
      <p:boldItalic r:id="rId31"/>
    </p:embeddedFont>
    <p:embeddedFont>
      <p:font typeface="Quicksand Medium" panose="020B0604020202020204" charset="0"/>
      <p:regular r:id="rId32"/>
      <p:bold r:id="rId33"/>
    </p:embeddedFont>
    <p:embeddedFont>
      <p:font typeface="Quicksand" panose="020B0604020202020204" charset="0"/>
      <p:regular r:id="rId34"/>
      <p:bold r:id="rId35"/>
    </p:embeddedFont>
    <p:embeddedFont>
      <p:font typeface="Montserrat" panose="020B0604020202020204" charset="0"/>
      <p:regular r:id="rId36"/>
      <p:bold r:id="rId37"/>
      <p:italic r:id="rId38"/>
      <p:boldItalic r:id="rId39"/>
    </p:embeddedFont>
    <p:embeddedFont>
      <p:font typeface="Bebas Neue" panose="020B0604020202020204" charset="0"/>
      <p:regular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A799AC-BB72-4878-BA20-D60459698B90}">
  <a:tblStyle styleId="{B4A799AC-BB72-4878-BA20-D60459698B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510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384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1305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316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129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5778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047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4902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36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5227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435532658d_0_449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435532658d_0_449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41432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8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1435532658d_0_460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1435532658d_0_460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92250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2490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84217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44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-15000"/>
            <a:ext cx="4572000" cy="5173500"/>
          </a:xfrm>
          <a:prstGeom prst="rect">
            <a:avLst/>
          </a:prstGeom>
          <a:solidFill>
            <a:srgbClr val="3838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534499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202325"/>
            <a:ext cx="6367800" cy="2624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 flipH="1">
            <a:off x="4572000" y="-30125"/>
            <a:ext cx="4572000" cy="51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0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_1">
    <p:bg>
      <p:bgPr>
        <a:solidFill>
          <a:schemeClr val="dk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1_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92155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0048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800"/>
              <a:buFont typeface="Bebas Neue"/>
              <a:buNone/>
              <a:defRPr sz="4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4" r:id="rId5"/>
    <p:sldLayoutId id="2147483658" r:id="rId6"/>
    <p:sldLayoutId id="2147483666" r:id="rId7"/>
    <p:sldLayoutId id="2147483668" r:id="rId8"/>
    <p:sldLayoutId id="2147483673" r:id="rId9"/>
    <p:sldLayoutId id="2147483674" r:id="rId10"/>
    <p:sldLayoutId id="2147483678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/>
          <p:nvPr/>
        </p:nvSpPr>
        <p:spPr>
          <a:xfrm>
            <a:off x="942975" y="3076575"/>
            <a:ext cx="3475800" cy="647700"/>
          </a:xfrm>
          <a:prstGeom prst="rect">
            <a:avLst/>
          </a:prstGeom>
          <a:solidFill>
            <a:srgbClr val="4C4C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3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sz="7200" dirty="0">
                <a:solidFill>
                  <a:schemeClr val="accent3"/>
                </a:solidFill>
              </a:rPr>
              <a:t>Testing &amp;</a:t>
            </a:r>
            <a:br>
              <a:rPr lang="en-US" sz="7200" dirty="0">
                <a:solidFill>
                  <a:schemeClr val="accent3"/>
                </a:solidFill>
              </a:rPr>
            </a:br>
            <a:r>
              <a:rPr lang="en-US" sz="7200" dirty="0">
                <a:solidFill>
                  <a:schemeClr val="accent3"/>
                </a:solidFill>
              </a:rPr>
              <a:t>Evaluation</a:t>
            </a:r>
            <a:endParaRPr sz="7200" dirty="0" smtClean="0">
              <a:solidFill>
                <a:schemeClr val="accent3"/>
              </a:solidFill>
            </a:endParaRPr>
          </a:p>
        </p:txBody>
      </p:sp>
      <p:sp>
        <p:nvSpPr>
          <p:cNvPr id="174" name="Google Shape;174;p3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10440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Milestone 5 done by:</a:t>
            </a:r>
            <a:br>
              <a:rPr lang="en-US" dirty="0"/>
            </a:br>
            <a:r>
              <a:rPr lang="en-US" dirty="0"/>
              <a:t>Mehraeel Philip, </a:t>
            </a:r>
            <a:r>
              <a:rPr lang="en-US" dirty="0" err="1"/>
              <a:t>Fatema</a:t>
            </a:r>
            <a:r>
              <a:rPr lang="en-US" dirty="0"/>
              <a:t> </a:t>
            </a:r>
            <a:r>
              <a:rPr lang="en-US" dirty="0" err="1"/>
              <a:t>Milad</a:t>
            </a:r>
            <a:r>
              <a:rPr lang="en-US" dirty="0"/>
              <a:t>, Sama </a:t>
            </a:r>
            <a:r>
              <a:rPr lang="en-US" dirty="0" err="1"/>
              <a:t>Gehad</a:t>
            </a:r>
            <a:r>
              <a:rPr lang="en-US" dirty="0"/>
              <a:t>, Marwan Ahmed, </a:t>
            </a:r>
            <a:endParaRPr lang="en-US" dirty="0" smtClean="0"/>
          </a:p>
          <a:p>
            <a:pPr marL="0" lvl="0" indent="0"/>
            <a:r>
              <a:rPr lang="en-US" dirty="0" smtClean="0"/>
              <a:t>Mo’men </a:t>
            </a:r>
            <a:r>
              <a:rPr lang="en-US" dirty="0" err="1"/>
              <a:t>Mohie</a:t>
            </a:r>
            <a:r>
              <a:rPr lang="en-US" dirty="0"/>
              <a:t> &amp; Jana </a:t>
            </a:r>
            <a:r>
              <a:rPr lang="en-US" dirty="0" err="1"/>
              <a:t>Mahdy</a:t>
            </a:r>
            <a:endParaRPr dirty="0"/>
          </a:p>
        </p:txBody>
      </p:sp>
      <p:pic>
        <p:nvPicPr>
          <p:cNvPr id="1028" name="Picture 4" descr="176,214 Movie Directors Royalty-Free Images, Stock Photo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4"/>
          <a:stretch/>
        </p:blipFill>
        <p:spPr bwMode="auto">
          <a:xfrm>
            <a:off x="4986655" y="1848425"/>
            <a:ext cx="3714750" cy="245300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6"/>
          <p:cNvSpPr txBox="1">
            <a:spLocks noGrp="1"/>
          </p:cNvSpPr>
          <p:nvPr>
            <p:ph type="title" idx="4294967295"/>
          </p:nvPr>
        </p:nvSpPr>
        <p:spPr>
          <a:xfrm>
            <a:off x="720000" y="352713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397" y="1311672"/>
            <a:ext cx="8096190" cy="336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4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18431195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654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534770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193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8724187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420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E"/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7243506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203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315972303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TC19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29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9172464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5000 </a:t>
                      </a:r>
                      <a:r>
                        <a:rPr lang="en-US" sz="1200" b="1" dirty="0" err="1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021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3094827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26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53157991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17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5565649"/>
              </p:ext>
            </p:extLst>
          </p:nvPr>
        </p:nvGraphicFramePr>
        <p:xfrm>
          <a:off x="848286" y="850034"/>
          <a:ext cx="7447428" cy="39094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232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Usability </a:t>
            </a:r>
            <a:br>
              <a:rPr lang="en" dirty="0" smtClean="0"/>
            </a:br>
            <a:r>
              <a:rPr lang="en" dirty="0" smtClean="0"/>
              <a:t>testing</a:t>
            </a:r>
            <a:endParaRPr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5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/>
            <a:r>
              <a:rPr lang="en-US" dirty="0"/>
              <a:t>Measure: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Time to complete tasks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Number of errors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Task success rate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Participants: 5–10 users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User satisfaction</a:t>
            </a:r>
          </a:p>
        </p:txBody>
      </p:sp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</a:t>
            </a:r>
            <a:br>
              <a:rPr lang="en" dirty="0" smtClean="0"/>
            </a:br>
            <a:r>
              <a:rPr lang="en" dirty="0" smtClean="0"/>
              <a:t>plan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5"/>
          <p:cNvSpPr txBox="1">
            <a:spLocks noGrp="1"/>
          </p:cNvSpPr>
          <p:nvPr>
            <p:ph type="title" idx="4294967295"/>
          </p:nvPr>
        </p:nvSpPr>
        <p:spPr>
          <a:xfrm>
            <a:off x="0" y="539750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Metrics to Test Usability</a:t>
            </a:r>
            <a:endParaRPr dirty="0"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3304507410"/>
              </p:ext>
            </p:extLst>
          </p:nvPr>
        </p:nvGraphicFramePr>
        <p:xfrm>
          <a:off x="720000" y="1576514"/>
          <a:ext cx="7704000" cy="16533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9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5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381">
                  <a:extLst>
                    <a:ext uri="{9D8B030D-6E8A-4147-A177-3AD203B41FA5}">
                      <a16:colId xmlns:a16="http://schemas.microsoft.com/office/drawing/2014/main" val="1634702740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Results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100 %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 3 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</a:t>
                      </a: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score: 85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Google Shape;447;p38"/>
          <p:cNvSpPr txBox="1">
            <a:spLocks/>
          </p:cNvSpPr>
          <p:nvPr/>
        </p:nvSpPr>
        <p:spPr>
          <a:xfrm>
            <a:off x="720000" y="3437217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Use </a:t>
            </a:r>
            <a:r>
              <a:rPr lang="en-US" sz="1100" b="1" dirty="0"/>
              <a:t>SUS (System Usability Scale)</a:t>
            </a:r>
            <a:endParaRPr lang="en-US" sz="1100" dirty="0"/>
          </a:p>
          <a:p>
            <a:pPr algn="l"/>
            <a:r>
              <a:rPr lang="en-US" sz="1100" dirty="0"/>
              <a:t>Score range: 0–100 </a:t>
            </a:r>
          </a:p>
          <a:p>
            <a:pPr algn="l"/>
            <a:r>
              <a:rPr lang="en-US" sz="1100" dirty="0"/>
              <a:t>Passing score: </a:t>
            </a:r>
            <a:r>
              <a:rPr lang="en-US" sz="1100" b="1" dirty="0"/>
              <a:t>≥ 68</a:t>
            </a:r>
            <a:r>
              <a:rPr lang="en-US" sz="1100" dirty="0"/>
              <a:t> </a:t>
            </a:r>
            <a:endParaRPr lang="en-US" sz="1100" dirty="0" smtClean="0"/>
          </a:p>
          <a:p>
            <a:pPr algn="l"/>
            <a:endParaRPr lang="en-US" sz="1100" dirty="0"/>
          </a:p>
        </p:txBody>
      </p:sp>
      <p:sp>
        <p:nvSpPr>
          <p:cNvPr id="8" name="Google Shape;447;p38"/>
          <p:cNvSpPr txBox="1">
            <a:spLocks/>
          </p:cNvSpPr>
          <p:nvPr/>
        </p:nvSpPr>
        <p:spPr>
          <a:xfrm>
            <a:off x="4486457" y="3437216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Example of feedbacks:</a:t>
            </a:r>
          </a:p>
          <a:p>
            <a:pPr algn="l"/>
            <a:r>
              <a:rPr lang="en-US" sz="1100" dirty="0"/>
              <a:t>“The system was easy to use” </a:t>
            </a:r>
          </a:p>
          <a:p>
            <a:pPr algn="l"/>
            <a:r>
              <a:rPr lang="en-US" sz="1100" dirty="0"/>
              <a:t>“I felt confident using the system”</a:t>
            </a:r>
          </a:p>
        </p:txBody>
      </p:sp>
    </p:spTree>
    <p:extLst>
      <p:ext uri="{BB962C8B-B14F-4D97-AF65-F5344CB8AC3E}">
        <p14:creationId xmlns:p14="http://schemas.microsoft.com/office/powerpoint/2010/main" val="199140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 smtClean="0"/>
              <a:t>Field </a:t>
            </a:r>
            <a:br>
              <a:rPr lang="en" dirty="0" smtClean="0"/>
            </a:br>
            <a:r>
              <a:rPr lang="en" dirty="0" smtClean="0"/>
              <a:t>study</a:t>
            </a:r>
            <a:br>
              <a:rPr lang="en" dirty="0" smtClean="0"/>
            </a:br>
            <a:r>
              <a:rPr lang="en-US" sz="3200" dirty="0"/>
              <a:t>(REAL ENVIRONMENT </a:t>
            </a:r>
            <a:r>
              <a:rPr lang="en-US" sz="3200" dirty="0" smtClean="0"/>
              <a:t>TEST)</a:t>
            </a: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7725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1"/>
          <p:cNvSpPr txBox="1">
            <a:spLocks noGrp="1"/>
          </p:cNvSpPr>
          <p:nvPr>
            <p:ph type="subTitle" idx="1"/>
          </p:nvPr>
        </p:nvSpPr>
        <p:spPr>
          <a:xfrm>
            <a:off x="7200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/>
            <a:r>
              <a:rPr lang="en-US" dirty="0"/>
              <a:t>Implementation</a:t>
            </a:r>
          </a:p>
        </p:txBody>
      </p:sp>
      <p:sp>
        <p:nvSpPr>
          <p:cNvPr id="305" name="Google Shape;305;p41"/>
          <p:cNvSpPr txBox="1">
            <a:spLocks noGrp="1"/>
          </p:cNvSpPr>
          <p:nvPr>
            <p:ph type="subTitle" idx="2"/>
          </p:nvPr>
        </p:nvSpPr>
        <p:spPr>
          <a:xfrm>
            <a:off x="853440" y="2141220"/>
            <a:ext cx="2142000" cy="2026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Upload video of performing </a:t>
            </a:r>
            <a:r>
              <a:rPr lang="en-US" dirty="0"/>
              <a:t>scenes naturally.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Use the system for real auditions</a:t>
            </a:r>
          </a:p>
        </p:txBody>
      </p:sp>
      <p:sp>
        <p:nvSpPr>
          <p:cNvPr id="306" name="Google Shape;306;p41"/>
          <p:cNvSpPr txBox="1">
            <a:spLocks noGrp="1"/>
          </p:cNvSpPr>
          <p:nvPr>
            <p:ph type="subTitle" idx="3"/>
          </p:nvPr>
        </p:nvSpPr>
        <p:spPr>
          <a:xfrm>
            <a:off x="3694620" y="2141219"/>
            <a:ext cx="185343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dirty="0"/>
              <a:t>Observations – Interviews - Video recordings </a:t>
            </a:r>
            <a:r>
              <a:rPr lang="en-US" dirty="0" smtClean="0"/>
              <a:t>upload- </a:t>
            </a:r>
            <a:r>
              <a:rPr lang="en-US" dirty="0"/>
              <a:t>User feedback</a:t>
            </a:r>
          </a:p>
        </p:txBody>
      </p:sp>
      <p:sp>
        <p:nvSpPr>
          <p:cNvPr id="307" name="Google Shape;307;p41"/>
          <p:cNvSpPr txBox="1">
            <a:spLocks noGrp="1"/>
          </p:cNvSpPr>
          <p:nvPr>
            <p:ph type="subTitle" idx="4"/>
          </p:nvPr>
        </p:nvSpPr>
        <p:spPr>
          <a:xfrm>
            <a:off x="6282000" y="2141219"/>
            <a:ext cx="214200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Backend processing time, report accuracy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Actor feels stressed = gaze instability</a:t>
            </a:r>
          </a:p>
        </p:txBody>
      </p:sp>
      <p:sp>
        <p:nvSpPr>
          <p:cNvPr id="308" name="Google Shape;308;p41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STRATEGY</a:t>
            </a:r>
            <a:endParaRPr dirty="0"/>
          </a:p>
        </p:txBody>
      </p:sp>
      <p:sp>
        <p:nvSpPr>
          <p:cNvPr id="309" name="Google Shape;309;p41"/>
          <p:cNvSpPr txBox="1">
            <a:spLocks noGrp="1"/>
          </p:cNvSpPr>
          <p:nvPr>
            <p:ph type="subTitle" idx="5"/>
          </p:nvPr>
        </p:nvSpPr>
        <p:spPr>
          <a:xfrm>
            <a:off x="34038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Data Collection</a:t>
            </a:r>
          </a:p>
        </p:txBody>
      </p:sp>
      <p:sp>
        <p:nvSpPr>
          <p:cNvPr id="310" name="Google Shape;310;p41"/>
          <p:cNvSpPr txBox="1">
            <a:spLocks noGrp="1"/>
          </p:cNvSpPr>
          <p:nvPr>
            <p:ph type="subTitle" idx="6"/>
          </p:nvPr>
        </p:nvSpPr>
        <p:spPr>
          <a:xfrm>
            <a:off x="60876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Findings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Performance 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718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" y="828072"/>
            <a:ext cx="8061960" cy="39765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389" y="934751"/>
            <a:ext cx="6831331" cy="3789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20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86" y="828072"/>
            <a:ext cx="4944427" cy="39555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5431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 smtClean="0"/>
              <a:t>Playwright</a:t>
            </a:r>
            <a:br>
              <a:rPr lang="en-US" dirty="0" smtClean="0"/>
            </a:br>
            <a:r>
              <a:rPr lang="en-US" dirty="0" smtClean="0"/>
              <a:t>Automated </a:t>
            </a:r>
            <a:br>
              <a:rPr lang="en-US" dirty="0" smtClean="0"/>
            </a:br>
            <a:r>
              <a:rPr lang="en-US" dirty="0" smtClean="0"/>
              <a:t>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24341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28600" y="646784"/>
            <a:ext cx="8860199" cy="4839616"/>
          </a:xfrm>
        </p:spPr>
        <p:txBody>
          <a:bodyPr/>
          <a:lstStyle/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=================================================================== test session starts ===================================================================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platform win32 -- Python 3.9.23, pytest-8.4.2, pluggy-1.6.0 -- C:\Graduation Project\V8\</a:t>
            </a:r>
            <a:r>
              <a:rPr lang="en-US" sz="800" dirty="0" err="1"/>
              <a:t>venv</a:t>
            </a:r>
            <a:r>
              <a:rPr lang="en-US" sz="800" dirty="0"/>
              <a:t>\Scripts\python.exe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 err="1"/>
              <a:t>cachedir</a:t>
            </a:r>
            <a:r>
              <a:rPr lang="en-US" sz="800" dirty="0"/>
              <a:t>: .</a:t>
            </a:r>
            <a:r>
              <a:rPr lang="en-US" sz="800" dirty="0" err="1"/>
              <a:t>pytest_cache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 err="1"/>
              <a:t>rootdir</a:t>
            </a:r>
            <a:r>
              <a:rPr lang="en-US" sz="800" dirty="0"/>
              <a:t>: C:\Graduation Project\V8\</a:t>
            </a:r>
            <a:r>
              <a:rPr lang="en-US" sz="800" dirty="0" err="1"/>
              <a:t>web_app</a:t>
            </a:r>
            <a:r>
              <a:rPr lang="en-US" sz="800" dirty="0"/>
              <a:t>\tests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plugins: anyio-4.12.1, dash-4.0.0, base-url-2.1.0, playwright-0.7.1, timeout-2.4.0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collected 16 items                                                                                                                                         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::test_A1_user_authentication_and_session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::test_A2_report_generation_and_download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::test_A3_report_content_validation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::test_A4_report_history_and_retrieval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::test_A5_performance_metrics_in_report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::test_B1_page_load_time   Page load time: 1752ms ✓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::test_B2_report_generation_time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::test_B3_concurrent_report_requests FAILED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::test_B4_api_response_time   /</a:t>
            </a:r>
            <a:r>
              <a:rPr lang="en-US" sz="800" dirty="0" err="1"/>
              <a:t>api</a:t>
            </a:r>
            <a:r>
              <a:rPr lang="en-US" sz="800" dirty="0"/>
              <a:t>/reports: Not available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/</a:t>
            </a:r>
            <a:r>
              <a:rPr lang="en-US" sz="800" dirty="0" err="1"/>
              <a:t>api</a:t>
            </a:r>
            <a:r>
              <a:rPr lang="en-US" sz="800" dirty="0"/>
              <a:t>/performance-metrics: Not available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/</a:t>
            </a:r>
            <a:r>
              <a:rPr lang="en-US" sz="800" dirty="0" err="1"/>
              <a:t>api</a:t>
            </a:r>
            <a:r>
              <a:rPr lang="en-US" sz="800" dirty="0"/>
              <a:t>/user/history: Not available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::test_B5_database_query_performance   Database query time: 542ms ✓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TestReportQuality</a:t>
            </a:r>
            <a:r>
              <a:rPr lang="en-US" sz="800" dirty="0"/>
              <a:t>::</a:t>
            </a:r>
            <a:r>
              <a:rPr lang="en-US" sz="800" dirty="0" err="1"/>
              <a:t>test_report_emotion_summary_exists</a:t>
            </a:r>
            <a:r>
              <a:rPr lang="en-US" sz="800" dirty="0"/>
              <a:t>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TestReportQuality</a:t>
            </a:r>
            <a:r>
              <a:rPr lang="en-US" sz="800" dirty="0"/>
              <a:t>::</a:t>
            </a:r>
            <a:r>
              <a:rPr lang="en-US" sz="800" dirty="0" err="1"/>
              <a:t>test_report_recommendations_exist</a:t>
            </a:r>
            <a:r>
              <a:rPr lang="en-US" sz="800" dirty="0"/>
              <a:t>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TestReportQuality</a:t>
            </a:r>
            <a:r>
              <a:rPr lang="en-US" sz="800" dirty="0"/>
              <a:t>::</a:t>
            </a:r>
            <a:r>
              <a:rPr lang="en-US" sz="800" dirty="0" err="1"/>
              <a:t>test_report_download_formats</a:t>
            </a:r>
            <a:r>
              <a:rPr lang="en-US" sz="800" dirty="0"/>
              <a:t>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TestUsabilitySUS</a:t>
            </a:r>
            <a:r>
              <a:rPr lang="en-US" sz="800" dirty="0"/>
              <a:t>::</a:t>
            </a:r>
            <a:r>
              <a:rPr lang="en-US" sz="800" dirty="0" err="1"/>
              <a:t>test_sus_task_navigation</a:t>
            </a:r>
            <a:r>
              <a:rPr lang="en-US" sz="800" dirty="0"/>
              <a:t> ✓ SUS navigation test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TestUsabilitySUS</a:t>
            </a:r>
            <a:r>
              <a:rPr lang="en-US" sz="800" dirty="0"/>
              <a:t>::</a:t>
            </a:r>
            <a:r>
              <a:rPr lang="en-US" sz="800" dirty="0" err="1"/>
              <a:t>test_sus_error_count</a:t>
            </a:r>
            <a:r>
              <a:rPr lang="en-US" sz="800" dirty="0"/>
              <a:t>   Errors in workflow: 0 ✓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test_backend_emotion_api</a:t>
            </a:r>
            <a:r>
              <a:rPr lang="en-US" sz="800" dirty="0"/>
              <a:t>   Note: Backend emotion API endpoint not found - check implementation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193571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5417" y="535948"/>
            <a:ext cx="10176165" cy="4839616"/>
          </a:xfrm>
        </p:spPr>
        <p:txBody>
          <a:bodyPr/>
          <a:lstStyle/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======================================================================== FAILURES =========================================================================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 smtClean="0"/>
              <a:t>_______________________________________ </a:t>
            </a:r>
            <a:r>
              <a:rPr lang="en-US" sz="800" dirty="0"/>
              <a:t>TestNonFunctionalCases.test_B3_concurrent_report_requests </a:t>
            </a:r>
            <a:r>
              <a:rPr lang="en-US" sz="800" dirty="0" smtClean="0"/>
              <a:t>_______________________________________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self = &lt;</a:t>
            </a:r>
            <a:r>
              <a:rPr lang="en-US" sz="800" dirty="0" err="1"/>
              <a:t>test_app.TestNonFunctionalCases</a:t>
            </a:r>
            <a:r>
              <a:rPr lang="en-US" sz="800" dirty="0"/>
              <a:t> object at 0x000002ABFF2E9070&gt;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  <a:r>
              <a:rPr lang="en-US" sz="800" dirty="0" err="1"/>
              <a:t>def</a:t>
            </a:r>
            <a:r>
              <a:rPr lang="en-US" sz="800" dirty="0"/>
              <a:t> test_B3_concurrent_report_requests(self):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"""Test handling concurrent report requests"""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import </a:t>
            </a:r>
            <a:r>
              <a:rPr lang="en-US" sz="800" dirty="0" err="1"/>
              <a:t>concurrent.futures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</a:t>
            </a:r>
            <a:r>
              <a:rPr lang="en-US" sz="800" dirty="0" err="1"/>
              <a:t>def</a:t>
            </a:r>
            <a:r>
              <a:rPr lang="en-US" sz="800" dirty="0"/>
              <a:t> </a:t>
            </a:r>
            <a:r>
              <a:rPr lang="en-US" sz="800" dirty="0" err="1"/>
              <a:t>request_report</a:t>
            </a:r>
            <a:r>
              <a:rPr lang="en-US" sz="800" dirty="0"/>
              <a:t>():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try: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    response = </a:t>
            </a:r>
            <a:r>
              <a:rPr lang="en-US" sz="800" dirty="0" err="1"/>
              <a:t>requests.get</a:t>
            </a:r>
            <a:r>
              <a:rPr lang="en-US" sz="800" dirty="0"/>
              <a:t>(f'{</a:t>
            </a:r>
            <a:r>
              <a:rPr lang="en-US" sz="800" dirty="0" err="1"/>
              <a:t>self.api_base</a:t>
            </a:r>
            <a:r>
              <a:rPr lang="en-US" sz="800" dirty="0"/>
              <a:t>}/</a:t>
            </a:r>
            <a:r>
              <a:rPr lang="en-US" sz="800" dirty="0" err="1"/>
              <a:t>api</a:t>
            </a:r>
            <a:r>
              <a:rPr lang="en-US" sz="800" dirty="0"/>
              <a:t>/generate-report', timeout=10)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    return </a:t>
            </a:r>
            <a:r>
              <a:rPr lang="en-US" sz="800" dirty="0" err="1"/>
              <a:t>response.status_code</a:t>
            </a:r>
            <a:r>
              <a:rPr lang="en-US" sz="800" dirty="0"/>
              <a:t> == 200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except: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    return False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# Simulate 5 concurrent report requests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with </a:t>
            </a:r>
            <a:r>
              <a:rPr lang="en-US" sz="800" dirty="0" err="1"/>
              <a:t>concurrent.futures.ThreadPoolExecutor</a:t>
            </a:r>
            <a:r>
              <a:rPr lang="en-US" sz="800" dirty="0"/>
              <a:t>(</a:t>
            </a:r>
            <a:r>
              <a:rPr lang="en-US" sz="800" dirty="0" err="1"/>
              <a:t>max_workers</a:t>
            </a:r>
            <a:r>
              <a:rPr lang="en-US" sz="800" dirty="0"/>
              <a:t>=5) as executor: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futures = [</a:t>
            </a:r>
            <a:r>
              <a:rPr lang="en-US" sz="800" dirty="0" err="1"/>
              <a:t>executor.submit</a:t>
            </a:r>
            <a:r>
              <a:rPr lang="en-US" sz="800" dirty="0"/>
              <a:t>(</a:t>
            </a:r>
            <a:r>
              <a:rPr lang="en-US" sz="800" dirty="0" err="1"/>
              <a:t>request_report</a:t>
            </a:r>
            <a:r>
              <a:rPr lang="en-US" sz="800" dirty="0"/>
              <a:t>) for _ in range(5)]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results = [</a:t>
            </a:r>
            <a:r>
              <a:rPr lang="en-US" sz="800" dirty="0" err="1"/>
              <a:t>f.result</a:t>
            </a:r>
            <a:r>
              <a:rPr lang="en-US" sz="800" dirty="0"/>
              <a:t>() for f in futures]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</a:t>
            </a:r>
            <a:r>
              <a:rPr lang="en-US" sz="800" dirty="0" err="1"/>
              <a:t>success_rate</a:t>
            </a:r>
            <a:r>
              <a:rPr lang="en-US" sz="800" dirty="0"/>
              <a:t> = sum(results) / </a:t>
            </a:r>
            <a:r>
              <a:rPr lang="en-US" sz="800" dirty="0" err="1"/>
              <a:t>len</a:t>
            </a:r>
            <a:r>
              <a:rPr lang="en-US" sz="800" dirty="0"/>
              <a:t>(results) * 100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&gt;       assert </a:t>
            </a:r>
            <a:r>
              <a:rPr lang="en-US" sz="800" dirty="0" err="1"/>
              <a:t>success_rate</a:t>
            </a:r>
            <a:r>
              <a:rPr lang="en-US" sz="800" dirty="0"/>
              <a:t> &gt;= 80, </a:t>
            </a:r>
            <a:r>
              <a:rPr lang="en-US" sz="800" dirty="0" err="1"/>
              <a:t>f"Only</a:t>
            </a:r>
            <a:r>
              <a:rPr lang="en-US" sz="800" dirty="0"/>
              <a:t> {</a:t>
            </a:r>
            <a:r>
              <a:rPr lang="en-US" sz="800" dirty="0" err="1"/>
              <a:t>success_rate</a:t>
            </a:r>
            <a:r>
              <a:rPr lang="en-US" sz="800" dirty="0"/>
              <a:t>}% of concurrent requests succeeded"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E       </a:t>
            </a:r>
            <a:r>
              <a:rPr lang="en-US" sz="800" dirty="0" err="1"/>
              <a:t>AssertionError</a:t>
            </a:r>
            <a:r>
              <a:rPr lang="en-US" sz="800" dirty="0"/>
              <a:t>: Only 0.0% of concurrent requests succeeded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E       assert 0.0 &gt;= 80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test_app.py:179: </a:t>
            </a:r>
            <a:r>
              <a:rPr lang="en-US" sz="800" dirty="0" err="1"/>
              <a:t>AssertionError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================================================================= short test summary info =================================================================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FAILED 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::test_B3_concurrent_report_requests - </a:t>
            </a:r>
            <a:r>
              <a:rPr lang="en-US" sz="800" dirty="0" err="1"/>
              <a:t>AssertionError</a:t>
            </a:r>
            <a:r>
              <a:rPr lang="en-US" sz="800" dirty="0"/>
              <a:t>: Only 0.0% of concurrent requests succeeded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 1 failed, 15 passed in 155.01s (0:02:35) </a:t>
            </a:r>
            <a:r>
              <a:rPr lang="en-US" sz="800" dirty="0" smtClean="0"/>
              <a:t>=========================================================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32219147"/>
      </p:ext>
    </p:extLst>
  </p:cSld>
  <p:clrMapOvr>
    <a:masterClrMapping/>
  </p:clrMapOvr>
</p:sld>
</file>

<file path=ppt/theme/theme1.xml><?xml version="1.0" encoding="utf-8"?>
<a:theme xmlns:a="http://schemas.openxmlformats.org/drawingml/2006/main" name="Banquet Hall Business Plan by Slidesgo">
  <a:themeElements>
    <a:clrScheme name="Simple Light">
      <a:dk1>
        <a:srgbClr val="383837"/>
      </a:dk1>
      <a:lt1>
        <a:srgbClr val="F0F0EE"/>
      </a:lt1>
      <a:dk2>
        <a:srgbClr val="4C4C4B"/>
      </a:dk2>
      <a:lt2>
        <a:srgbClr val="E9E8E5"/>
      </a:lt2>
      <a:accent1>
        <a:srgbClr val="D7D8D7"/>
      </a:accent1>
      <a:accent2>
        <a:srgbClr val="CECBB8"/>
      </a:accent2>
      <a:accent3>
        <a:srgbClr val="DED3BF"/>
      </a:accent3>
      <a:accent4>
        <a:srgbClr val="C6B7A2"/>
      </a:accent4>
      <a:accent5>
        <a:srgbClr val="BAA387"/>
      </a:accent5>
      <a:accent6>
        <a:srgbClr val="A7A096"/>
      </a:accent6>
      <a:hlink>
        <a:srgbClr val="4C4C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942</Words>
  <Application>Microsoft Office PowerPoint</Application>
  <PresentationFormat>On-screen Show (16:9)</PresentationFormat>
  <Paragraphs>289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Montserrat Black</vt:lpstr>
      <vt:lpstr>Arial</vt:lpstr>
      <vt:lpstr>Montserrat Medium</vt:lpstr>
      <vt:lpstr>Quicksand Medium</vt:lpstr>
      <vt:lpstr>Quicksand</vt:lpstr>
      <vt:lpstr>Montserrat</vt:lpstr>
      <vt:lpstr>Bebas Neue</vt:lpstr>
      <vt:lpstr>Banquet Hall Business Plan by Slidesgo</vt:lpstr>
      <vt:lpstr>Testing &amp; Evaluation</vt:lpstr>
      <vt:lpstr>TESTING STRATEGY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Usability  testing</vt:lpstr>
      <vt:lpstr>Testing  plan</vt:lpstr>
      <vt:lpstr>Metrics to Test Usability</vt:lpstr>
      <vt:lpstr>Field  study (REAL ENVIRONMENT TEST)</vt:lpstr>
      <vt:lpstr>STRATEGY</vt:lpstr>
      <vt:lpstr>System Performance Testing </vt:lpstr>
      <vt:lpstr>PREDICTED GROWTH</vt:lpstr>
      <vt:lpstr>PREDICTED GROWTH</vt:lpstr>
      <vt:lpstr>PREDICTED GROWTH</vt:lpstr>
      <vt:lpstr>Playwright Automated  testing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Banquet Hall Business plan</dc:title>
  <cp:lastModifiedBy>Mira William</cp:lastModifiedBy>
  <cp:revision>34</cp:revision>
  <dcterms:modified xsi:type="dcterms:W3CDTF">2026-04-22T22:04:40Z</dcterms:modified>
</cp:coreProperties>
</file>