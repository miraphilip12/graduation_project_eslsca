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7" r:id="rId1"/>
  </p:sldMasterIdLst>
  <p:notesMasterIdLst>
    <p:notesMasterId r:id="rId25"/>
  </p:notesMasterIdLst>
  <p:sldIdLst>
    <p:sldId id="256" r:id="rId2"/>
    <p:sldId id="298" r:id="rId3"/>
    <p:sldId id="299" r:id="rId4"/>
    <p:sldId id="300" r:id="rId5"/>
    <p:sldId id="301" r:id="rId6"/>
    <p:sldId id="302" r:id="rId7"/>
    <p:sldId id="304" r:id="rId8"/>
    <p:sldId id="305" r:id="rId9"/>
    <p:sldId id="306" r:id="rId10"/>
    <p:sldId id="307" r:id="rId11"/>
    <p:sldId id="308" r:id="rId12"/>
    <p:sldId id="261" r:id="rId13"/>
    <p:sldId id="259" r:id="rId14"/>
    <p:sldId id="309" r:id="rId15"/>
    <p:sldId id="310" r:id="rId16"/>
    <p:sldId id="265" r:id="rId17"/>
    <p:sldId id="311" r:id="rId18"/>
    <p:sldId id="290" r:id="rId19"/>
    <p:sldId id="312" r:id="rId20"/>
    <p:sldId id="313" r:id="rId21"/>
    <p:sldId id="314" r:id="rId22"/>
    <p:sldId id="315" r:id="rId23"/>
    <p:sldId id="316" r:id="rId24"/>
  </p:sldIdLst>
  <p:sldSz cx="9144000" cy="5143500" type="screen16x9"/>
  <p:notesSz cx="6858000" cy="9144000"/>
  <p:embeddedFontLst>
    <p:embeddedFont>
      <p:font typeface="Montserrat Black" panose="020B0604020202020204" charset="0"/>
      <p:bold r:id="rId26"/>
      <p:boldItalic r:id="rId27"/>
    </p:embeddedFont>
    <p:embeddedFont>
      <p:font typeface="Montserrat Medium" panose="020B0604020202020204" charset="0"/>
      <p:regular r:id="rId28"/>
      <p:bold r:id="rId29"/>
      <p:italic r:id="rId30"/>
      <p:boldItalic r:id="rId31"/>
    </p:embeddedFont>
    <p:embeddedFont>
      <p:font typeface="Quicksand Medium" panose="020B0604020202020204" charset="0"/>
      <p:regular r:id="rId32"/>
      <p:bold r:id="rId33"/>
    </p:embeddedFont>
    <p:embeddedFont>
      <p:font typeface="Quicksand" panose="020B0604020202020204" charset="0"/>
      <p:regular r:id="rId34"/>
      <p:bold r:id="rId35"/>
    </p:embeddedFont>
    <p:embeddedFont>
      <p:font typeface="Montserrat" panose="020B0604020202020204" charset="0"/>
      <p:regular r:id="rId36"/>
      <p:bold r:id="rId37"/>
      <p:italic r:id="rId38"/>
      <p:boldItalic r:id="rId39"/>
    </p:embeddedFont>
    <p:embeddedFont>
      <p:font typeface="Bebas Neue" panose="020B0604020202020204" charset="0"/>
      <p:regular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F0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4A799AC-BB72-4878-BA20-D60459698B90}">
  <a:tblStyle styleId="{B4A799AC-BB72-4878-BA20-D60459698B9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0" d="100"/>
          <a:sy n="110" d="100"/>
        </p:scale>
        <p:origin x="658" y="6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9" Type="http://schemas.openxmlformats.org/officeDocument/2006/relationships/font" Target="fonts/font14.fntdata"/><Relationship Id="rId21" Type="http://schemas.openxmlformats.org/officeDocument/2006/relationships/slide" Target="slides/slide20.xml"/><Relationship Id="rId34" Type="http://schemas.openxmlformats.org/officeDocument/2006/relationships/font" Target="fonts/font9.fntdata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4.fntdata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7.fntdata"/><Relationship Id="rId37" Type="http://schemas.openxmlformats.org/officeDocument/2006/relationships/font" Target="fonts/font12.fntdata"/><Relationship Id="rId40" Type="http://schemas.openxmlformats.org/officeDocument/2006/relationships/font" Target="fonts/font1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36" Type="http://schemas.openxmlformats.org/officeDocument/2006/relationships/font" Target="fonts/font1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6.fntdata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35" Type="http://schemas.openxmlformats.org/officeDocument/2006/relationships/font" Target="fonts/font10.fntdata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33" Type="http://schemas.openxmlformats.org/officeDocument/2006/relationships/font" Target="fonts/font8.fntdata"/><Relationship Id="rId38" Type="http://schemas.openxmlformats.org/officeDocument/2006/relationships/font" Target="fonts/font1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578fe0731a_1_22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1578fe0731a_1_22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885100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733845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013059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943166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381291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145778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020477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094902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873651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252270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1435532658d_0_453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g1435532658d_0_453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1435532658d_0_449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1435532658d_0_449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g1578fe0731a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3" name="Google Shape;323;g1578fe0731a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414328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1435532658d_0_453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g1435532658d_0_453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346835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1435532658d_0_460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1435532658d_0_460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1435532658d_0_453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g1435532658d_0_453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2922502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Google Shape;1001;g1435532658d_0_503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2" name="Google Shape;1002;g1435532658d_0_503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Google Shape;1001;g1435532658d_0_503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2" name="Google Shape;1002;g1435532658d_0_503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124906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Google Shape;1001;g1435532658d_0_503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2" name="Google Shape;1002;g1435532658d_0_503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4842174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1435532658d_0_453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g1435532658d_0_453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734483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0" y="-15000"/>
            <a:ext cx="4572000" cy="5173500"/>
          </a:xfrm>
          <a:prstGeom prst="rect">
            <a:avLst/>
          </a:prstGeom>
          <a:solidFill>
            <a:srgbClr val="38383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715100" y="963000"/>
            <a:ext cx="3704400" cy="28164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>
            <a:lvl1pPr lvl="0" algn="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8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715700" y="3779400"/>
            <a:ext cx="3703200" cy="40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/>
          <p:nvPr/>
        </p:nvSpPr>
        <p:spPr>
          <a:xfrm>
            <a:off x="0" y="-30125"/>
            <a:ext cx="4572000" cy="517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3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title"/>
          </p:nvPr>
        </p:nvSpPr>
        <p:spPr>
          <a:xfrm>
            <a:off x="715100" y="1748375"/>
            <a:ext cx="3733200" cy="16641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>
            <a:lvl1pPr lvl="0" algn="r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title" idx="2" hasCustomPrompt="1"/>
          </p:nvPr>
        </p:nvSpPr>
        <p:spPr>
          <a:xfrm>
            <a:off x="4648200" y="1748375"/>
            <a:ext cx="2286000" cy="16641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>
            <a:lvl1pPr lvl="0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title"/>
          </p:nvPr>
        </p:nvSpPr>
        <p:spPr>
          <a:xfrm>
            <a:off x="720000" y="534499"/>
            <a:ext cx="7704000" cy="57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 sz="1400">
                <a:solidFill>
                  <a:srgbClr val="434343"/>
                </a:solidFill>
              </a:defRPr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720000" y="529692"/>
            <a:ext cx="7704000" cy="57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title"/>
          </p:nvPr>
        </p:nvSpPr>
        <p:spPr>
          <a:xfrm>
            <a:off x="1388100" y="1202325"/>
            <a:ext cx="6367800" cy="26244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>
            <a:lvl1pPr lvl="0" algn="ctr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0"/>
          <p:cNvSpPr/>
          <p:nvPr/>
        </p:nvSpPr>
        <p:spPr>
          <a:xfrm flipH="1">
            <a:off x="4572000" y="-30125"/>
            <a:ext cx="4572000" cy="517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20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20"/>
          <p:cNvSpPr txBox="1">
            <a:spLocks noGrp="1"/>
          </p:cNvSpPr>
          <p:nvPr>
            <p:ph type="subTitle" idx="1"/>
          </p:nvPr>
        </p:nvSpPr>
        <p:spPr>
          <a:xfrm>
            <a:off x="4765575" y="1657350"/>
            <a:ext cx="3657600" cy="182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lt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20"/>
          <p:cNvSpPr txBox="1">
            <a:spLocks noGrp="1"/>
          </p:cNvSpPr>
          <p:nvPr>
            <p:ph type="title"/>
          </p:nvPr>
        </p:nvSpPr>
        <p:spPr>
          <a:xfrm>
            <a:off x="715100" y="1657350"/>
            <a:ext cx="3657600" cy="18288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>
            <a:lvl1pPr lvl="0" algn="r" rtl="0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7200"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BLANK_1_1_1_2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2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22"/>
          <p:cNvSpPr txBox="1">
            <a:spLocks noGrp="1"/>
          </p:cNvSpPr>
          <p:nvPr>
            <p:ph type="subTitle" idx="1"/>
          </p:nvPr>
        </p:nvSpPr>
        <p:spPr>
          <a:xfrm>
            <a:off x="720000" y="2330475"/>
            <a:ext cx="2336400" cy="347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3" name="Google Shape;113;p22"/>
          <p:cNvSpPr txBox="1">
            <a:spLocks noGrp="1"/>
          </p:cNvSpPr>
          <p:nvPr>
            <p:ph type="subTitle" idx="2"/>
          </p:nvPr>
        </p:nvSpPr>
        <p:spPr>
          <a:xfrm>
            <a:off x="720000" y="2677863"/>
            <a:ext cx="2336400" cy="12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22"/>
          <p:cNvSpPr txBox="1">
            <a:spLocks noGrp="1"/>
          </p:cNvSpPr>
          <p:nvPr>
            <p:ph type="subTitle" idx="3"/>
          </p:nvPr>
        </p:nvSpPr>
        <p:spPr>
          <a:xfrm>
            <a:off x="3403800" y="2677863"/>
            <a:ext cx="2336400" cy="12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22"/>
          <p:cNvSpPr txBox="1">
            <a:spLocks noGrp="1"/>
          </p:cNvSpPr>
          <p:nvPr>
            <p:ph type="subTitle" idx="4"/>
          </p:nvPr>
        </p:nvSpPr>
        <p:spPr>
          <a:xfrm>
            <a:off x="6087600" y="2677863"/>
            <a:ext cx="2336400" cy="12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22"/>
          <p:cNvSpPr txBox="1">
            <a:spLocks noGrp="1"/>
          </p:cNvSpPr>
          <p:nvPr>
            <p:ph type="title"/>
          </p:nvPr>
        </p:nvSpPr>
        <p:spPr>
          <a:xfrm>
            <a:off x="720000" y="536747"/>
            <a:ext cx="7704000" cy="57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17" name="Google Shape;117;p22"/>
          <p:cNvSpPr txBox="1">
            <a:spLocks noGrp="1"/>
          </p:cNvSpPr>
          <p:nvPr>
            <p:ph type="subTitle" idx="5"/>
          </p:nvPr>
        </p:nvSpPr>
        <p:spPr>
          <a:xfrm>
            <a:off x="3403800" y="2330475"/>
            <a:ext cx="2336400" cy="347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8" name="Google Shape;118;p22"/>
          <p:cNvSpPr txBox="1">
            <a:spLocks noGrp="1"/>
          </p:cNvSpPr>
          <p:nvPr>
            <p:ph type="subTitle" idx="6"/>
          </p:nvPr>
        </p:nvSpPr>
        <p:spPr>
          <a:xfrm>
            <a:off x="6087600" y="2330475"/>
            <a:ext cx="2336400" cy="347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400"/>
              <a:buFont typeface="Bebas Neue"/>
              <a:buNone/>
              <a:defRPr sz="2400">
                <a:solidFill>
                  <a:schemeClr val="accent6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7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_1">
    <p:bg>
      <p:bgPr>
        <a:solidFill>
          <a:schemeClr val="dk1"/>
        </a:solidFill>
        <a:effectLst/>
      </p:bgPr>
    </p:bg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/>
          <p:nvPr/>
        </p:nvSpPr>
        <p:spPr>
          <a:xfrm>
            <a:off x="219150" y="209550"/>
            <a:ext cx="8705700" cy="4724400"/>
          </a:xfrm>
          <a:prstGeom prst="rect">
            <a:avLst/>
          </a:prstGeom>
          <a:noFill/>
          <a:ln w="9525" cap="flat" cmpd="sng">
            <a:solidFill>
              <a:srgbClr val="CECBB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1_Table of contents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3"/>
          <p:cNvSpPr/>
          <p:nvPr/>
        </p:nvSpPr>
        <p:spPr>
          <a:xfrm rot="10800000" flipH="1">
            <a:off x="9" y="4088013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13"/>
          <p:cNvSpPr/>
          <p:nvPr/>
        </p:nvSpPr>
        <p:spPr>
          <a:xfrm flipH="1">
            <a:off x="5445834" y="615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3"/>
          <p:cNvSpPr txBox="1">
            <a:spLocks noGrp="1"/>
          </p:cNvSpPr>
          <p:nvPr>
            <p:ph type="title"/>
          </p:nvPr>
        </p:nvSpPr>
        <p:spPr>
          <a:xfrm>
            <a:off x="1529700" y="1172200"/>
            <a:ext cx="450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2" name="Google Shape;92;p13"/>
          <p:cNvSpPr txBox="1">
            <a:spLocks noGrp="1"/>
          </p:cNvSpPr>
          <p:nvPr>
            <p:ph type="title" idx="2" hasCustomPrompt="1"/>
          </p:nvPr>
        </p:nvSpPr>
        <p:spPr>
          <a:xfrm>
            <a:off x="720000" y="1172200"/>
            <a:ext cx="809700" cy="5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accent5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93" name="Google Shape;93;p13"/>
          <p:cNvSpPr txBox="1">
            <a:spLocks noGrp="1"/>
          </p:cNvSpPr>
          <p:nvPr>
            <p:ph type="subTitle" idx="1"/>
          </p:nvPr>
        </p:nvSpPr>
        <p:spPr>
          <a:xfrm>
            <a:off x="1529700" y="1573900"/>
            <a:ext cx="45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94" name="Google Shape;94;p13"/>
          <p:cNvSpPr txBox="1">
            <a:spLocks noGrp="1"/>
          </p:cNvSpPr>
          <p:nvPr>
            <p:ph type="title" idx="3"/>
          </p:nvPr>
        </p:nvSpPr>
        <p:spPr>
          <a:xfrm>
            <a:off x="2328900" y="2023100"/>
            <a:ext cx="450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5" name="Google Shape;95;p13"/>
          <p:cNvSpPr txBox="1">
            <a:spLocks noGrp="1"/>
          </p:cNvSpPr>
          <p:nvPr>
            <p:ph type="title" idx="4" hasCustomPrompt="1"/>
          </p:nvPr>
        </p:nvSpPr>
        <p:spPr>
          <a:xfrm>
            <a:off x="1519200" y="2023100"/>
            <a:ext cx="809700" cy="5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accent5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96" name="Google Shape;96;p13"/>
          <p:cNvSpPr txBox="1">
            <a:spLocks noGrp="1"/>
          </p:cNvSpPr>
          <p:nvPr>
            <p:ph type="subTitle" idx="5"/>
          </p:nvPr>
        </p:nvSpPr>
        <p:spPr>
          <a:xfrm>
            <a:off x="2328900" y="2424800"/>
            <a:ext cx="45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97" name="Google Shape;97;p13"/>
          <p:cNvSpPr txBox="1">
            <a:spLocks noGrp="1"/>
          </p:cNvSpPr>
          <p:nvPr>
            <p:ph type="title" idx="6"/>
          </p:nvPr>
        </p:nvSpPr>
        <p:spPr>
          <a:xfrm>
            <a:off x="3124500" y="2875750"/>
            <a:ext cx="450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8" name="Google Shape;98;p13"/>
          <p:cNvSpPr txBox="1">
            <a:spLocks noGrp="1"/>
          </p:cNvSpPr>
          <p:nvPr>
            <p:ph type="title" idx="7" hasCustomPrompt="1"/>
          </p:nvPr>
        </p:nvSpPr>
        <p:spPr>
          <a:xfrm>
            <a:off x="2314800" y="2875750"/>
            <a:ext cx="809700" cy="5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accent5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99" name="Google Shape;99;p13"/>
          <p:cNvSpPr txBox="1">
            <a:spLocks noGrp="1"/>
          </p:cNvSpPr>
          <p:nvPr>
            <p:ph type="subTitle" idx="8"/>
          </p:nvPr>
        </p:nvSpPr>
        <p:spPr>
          <a:xfrm>
            <a:off x="3124500" y="3277450"/>
            <a:ext cx="45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100" name="Google Shape;100;p13"/>
          <p:cNvSpPr txBox="1">
            <a:spLocks noGrp="1"/>
          </p:cNvSpPr>
          <p:nvPr>
            <p:ph type="title" idx="9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13"/>
          <p:cNvSpPr txBox="1">
            <a:spLocks noGrp="1"/>
          </p:cNvSpPr>
          <p:nvPr>
            <p:ph type="title" idx="13"/>
          </p:nvPr>
        </p:nvSpPr>
        <p:spPr>
          <a:xfrm>
            <a:off x="3923700" y="3725400"/>
            <a:ext cx="450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02" name="Google Shape;102;p13"/>
          <p:cNvSpPr txBox="1">
            <a:spLocks noGrp="1"/>
          </p:cNvSpPr>
          <p:nvPr>
            <p:ph type="title" idx="14" hasCustomPrompt="1"/>
          </p:nvPr>
        </p:nvSpPr>
        <p:spPr>
          <a:xfrm>
            <a:off x="3114000" y="3725400"/>
            <a:ext cx="809700" cy="5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accent5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03" name="Google Shape;103;p13"/>
          <p:cNvSpPr txBox="1">
            <a:spLocks noGrp="1"/>
          </p:cNvSpPr>
          <p:nvPr>
            <p:ph type="subTitle" idx="15"/>
          </p:nvPr>
        </p:nvSpPr>
        <p:spPr>
          <a:xfrm>
            <a:off x="3923700" y="4127100"/>
            <a:ext cx="45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921551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Title only 3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/>
          <p:nvPr/>
        </p:nvSpPr>
        <p:spPr>
          <a:xfrm rot="10800000">
            <a:off x="5445825" y="4088013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17"/>
          <p:cNvSpPr/>
          <p:nvPr/>
        </p:nvSpPr>
        <p:spPr>
          <a:xfrm>
            <a:off x="0" y="615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17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p17"/>
          <p:cNvSpPr/>
          <p:nvPr/>
        </p:nvSpPr>
        <p:spPr>
          <a:xfrm rot="5400000">
            <a:off x="6683100" y="3051700"/>
            <a:ext cx="819325" cy="3384200"/>
          </a:xfrm>
          <a:custGeom>
            <a:avLst/>
            <a:gdLst/>
            <a:ahLst/>
            <a:cxnLst/>
            <a:rect l="l" t="t" r="r" b="b"/>
            <a:pathLst>
              <a:path w="32773" h="135368" extrusionOk="0">
                <a:moveTo>
                  <a:pt x="32773" y="0"/>
                </a:moveTo>
                <a:lnTo>
                  <a:pt x="32773" y="0"/>
                </a:lnTo>
                <a:cubicBezTo>
                  <a:pt x="32772" y="1"/>
                  <a:pt x="12156" y="14749"/>
                  <a:pt x="16884" y="36501"/>
                </a:cubicBezTo>
                <a:cubicBezTo>
                  <a:pt x="21613" y="58253"/>
                  <a:pt x="32684" y="62255"/>
                  <a:pt x="16343" y="89509"/>
                </a:cubicBezTo>
                <a:cubicBezTo>
                  <a:pt x="1" y="116766"/>
                  <a:pt x="32401" y="135367"/>
                  <a:pt x="32401" y="135367"/>
                </a:cubicBezTo>
                <a:lnTo>
                  <a:pt x="32773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17"/>
          <p:cNvSpPr/>
          <p:nvPr/>
        </p:nvSpPr>
        <p:spPr>
          <a:xfrm rot="-5400000">
            <a:off x="1641575" y="-1282437"/>
            <a:ext cx="819325" cy="3384200"/>
          </a:xfrm>
          <a:custGeom>
            <a:avLst/>
            <a:gdLst/>
            <a:ahLst/>
            <a:cxnLst/>
            <a:rect l="l" t="t" r="r" b="b"/>
            <a:pathLst>
              <a:path w="32773" h="135368" extrusionOk="0">
                <a:moveTo>
                  <a:pt x="32773" y="0"/>
                </a:moveTo>
                <a:lnTo>
                  <a:pt x="32773" y="0"/>
                </a:lnTo>
                <a:cubicBezTo>
                  <a:pt x="32772" y="1"/>
                  <a:pt x="12156" y="14749"/>
                  <a:pt x="16884" y="36501"/>
                </a:cubicBezTo>
                <a:cubicBezTo>
                  <a:pt x="21613" y="58253"/>
                  <a:pt x="32684" y="62255"/>
                  <a:pt x="16343" y="89509"/>
                </a:cubicBezTo>
                <a:cubicBezTo>
                  <a:pt x="1" y="116766"/>
                  <a:pt x="32401" y="135367"/>
                  <a:pt x="32401" y="135367"/>
                </a:cubicBezTo>
                <a:lnTo>
                  <a:pt x="32773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400487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4800"/>
              <a:buFont typeface="Bebas Neue"/>
              <a:buNone/>
              <a:defRPr sz="48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500"/>
              <a:buFont typeface="Bebas Neue"/>
              <a:buNone/>
              <a:defRPr sz="35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500"/>
              <a:buFont typeface="Bebas Neue"/>
              <a:buNone/>
              <a:defRPr sz="35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500"/>
              <a:buFont typeface="Bebas Neue"/>
              <a:buNone/>
              <a:defRPr sz="35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500"/>
              <a:buFont typeface="Bebas Neue"/>
              <a:buNone/>
              <a:defRPr sz="35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500"/>
              <a:buFont typeface="Bebas Neue"/>
              <a:buNone/>
              <a:defRPr sz="35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500"/>
              <a:buFont typeface="Bebas Neue"/>
              <a:buNone/>
              <a:defRPr sz="35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500"/>
              <a:buFont typeface="Bebas Neue"/>
              <a:buNone/>
              <a:defRPr sz="35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500"/>
              <a:buFont typeface="Bebas Neue"/>
              <a:buNone/>
              <a:defRPr sz="3500">
                <a:solidFill>
                  <a:schemeClr val="accent5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Quicksand Medium"/>
              <a:buChar char="●"/>
              <a:defRPr>
                <a:solidFill>
                  <a:schemeClr val="dk2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1pPr>
            <a:lvl2pPr marL="914400" lvl="1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Quicksand Medium"/>
              <a:buChar char="○"/>
              <a:defRPr>
                <a:solidFill>
                  <a:schemeClr val="dk2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2pPr>
            <a:lvl3pPr marL="1371600" lvl="2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Quicksand Medium"/>
              <a:buChar char="■"/>
              <a:defRPr>
                <a:solidFill>
                  <a:schemeClr val="dk2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3pPr>
            <a:lvl4pPr marL="1828800" lvl="3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Quicksand Medium"/>
              <a:buChar char="●"/>
              <a:defRPr>
                <a:solidFill>
                  <a:schemeClr val="dk2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4pPr>
            <a:lvl5pPr marL="2286000" lvl="4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Quicksand Medium"/>
              <a:buChar char="○"/>
              <a:defRPr>
                <a:solidFill>
                  <a:schemeClr val="dk2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5pPr>
            <a:lvl6pPr marL="2743200" lvl="5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Quicksand Medium"/>
              <a:buChar char="■"/>
              <a:defRPr>
                <a:solidFill>
                  <a:schemeClr val="dk2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6pPr>
            <a:lvl7pPr marL="3200400" lvl="6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Quicksand Medium"/>
              <a:buChar char="●"/>
              <a:defRPr>
                <a:solidFill>
                  <a:schemeClr val="dk2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7pPr>
            <a:lvl8pPr marL="3657600" lvl="7" indent="-317500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Quicksand Medium"/>
              <a:buChar char="○"/>
              <a:defRPr>
                <a:solidFill>
                  <a:schemeClr val="dk2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8pPr>
            <a:lvl9pPr marL="4114800" lvl="8" indent="-317500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Quicksand Medium"/>
              <a:buChar char="■"/>
              <a:defRPr>
                <a:solidFill>
                  <a:schemeClr val="dk2"/>
                </a:solidFill>
                <a:latin typeface="Quicksand Medium"/>
                <a:ea typeface="Quicksand Medium"/>
                <a:cs typeface="Quicksand Medium"/>
                <a:sym typeface="Quicksand Medium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2" r:id="rId4"/>
    <p:sldLayoutId id="2147483654" r:id="rId5"/>
    <p:sldLayoutId id="2147483658" r:id="rId6"/>
    <p:sldLayoutId id="2147483666" r:id="rId7"/>
    <p:sldLayoutId id="2147483668" r:id="rId8"/>
    <p:sldLayoutId id="2147483673" r:id="rId9"/>
    <p:sldLayoutId id="2147483674" r:id="rId10"/>
    <p:sldLayoutId id="2147483678" r:id="rId11"/>
    <p:sldLayoutId id="2147483679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2"/>
          <p:cNvSpPr/>
          <p:nvPr/>
        </p:nvSpPr>
        <p:spPr>
          <a:xfrm>
            <a:off x="942975" y="3076575"/>
            <a:ext cx="3475800" cy="647700"/>
          </a:xfrm>
          <a:prstGeom prst="rect">
            <a:avLst/>
          </a:prstGeom>
          <a:solidFill>
            <a:srgbClr val="4C4C4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32"/>
          <p:cNvSpPr txBox="1">
            <a:spLocks noGrp="1"/>
          </p:cNvSpPr>
          <p:nvPr>
            <p:ph type="ctrTitle"/>
          </p:nvPr>
        </p:nvSpPr>
        <p:spPr>
          <a:xfrm>
            <a:off x="715100" y="963000"/>
            <a:ext cx="3704400" cy="28164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lvl="0"/>
            <a:r>
              <a:rPr lang="en-US" sz="7200" dirty="0">
                <a:solidFill>
                  <a:schemeClr val="accent3"/>
                </a:solidFill>
              </a:rPr>
              <a:t>Testing &amp;</a:t>
            </a:r>
            <a:br>
              <a:rPr lang="en-US" sz="7200" dirty="0">
                <a:solidFill>
                  <a:schemeClr val="accent3"/>
                </a:solidFill>
              </a:rPr>
            </a:br>
            <a:r>
              <a:rPr lang="en-US" sz="7200" dirty="0">
                <a:solidFill>
                  <a:schemeClr val="accent3"/>
                </a:solidFill>
              </a:rPr>
              <a:t>Evaluation</a:t>
            </a:r>
            <a:endParaRPr sz="7200" dirty="0" smtClean="0">
              <a:solidFill>
                <a:schemeClr val="accent3"/>
              </a:solidFill>
            </a:endParaRPr>
          </a:p>
        </p:txBody>
      </p:sp>
      <p:sp>
        <p:nvSpPr>
          <p:cNvPr id="174" name="Google Shape;174;p32"/>
          <p:cNvSpPr txBox="1">
            <a:spLocks noGrp="1"/>
          </p:cNvSpPr>
          <p:nvPr>
            <p:ph type="subTitle" idx="1"/>
          </p:nvPr>
        </p:nvSpPr>
        <p:spPr>
          <a:xfrm>
            <a:off x="715700" y="3779400"/>
            <a:ext cx="3703200" cy="10440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Milestone 5 done by:</a:t>
            </a:r>
            <a:br>
              <a:rPr lang="en-US" dirty="0"/>
            </a:br>
            <a:r>
              <a:rPr lang="en-US" dirty="0"/>
              <a:t>Mehraeel Philip, </a:t>
            </a:r>
            <a:r>
              <a:rPr lang="en-US" dirty="0" err="1"/>
              <a:t>Fatema</a:t>
            </a:r>
            <a:r>
              <a:rPr lang="en-US" dirty="0"/>
              <a:t> </a:t>
            </a:r>
            <a:r>
              <a:rPr lang="en-US" dirty="0" err="1"/>
              <a:t>Milad</a:t>
            </a:r>
            <a:r>
              <a:rPr lang="en-US" dirty="0"/>
              <a:t>, Sama </a:t>
            </a:r>
            <a:r>
              <a:rPr lang="en-US" dirty="0" err="1"/>
              <a:t>Gehad</a:t>
            </a:r>
            <a:r>
              <a:rPr lang="en-US" dirty="0"/>
              <a:t>, Marwan Ahmed, </a:t>
            </a:r>
            <a:endParaRPr lang="en-US" dirty="0" smtClean="0"/>
          </a:p>
          <a:p>
            <a:pPr marL="0" lvl="0" indent="0"/>
            <a:r>
              <a:rPr lang="en-US" dirty="0" smtClean="0"/>
              <a:t>Mo’men </a:t>
            </a:r>
            <a:r>
              <a:rPr lang="en-US" dirty="0" err="1"/>
              <a:t>Mohie</a:t>
            </a:r>
            <a:r>
              <a:rPr lang="en-US" dirty="0"/>
              <a:t> &amp; Jana </a:t>
            </a:r>
            <a:r>
              <a:rPr lang="en-US" dirty="0" err="1"/>
              <a:t>Mahdy</a:t>
            </a:r>
            <a:endParaRPr dirty="0"/>
          </a:p>
        </p:txBody>
      </p:sp>
      <p:pic>
        <p:nvPicPr>
          <p:cNvPr id="1028" name="Picture 4" descr="176,214 Movie Directors Royalty-Free Images, Stock Photos ...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024"/>
          <a:stretch/>
        </p:blipFill>
        <p:spPr bwMode="auto">
          <a:xfrm>
            <a:off x="4986655" y="1848425"/>
            <a:ext cx="3714750" cy="2453005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36"/>
          <p:cNvSpPr txBox="1">
            <a:spLocks noGrp="1"/>
          </p:cNvSpPr>
          <p:nvPr>
            <p:ph type="title" idx="4294967295"/>
          </p:nvPr>
        </p:nvSpPr>
        <p:spPr>
          <a:xfrm>
            <a:off x="720000" y="352713"/>
            <a:ext cx="7702550" cy="676275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TESTING STRATEGY</a:t>
            </a:r>
            <a:endParaRPr dirty="0"/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397" y="1311672"/>
            <a:ext cx="8096190" cy="3365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75471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746135" y="228600"/>
            <a:ext cx="5558400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 smtClean="0"/>
              <a:t>A. Functional Cases</a:t>
            </a:r>
            <a:endParaRPr sz="3600" dirty="0"/>
          </a:p>
        </p:txBody>
      </p: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2018431195"/>
              </p:ext>
            </p:extLst>
          </p:nvPr>
        </p:nvGraphicFramePr>
        <p:xfrm>
          <a:off x="719999" y="1249859"/>
          <a:ext cx="7678784" cy="3363971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9196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1969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1919696">
                  <a:extLst>
                    <a:ext uri="{9D8B030D-6E8A-4147-A177-3AD203B41FA5}">
                      <a16:colId xmlns:a16="http://schemas.microsoft.com/office/drawing/2014/main" val="3204050409"/>
                    </a:ext>
                  </a:extLst>
                </a:gridCol>
                <a:gridCol w="191969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67777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A1. Video Input</a:t>
                      </a:r>
                      <a:endParaRPr sz="24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087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STEPS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TC-01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File upload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Choose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file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Accepts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browsing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TC-02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Frame Capture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Run system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Frames processed continuously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TC-03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Invalid </a:t>
                      </a: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file type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Wrong fie input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Error handled gracefully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TC-04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File ready to be processed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Start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analysis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Load report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46541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746135" y="228600"/>
            <a:ext cx="5558400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 smtClean="0"/>
              <a:t>A. Functional Cases</a:t>
            </a:r>
            <a:endParaRPr sz="3600" dirty="0"/>
          </a:p>
        </p:txBody>
      </p: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3553477006"/>
              </p:ext>
            </p:extLst>
          </p:nvPr>
        </p:nvGraphicFramePr>
        <p:xfrm>
          <a:off x="719999" y="1249859"/>
          <a:ext cx="7457898" cy="319920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5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67777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A2. </a:t>
                      </a:r>
                      <a:r>
                        <a:rPr lang="en-US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Emotion Detection</a:t>
                      </a:r>
                      <a:endParaRPr sz="24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087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TC-05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Happy face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"Happy" detected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TC-06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Sad acting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"Sad" detected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TC-07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Neutral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Neutral detected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TC-08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Lighting change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Still detects correctly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1930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746135" y="228600"/>
            <a:ext cx="5558400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 smtClean="0"/>
              <a:t>A. Functional Cases</a:t>
            </a:r>
            <a:endParaRPr sz="3600" dirty="0"/>
          </a:p>
        </p:txBody>
      </p: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2587241871"/>
              </p:ext>
            </p:extLst>
          </p:nvPr>
        </p:nvGraphicFramePr>
        <p:xfrm>
          <a:off x="719999" y="1249859"/>
          <a:ext cx="7457898" cy="319920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5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67777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A3. </a:t>
                      </a:r>
                      <a:r>
                        <a:rPr lang="en-US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Face and Eye Tracking</a:t>
                      </a:r>
                      <a:endParaRPr sz="24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087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TC-09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 face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 crash, no detection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TC-10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Eye Tracking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Eye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scoring and analysis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TC-11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v</a:t>
                      </a: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oice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crash, no detection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TC-12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Multiple faces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Only one face tracked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842090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EE"/>
        </a:solidFill>
        <a:effectLst/>
      </p:bgPr>
    </p:bg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746135" y="228600"/>
            <a:ext cx="5558400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 smtClean="0"/>
              <a:t>A. Functional Cases</a:t>
            </a:r>
            <a:endParaRPr sz="3600" dirty="0"/>
          </a:p>
        </p:txBody>
      </p: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472435061"/>
              </p:ext>
            </p:extLst>
          </p:nvPr>
        </p:nvGraphicFramePr>
        <p:xfrm>
          <a:off x="719999" y="1249859"/>
          <a:ext cx="7457898" cy="319920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5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67777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A4. </a:t>
                      </a:r>
                      <a:r>
                        <a:rPr lang="en-US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Gesture Recognition</a:t>
                      </a:r>
                      <a:endParaRPr sz="24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087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TC-13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Known gesture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Correct classification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TC-14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Unknown gesture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Rejected or low confidence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TC-15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Speed variation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Still recognized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TC-16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Noise input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 false positives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720384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1315972303"/>
              </p:ext>
            </p:extLst>
          </p:nvPr>
        </p:nvGraphicFramePr>
        <p:xfrm>
          <a:off x="335766" y="103231"/>
          <a:ext cx="8389824" cy="4962256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7966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96608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796608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50031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A6. </a:t>
                      </a:r>
                      <a:r>
                        <a:rPr lang="en-US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Report Generation</a:t>
                      </a:r>
                      <a:endParaRPr sz="24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115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32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TC-17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Generate report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Output created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32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TC-18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Printing report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Printed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locally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576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TC19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Score display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Numeric scores shown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576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TC-20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Perfor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mance classification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Good, Moderate or Bad shown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576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TC-21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Visualization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Widgets render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076122"/>
                  </a:ext>
                </a:extLst>
              </a:tr>
              <a:tr h="46576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TC-22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New analysis restart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Button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accessible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2314701"/>
                  </a:ext>
                </a:extLst>
              </a:tr>
              <a:tr h="46576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TC-23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Variables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Classification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Independent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variable scoring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12028124"/>
                  </a:ext>
                </a:extLst>
              </a:tr>
              <a:tr h="46576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TC-24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Recommendations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Improvement advices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75040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02990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478140" y="159129"/>
            <a:ext cx="6162501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B</a:t>
            </a:r>
            <a:r>
              <a:rPr lang="en" sz="3600" dirty="0" smtClean="0"/>
              <a:t>. Non-Functional Cases</a:t>
            </a:r>
            <a:endParaRPr sz="3600" dirty="0"/>
          </a:p>
        </p:txBody>
      </p: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2591724647"/>
              </p:ext>
            </p:extLst>
          </p:nvPr>
        </p:nvGraphicFramePr>
        <p:xfrm>
          <a:off x="910670" y="1248229"/>
          <a:ext cx="7447428" cy="348905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2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88889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B1. </a:t>
                      </a:r>
                      <a:r>
                        <a:rPr lang="en-US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Performance Testing</a:t>
                      </a:r>
                      <a:endParaRPr sz="24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433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803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TC-25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FPS (real-time)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≥ 15 FPS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TC-26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Processing delay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&lt; </a:t>
                      </a: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5000 </a:t>
                      </a:r>
                      <a:r>
                        <a:rPr lang="en-US" sz="1200" b="1" dirty="0" err="1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TC-27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CPU usage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&lt; 80%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TC-28</a:t>
                      </a:r>
                      <a:endParaRPr lang="en" sz="1600" b="1" dirty="0" smtClean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Memory usage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Stable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70212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478140" y="159129"/>
            <a:ext cx="6162501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B</a:t>
            </a:r>
            <a:r>
              <a:rPr lang="en" sz="3600" dirty="0" smtClean="0"/>
              <a:t>. Non-Functional Cases</a:t>
            </a:r>
            <a:endParaRPr sz="3600" dirty="0"/>
          </a:p>
        </p:txBody>
      </p: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3530948272"/>
              </p:ext>
            </p:extLst>
          </p:nvPr>
        </p:nvGraphicFramePr>
        <p:xfrm>
          <a:off x="910670" y="1248229"/>
          <a:ext cx="7447428" cy="348905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2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88889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B2. </a:t>
                      </a:r>
                      <a:r>
                        <a:rPr lang="en-US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Usability Testing</a:t>
                      </a:r>
                      <a:endParaRPr sz="24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433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803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TC-29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First-time user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Can run without help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TC-30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UI clarity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Buttons understandable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TC-31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Report readability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Easy to interpret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TC-32</a:t>
                      </a:r>
                      <a:endParaRPr lang="en" sz="1600" b="1" dirty="0" smtClean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Error messages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Clear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92626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478140" y="159129"/>
            <a:ext cx="6162501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B</a:t>
            </a:r>
            <a:r>
              <a:rPr lang="en" sz="3600" dirty="0" smtClean="0"/>
              <a:t>. Non-Functional Cases</a:t>
            </a:r>
            <a:endParaRPr sz="3600" dirty="0"/>
          </a:p>
        </p:txBody>
      </p: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531579917"/>
              </p:ext>
            </p:extLst>
          </p:nvPr>
        </p:nvGraphicFramePr>
        <p:xfrm>
          <a:off x="910670" y="1248229"/>
          <a:ext cx="7447428" cy="348905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2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88889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B3. </a:t>
                      </a:r>
                      <a:r>
                        <a:rPr lang="en-US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Security Testing</a:t>
                      </a:r>
                      <a:endParaRPr sz="24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433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803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TC-33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Invalid file upload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Rejected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TC-34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Large file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Handled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safely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TC-35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Data privacy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 external leaks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TC-36</a:t>
                      </a:r>
                      <a:endParaRPr lang="en" sz="1600" b="1" dirty="0" smtClean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Path injection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Prevented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69178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478140" y="159129"/>
            <a:ext cx="6162501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B</a:t>
            </a:r>
            <a:r>
              <a:rPr lang="en" sz="3600" dirty="0" smtClean="0"/>
              <a:t>. Non-Functional Cases</a:t>
            </a:r>
            <a:endParaRPr sz="3600" dirty="0"/>
          </a:p>
        </p:txBody>
      </p: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1445565649"/>
              </p:ext>
            </p:extLst>
          </p:nvPr>
        </p:nvGraphicFramePr>
        <p:xfrm>
          <a:off x="848286" y="850034"/>
          <a:ext cx="7447428" cy="390948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2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488454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B4. </a:t>
                      </a:r>
                      <a:r>
                        <a:rPr lang="en-US" sz="24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Reliability Testing</a:t>
                      </a:r>
                      <a:endParaRPr sz="24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273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691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TC-37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Multiple runs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Stable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196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TC-38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Restart system (Recovery)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Works again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336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TC-39</a:t>
                      </a:r>
                      <a:endParaRPr sz="1600" b="1" dirty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Load testing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 user loads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processed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196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TC-40</a:t>
                      </a:r>
                      <a:endParaRPr lang="en" sz="1600" b="1" dirty="0" smtClean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Feature testing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Individual functions working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196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TC-41</a:t>
                      </a:r>
                      <a:endParaRPr lang="en" sz="1600" b="1" dirty="0" smtClean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Endurance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testing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Stable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867548"/>
                  </a:ext>
                </a:extLst>
              </a:tr>
              <a:tr h="47196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 smtClean="0">
                          <a:solidFill>
                            <a:schemeClr val="tx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TC-42</a:t>
                      </a:r>
                      <a:endParaRPr lang="en" sz="1600" b="1" dirty="0" smtClean="0">
                        <a:solidFill>
                          <a:schemeClr val="tx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Mean Time To Repair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&lt;</a:t>
                      </a:r>
                      <a:r>
                        <a:rPr lang="en-US" sz="1200" b="1" baseline="0" dirty="0" smtClean="0">
                          <a:solidFill>
                            <a:schemeClr val="tx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1s</a:t>
                      </a:r>
                      <a:endParaRPr sz="1200" b="1" dirty="0">
                        <a:solidFill>
                          <a:schemeClr val="tx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68087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62323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7"/>
          <p:cNvSpPr txBox="1">
            <a:spLocks noGrp="1"/>
          </p:cNvSpPr>
          <p:nvPr>
            <p:ph type="title"/>
          </p:nvPr>
        </p:nvSpPr>
        <p:spPr>
          <a:xfrm>
            <a:off x="715100" y="1748375"/>
            <a:ext cx="3733200" cy="16641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Usability </a:t>
            </a:r>
            <a:br>
              <a:rPr lang="en" dirty="0" smtClean="0"/>
            </a:br>
            <a:r>
              <a:rPr lang="en" dirty="0" smtClean="0"/>
              <a:t>testing</a:t>
            </a:r>
            <a:endParaRPr dirty="0"/>
          </a:p>
        </p:txBody>
      </p:sp>
      <p:sp>
        <p:nvSpPr>
          <p:cNvPr id="233" name="Google Shape;233;p37"/>
          <p:cNvSpPr txBox="1">
            <a:spLocks noGrp="1"/>
          </p:cNvSpPr>
          <p:nvPr>
            <p:ph type="title" idx="2"/>
          </p:nvPr>
        </p:nvSpPr>
        <p:spPr>
          <a:xfrm>
            <a:off x="4648200" y="1748375"/>
            <a:ext cx="2286000" cy="16641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02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5"/>
          <p:cNvSpPr txBox="1">
            <a:spLocks noGrp="1"/>
          </p:cNvSpPr>
          <p:nvPr>
            <p:ph type="subTitle" idx="1"/>
          </p:nvPr>
        </p:nvSpPr>
        <p:spPr>
          <a:xfrm>
            <a:off x="4765575" y="1657350"/>
            <a:ext cx="3657600" cy="18288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/>
            <a:r>
              <a:rPr lang="en-US" dirty="0"/>
              <a:t>Measure:</a:t>
            </a:r>
          </a:p>
          <a:p>
            <a:pPr marL="285750" lvl="0" indent="-285750">
              <a:lnSpc>
                <a:spcPct val="150000"/>
              </a:lnSpc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/>
              <a:t>Time to complete tasks </a:t>
            </a:r>
          </a:p>
          <a:p>
            <a:pPr marL="285750" lvl="0" indent="-285750">
              <a:lnSpc>
                <a:spcPct val="150000"/>
              </a:lnSpc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/>
              <a:t>Number of errors </a:t>
            </a:r>
          </a:p>
          <a:p>
            <a:pPr marL="285750" lvl="0" indent="-285750">
              <a:lnSpc>
                <a:spcPct val="150000"/>
              </a:lnSpc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/>
              <a:t>Task success rate</a:t>
            </a:r>
          </a:p>
          <a:p>
            <a:pPr marL="285750" lvl="0" indent="-285750">
              <a:lnSpc>
                <a:spcPct val="150000"/>
              </a:lnSpc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/>
              <a:t>Participants: 5–10 users</a:t>
            </a:r>
          </a:p>
          <a:p>
            <a:pPr marL="285750" lvl="0" indent="-285750">
              <a:lnSpc>
                <a:spcPct val="150000"/>
              </a:lnSpc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/>
              <a:t>User satisfaction</a:t>
            </a:r>
          </a:p>
        </p:txBody>
      </p:sp>
      <p:sp>
        <p:nvSpPr>
          <p:cNvPr id="213" name="Google Shape;213;p35"/>
          <p:cNvSpPr txBox="1">
            <a:spLocks noGrp="1"/>
          </p:cNvSpPr>
          <p:nvPr>
            <p:ph type="title"/>
          </p:nvPr>
        </p:nvSpPr>
        <p:spPr>
          <a:xfrm>
            <a:off x="715100" y="1657350"/>
            <a:ext cx="3657600" cy="18288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Testing </a:t>
            </a:r>
            <a:br>
              <a:rPr lang="en" dirty="0" smtClean="0"/>
            </a:br>
            <a:r>
              <a:rPr lang="en" dirty="0" smtClean="0"/>
              <a:t>plan</a:t>
            </a: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40000"/>
            <a:lumOff val="60000"/>
          </a:schemeClr>
        </a:solidFill>
        <a:effectLst/>
      </p:bgPr>
    </p:bg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5"/>
          <p:cNvSpPr txBox="1">
            <a:spLocks noGrp="1"/>
          </p:cNvSpPr>
          <p:nvPr>
            <p:ph type="title" idx="4294967295"/>
          </p:nvPr>
        </p:nvSpPr>
        <p:spPr>
          <a:xfrm>
            <a:off x="0" y="539750"/>
            <a:ext cx="7702550" cy="676275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Metrics to Test Usability</a:t>
            </a:r>
            <a:endParaRPr dirty="0"/>
          </a:p>
        </p:txBody>
      </p:sp>
      <p:graphicFrame>
        <p:nvGraphicFramePr>
          <p:cNvPr id="329" name="Google Shape;329;p35"/>
          <p:cNvGraphicFramePr/>
          <p:nvPr>
            <p:extLst>
              <p:ext uri="{D42A27DB-BD31-4B8C-83A1-F6EECF244321}">
                <p14:modId xmlns:p14="http://schemas.microsoft.com/office/powerpoint/2010/main" val="3304507410"/>
              </p:ext>
            </p:extLst>
          </p:nvPr>
        </p:nvGraphicFramePr>
        <p:xfrm>
          <a:off x="720000" y="1576514"/>
          <a:ext cx="7704000" cy="165339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8490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45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381">
                  <a:extLst>
                    <a:ext uri="{9D8B030D-6E8A-4147-A177-3AD203B41FA5}">
                      <a16:colId xmlns:a16="http://schemas.microsoft.com/office/drawing/2014/main" val="1634702740"/>
                    </a:ext>
                  </a:extLst>
                </a:gridCol>
              </a:tblGrid>
              <a:tr h="3276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50" b="1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Metric</a:t>
                      </a:r>
                      <a:endParaRPr sz="1050" b="1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050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Description</a:t>
                      </a:r>
                      <a:endParaRPr sz="1050"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050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Results</a:t>
                      </a:r>
                      <a:endParaRPr sz="1050"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7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b="1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Task Completion Rate</a:t>
                      </a:r>
                      <a:endParaRPr sz="950" b="1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95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% of users completed task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95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100 %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7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b="1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Time to Complete</a:t>
                      </a:r>
                      <a:endParaRPr sz="950" b="1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95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Minutes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95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~ 3 minutes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7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b="1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Error Count</a:t>
                      </a:r>
                      <a:endParaRPr sz="950" b="1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95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Number of mistakes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95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 mistakes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7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b="1" dirty="0" smtClean="0">
                          <a:solidFill>
                            <a:schemeClr val="hlink"/>
                          </a:solidFill>
                          <a:uFill>
                            <a:noFill/>
                          </a:u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User Satisfaction</a:t>
                      </a:r>
                      <a:endParaRPr sz="950" b="1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Questionnaire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~</a:t>
                      </a:r>
                      <a:r>
                        <a:rPr lang="en-US" sz="95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score: 85</a:t>
                      </a:r>
                      <a:endParaRPr sz="95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Google Shape;447;p38"/>
          <p:cNvSpPr txBox="1">
            <a:spLocks/>
          </p:cNvSpPr>
          <p:nvPr/>
        </p:nvSpPr>
        <p:spPr>
          <a:xfrm>
            <a:off x="720000" y="3437217"/>
            <a:ext cx="3489052" cy="728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6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pPr algn="l"/>
            <a:r>
              <a:rPr lang="en-US" sz="1100" dirty="0"/>
              <a:t>Use </a:t>
            </a:r>
            <a:r>
              <a:rPr lang="en-US" sz="1100" b="1" dirty="0"/>
              <a:t>SUS (System Usability Scale)</a:t>
            </a:r>
            <a:endParaRPr lang="en-US" sz="1100" dirty="0"/>
          </a:p>
          <a:p>
            <a:pPr algn="l"/>
            <a:r>
              <a:rPr lang="en-US" sz="1100" dirty="0"/>
              <a:t>Score range: 0–100 </a:t>
            </a:r>
          </a:p>
          <a:p>
            <a:pPr algn="l"/>
            <a:r>
              <a:rPr lang="en-US" sz="1100" dirty="0"/>
              <a:t>Passing score: </a:t>
            </a:r>
            <a:r>
              <a:rPr lang="en-US" sz="1100" b="1" dirty="0"/>
              <a:t>≥ 68</a:t>
            </a:r>
            <a:r>
              <a:rPr lang="en-US" sz="1100" dirty="0"/>
              <a:t> </a:t>
            </a:r>
            <a:endParaRPr lang="en-US" sz="1100" dirty="0" smtClean="0"/>
          </a:p>
          <a:p>
            <a:pPr algn="l"/>
            <a:endParaRPr lang="en-US" sz="1100" dirty="0"/>
          </a:p>
        </p:txBody>
      </p:sp>
      <p:sp>
        <p:nvSpPr>
          <p:cNvPr id="8" name="Google Shape;447;p38"/>
          <p:cNvSpPr txBox="1">
            <a:spLocks/>
          </p:cNvSpPr>
          <p:nvPr/>
        </p:nvSpPr>
        <p:spPr>
          <a:xfrm>
            <a:off x="4486457" y="3437216"/>
            <a:ext cx="3489052" cy="7283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91425" rIns="90000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6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 b="0" i="0" u="none" strike="noStrike" cap="none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pPr algn="l"/>
            <a:r>
              <a:rPr lang="en-US" sz="1100" dirty="0"/>
              <a:t>Example of feedbacks:</a:t>
            </a:r>
          </a:p>
          <a:p>
            <a:pPr algn="l"/>
            <a:r>
              <a:rPr lang="en-US" sz="1100" dirty="0"/>
              <a:t>“The system was easy to use” </a:t>
            </a:r>
          </a:p>
          <a:p>
            <a:pPr algn="l"/>
            <a:r>
              <a:rPr lang="en-US" sz="1100" dirty="0"/>
              <a:t>“I felt confident using the system”</a:t>
            </a:r>
          </a:p>
        </p:txBody>
      </p:sp>
    </p:spTree>
    <p:extLst>
      <p:ext uri="{BB962C8B-B14F-4D97-AF65-F5344CB8AC3E}">
        <p14:creationId xmlns:p14="http://schemas.microsoft.com/office/powerpoint/2010/main" val="19914032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7"/>
          <p:cNvSpPr txBox="1">
            <a:spLocks noGrp="1"/>
          </p:cNvSpPr>
          <p:nvPr>
            <p:ph type="title"/>
          </p:nvPr>
        </p:nvSpPr>
        <p:spPr>
          <a:xfrm>
            <a:off x="715100" y="1748375"/>
            <a:ext cx="3733200" cy="16641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/>
            <a:r>
              <a:rPr lang="en" dirty="0" smtClean="0"/>
              <a:t>Field </a:t>
            </a:r>
            <a:br>
              <a:rPr lang="en" dirty="0" smtClean="0"/>
            </a:br>
            <a:r>
              <a:rPr lang="en" dirty="0" smtClean="0"/>
              <a:t>study</a:t>
            </a:r>
            <a:br>
              <a:rPr lang="en" dirty="0" smtClean="0"/>
            </a:br>
            <a:r>
              <a:rPr lang="en-US" sz="3200" dirty="0"/>
              <a:t>(REAL ENVIRONMENT </a:t>
            </a:r>
            <a:r>
              <a:rPr lang="en-US" sz="3200" dirty="0" smtClean="0"/>
              <a:t>TEST)</a:t>
            </a:r>
            <a:endParaRPr sz="3200" dirty="0"/>
          </a:p>
        </p:txBody>
      </p:sp>
      <p:sp>
        <p:nvSpPr>
          <p:cNvPr id="233" name="Google Shape;233;p37"/>
          <p:cNvSpPr txBox="1">
            <a:spLocks noGrp="1"/>
          </p:cNvSpPr>
          <p:nvPr>
            <p:ph type="title" idx="2"/>
          </p:nvPr>
        </p:nvSpPr>
        <p:spPr>
          <a:xfrm>
            <a:off x="4648200" y="1748375"/>
            <a:ext cx="2286000" cy="16641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03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777251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1"/>
          <p:cNvSpPr txBox="1">
            <a:spLocks noGrp="1"/>
          </p:cNvSpPr>
          <p:nvPr>
            <p:ph type="subTitle" idx="1"/>
          </p:nvPr>
        </p:nvSpPr>
        <p:spPr>
          <a:xfrm>
            <a:off x="720000" y="1546255"/>
            <a:ext cx="2336400" cy="3474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/>
            <a:r>
              <a:rPr lang="en-US" dirty="0"/>
              <a:t>Implementation</a:t>
            </a:r>
          </a:p>
        </p:txBody>
      </p:sp>
      <p:sp>
        <p:nvSpPr>
          <p:cNvPr id="305" name="Google Shape;305;p41"/>
          <p:cNvSpPr txBox="1">
            <a:spLocks noGrp="1"/>
          </p:cNvSpPr>
          <p:nvPr>
            <p:ph type="subTitle" idx="2"/>
          </p:nvPr>
        </p:nvSpPr>
        <p:spPr>
          <a:xfrm>
            <a:off x="853440" y="2141220"/>
            <a:ext cx="2142000" cy="20269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smtClean="0"/>
              <a:t>Upload video of performing </a:t>
            </a:r>
            <a:r>
              <a:rPr lang="en-US" dirty="0"/>
              <a:t>scenes naturally.</a:t>
            </a:r>
          </a:p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Use the system for real auditions</a:t>
            </a:r>
          </a:p>
        </p:txBody>
      </p:sp>
      <p:sp>
        <p:nvSpPr>
          <p:cNvPr id="306" name="Google Shape;306;p41"/>
          <p:cNvSpPr txBox="1">
            <a:spLocks noGrp="1"/>
          </p:cNvSpPr>
          <p:nvPr>
            <p:ph type="subTitle" idx="3"/>
          </p:nvPr>
        </p:nvSpPr>
        <p:spPr>
          <a:xfrm>
            <a:off x="3694620" y="2141219"/>
            <a:ext cx="1853430" cy="17297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lnSpc>
                <a:spcPct val="150000"/>
              </a:lnSpc>
            </a:pPr>
            <a:r>
              <a:rPr lang="en-US" dirty="0"/>
              <a:t>Observations – Interviews - Video recordings </a:t>
            </a:r>
            <a:r>
              <a:rPr lang="en-US" dirty="0" smtClean="0"/>
              <a:t>upload- </a:t>
            </a:r>
            <a:r>
              <a:rPr lang="en-US" dirty="0"/>
              <a:t>User feedback</a:t>
            </a:r>
          </a:p>
        </p:txBody>
      </p:sp>
      <p:sp>
        <p:nvSpPr>
          <p:cNvPr id="307" name="Google Shape;307;p41"/>
          <p:cNvSpPr txBox="1">
            <a:spLocks noGrp="1"/>
          </p:cNvSpPr>
          <p:nvPr>
            <p:ph type="subTitle" idx="4"/>
          </p:nvPr>
        </p:nvSpPr>
        <p:spPr>
          <a:xfrm>
            <a:off x="6282000" y="2141219"/>
            <a:ext cx="2142000" cy="17297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smtClean="0"/>
              <a:t>Backend processing time, report accuracy</a:t>
            </a:r>
            <a:endParaRPr lang="en-US" dirty="0"/>
          </a:p>
          <a:p>
            <a:pPr marL="285750" lvl="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Actor feels stressed = gaze instability</a:t>
            </a:r>
          </a:p>
        </p:txBody>
      </p:sp>
      <p:sp>
        <p:nvSpPr>
          <p:cNvPr id="308" name="Google Shape;308;p41"/>
          <p:cNvSpPr txBox="1">
            <a:spLocks noGrp="1"/>
          </p:cNvSpPr>
          <p:nvPr>
            <p:ph type="title"/>
          </p:nvPr>
        </p:nvSpPr>
        <p:spPr>
          <a:xfrm>
            <a:off x="720000" y="536747"/>
            <a:ext cx="7704000" cy="57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STRATEGY</a:t>
            </a:r>
            <a:endParaRPr dirty="0"/>
          </a:p>
        </p:txBody>
      </p:sp>
      <p:sp>
        <p:nvSpPr>
          <p:cNvPr id="309" name="Google Shape;309;p41"/>
          <p:cNvSpPr txBox="1">
            <a:spLocks noGrp="1"/>
          </p:cNvSpPr>
          <p:nvPr>
            <p:ph type="subTitle" idx="5"/>
          </p:nvPr>
        </p:nvSpPr>
        <p:spPr>
          <a:xfrm>
            <a:off x="3403800" y="1546255"/>
            <a:ext cx="2336400" cy="3474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lvl="0"/>
            <a:r>
              <a:rPr lang="en-US" dirty="0"/>
              <a:t>Data Collection</a:t>
            </a:r>
          </a:p>
        </p:txBody>
      </p:sp>
      <p:sp>
        <p:nvSpPr>
          <p:cNvPr id="310" name="Google Shape;310;p41"/>
          <p:cNvSpPr txBox="1">
            <a:spLocks noGrp="1"/>
          </p:cNvSpPr>
          <p:nvPr>
            <p:ph type="subTitle" idx="6"/>
          </p:nvPr>
        </p:nvSpPr>
        <p:spPr>
          <a:xfrm>
            <a:off x="6087600" y="1546255"/>
            <a:ext cx="2336400" cy="3474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lvl="0"/>
            <a:r>
              <a:rPr lang="en-US" dirty="0"/>
              <a:t>Findings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7"/>
          <p:cNvSpPr txBox="1">
            <a:spLocks noGrp="1"/>
          </p:cNvSpPr>
          <p:nvPr>
            <p:ph type="title"/>
          </p:nvPr>
        </p:nvSpPr>
        <p:spPr>
          <a:xfrm>
            <a:off x="238000" y="1295400"/>
            <a:ext cx="4334000" cy="33528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r>
              <a:rPr lang="en-US" dirty="0"/>
              <a:t>System</a:t>
            </a:r>
            <a:br>
              <a:rPr lang="en-US" dirty="0"/>
            </a:br>
            <a:r>
              <a:rPr lang="en-US" dirty="0"/>
              <a:t>Performance Testing</a:t>
            </a:r>
            <a:r>
              <a:rPr lang="en-US" sz="4000" dirty="0"/>
              <a:t/>
            </a:r>
            <a:br>
              <a:rPr lang="en-US" sz="4000" dirty="0"/>
            </a:br>
            <a:endParaRPr sz="3200" dirty="0"/>
          </a:p>
        </p:txBody>
      </p:sp>
      <p:sp>
        <p:nvSpPr>
          <p:cNvPr id="233" name="Google Shape;233;p37"/>
          <p:cNvSpPr txBox="1">
            <a:spLocks noGrp="1"/>
          </p:cNvSpPr>
          <p:nvPr>
            <p:ph type="title" idx="2"/>
          </p:nvPr>
        </p:nvSpPr>
        <p:spPr>
          <a:xfrm>
            <a:off x="4648200" y="1748375"/>
            <a:ext cx="2286000" cy="16641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04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937186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7" name="Google Shape;1007;p66"/>
          <p:cNvSpPr txBox="1">
            <a:spLocks noGrp="1"/>
          </p:cNvSpPr>
          <p:nvPr>
            <p:ph type="title"/>
          </p:nvPr>
        </p:nvSpPr>
        <p:spPr>
          <a:xfrm>
            <a:off x="720000" y="255372"/>
            <a:ext cx="7704000" cy="57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PREDICTED GROWTH</a:t>
            </a:r>
            <a:endParaRPr sz="4000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020" y="828072"/>
            <a:ext cx="8061960" cy="397650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7" name="Google Shape;1007;p66"/>
          <p:cNvSpPr txBox="1">
            <a:spLocks noGrp="1"/>
          </p:cNvSpPr>
          <p:nvPr>
            <p:ph type="title"/>
          </p:nvPr>
        </p:nvSpPr>
        <p:spPr>
          <a:xfrm>
            <a:off x="720000" y="255372"/>
            <a:ext cx="7704000" cy="57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PREDICTED GROWTH</a:t>
            </a:r>
            <a:endParaRPr sz="4000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5389" y="934751"/>
            <a:ext cx="6831331" cy="3789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40205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7" name="Google Shape;1007;p66"/>
          <p:cNvSpPr txBox="1">
            <a:spLocks noGrp="1"/>
          </p:cNvSpPr>
          <p:nvPr>
            <p:ph type="title"/>
          </p:nvPr>
        </p:nvSpPr>
        <p:spPr>
          <a:xfrm>
            <a:off x="720000" y="255372"/>
            <a:ext cx="7704000" cy="5727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PREDICTED GROWTH</a:t>
            </a:r>
            <a:endParaRPr sz="4000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9786" y="828072"/>
            <a:ext cx="4944427" cy="3955542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45431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7"/>
          <p:cNvSpPr txBox="1">
            <a:spLocks noGrp="1"/>
          </p:cNvSpPr>
          <p:nvPr>
            <p:ph type="title"/>
          </p:nvPr>
        </p:nvSpPr>
        <p:spPr>
          <a:xfrm>
            <a:off x="238000" y="1295400"/>
            <a:ext cx="4334000" cy="33528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r>
              <a:rPr lang="en-US" dirty="0" smtClean="0"/>
              <a:t>Playwright</a:t>
            </a:r>
            <a:br>
              <a:rPr lang="en-US" dirty="0" smtClean="0"/>
            </a:br>
            <a:r>
              <a:rPr lang="en-US" dirty="0" smtClean="0"/>
              <a:t>Automated </a:t>
            </a:r>
            <a:br>
              <a:rPr lang="en-US" dirty="0" smtClean="0"/>
            </a:br>
            <a:r>
              <a:rPr lang="en-US" dirty="0" smtClean="0"/>
              <a:t>testing</a:t>
            </a:r>
            <a:r>
              <a:rPr lang="en-US" sz="4000" dirty="0"/>
              <a:t/>
            </a:r>
            <a:br>
              <a:rPr lang="en-US" sz="4000" dirty="0"/>
            </a:br>
            <a:endParaRPr sz="3200" dirty="0"/>
          </a:p>
        </p:txBody>
      </p:sp>
      <p:sp>
        <p:nvSpPr>
          <p:cNvPr id="233" name="Google Shape;233;p37"/>
          <p:cNvSpPr txBox="1">
            <a:spLocks noGrp="1"/>
          </p:cNvSpPr>
          <p:nvPr>
            <p:ph type="title" idx="2"/>
          </p:nvPr>
        </p:nvSpPr>
        <p:spPr>
          <a:xfrm>
            <a:off x="4648200" y="1748375"/>
            <a:ext cx="2286000" cy="16641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05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924341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228600" y="646784"/>
            <a:ext cx="8860199" cy="4839616"/>
          </a:xfrm>
        </p:spPr>
        <p:txBody>
          <a:bodyPr/>
          <a:lstStyle/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=================================================================== test session starts ===================================================================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platform win32 -- Python 3.9.23, pytest-8.4.2, pluggy-1.6.0 -- C:\Graduation Project\V8\</a:t>
            </a:r>
            <a:r>
              <a:rPr lang="en-US" sz="800" dirty="0" err="1"/>
              <a:t>venv</a:t>
            </a:r>
            <a:r>
              <a:rPr lang="en-US" sz="800" dirty="0"/>
              <a:t>\Scripts\python.exe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 err="1"/>
              <a:t>cachedir</a:t>
            </a:r>
            <a:r>
              <a:rPr lang="en-US" sz="800" dirty="0"/>
              <a:t>: .</a:t>
            </a:r>
            <a:r>
              <a:rPr lang="en-US" sz="800" dirty="0" err="1"/>
              <a:t>pytest_cache</a:t>
            </a:r>
            <a:endParaRPr lang="en-US" sz="800" dirty="0"/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 err="1"/>
              <a:t>rootdir</a:t>
            </a:r>
            <a:r>
              <a:rPr lang="en-US" sz="800" dirty="0"/>
              <a:t>: C:\Graduation Project\V8\</a:t>
            </a:r>
            <a:r>
              <a:rPr lang="en-US" sz="800" dirty="0" err="1"/>
              <a:t>web_app</a:t>
            </a:r>
            <a:r>
              <a:rPr lang="en-US" sz="800" dirty="0"/>
              <a:t>\tests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plugins: anyio-4.12.1, dash-4.0.0, base-url-2.1.0, playwright-0.7.1, timeout-2.4.0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collected 16 items                                                                                                                                         </a:t>
            </a:r>
          </a:p>
          <a:p>
            <a:pPr marL="139700" indent="0">
              <a:lnSpc>
                <a:spcPct val="100000"/>
              </a:lnSpc>
              <a:buNone/>
            </a:pPr>
            <a:endParaRPr lang="en-US" sz="800" dirty="0"/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test_app.py::</a:t>
            </a:r>
            <a:r>
              <a:rPr lang="en-US" sz="800" dirty="0" err="1"/>
              <a:t>TestFunctionalCases</a:t>
            </a:r>
            <a:r>
              <a:rPr lang="en-US" sz="800" dirty="0"/>
              <a:t>::test_A1_user_authentication_and_session PASSED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test_app.py::</a:t>
            </a:r>
            <a:r>
              <a:rPr lang="en-US" sz="800" dirty="0" err="1"/>
              <a:t>TestFunctionalCases</a:t>
            </a:r>
            <a:r>
              <a:rPr lang="en-US" sz="800" dirty="0"/>
              <a:t>::test_A2_report_generation_and_download PASSED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test_app.py::</a:t>
            </a:r>
            <a:r>
              <a:rPr lang="en-US" sz="800" dirty="0" err="1"/>
              <a:t>TestFunctionalCases</a:t>
            </a:r>
            <a:r>
              <a:rPr lang="en-US" sz="800" dirty="0"/>
              <a:t>::test_A3_report_content_validation PASSED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test_app.py::</a:t>
            </a:r>
            <a:r>
              <a:rPr lang="en-US" sz="800" dirty="0" err="1"/>
              <a:t>TestFunctionalCases</a:t>
            </a:r>
            <a:r>
              <a:rPr lang="en-US" sz="800" dirty="0"/>
              <a:t>::test_A4_report_history_and_retrieval PASSED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test_app.py::</a:t>
            </a:r>
            <a:r>
              <a:rPr lang="en-US" sz="800" dirty="0" err="1"/>
              <a:t>TestFunctionalCases</a:t>
            </a:r>
            <a:r>
              <a:rPr lang="en-US" sz="800" dirty="0"/>
              <a:t>::test_A5_performance_metrics_in_report PASSED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test_app.py::</a:t>
            </a:r>
            <a:r>
              <a:rPr lang="en-US" sz="800" dirty="0" err="1"/>
              <a:t>TestNonFunctionalCases</a:t>
            </a:r>
            <a:r>
              <a:rPr lang="en-US" sz="800" dirty="0"/>
              <a:t>::test_B1_page_load_time   Page load time: 1752ms ✓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PASSED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test_app.py::</a:t>
            </a:r>
            <a:r>
              <a:rPr lang="en-US" sz="800" dirty="0" err="1"/>
              <a:t>TestNonFunctionalCases</a:t>
            </a:r>
            <a:r>
              <a:rPr lang="en-US" sz="800" dirty="0"/>
              <a:t>::test_B2_report_generation_time PASSED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test_app.py::</a:t>
            </a:r>
            <a:r>
              <a:rPr lang="en-US" sz="800" dirty="0" err="1"/>
              <a:t>TestNonFunctionalCases</a:t>
            </a:r>
            <a:r>
              <a:rPr lang="en-US" sz="800" dirty="0"/>
              <a:t>::test_B3_concurrent_report_requests FAILED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test_app.py::</a:t>
            </a:r>
            <a:r>
              <a:rPr lang="en-US" sz="800" dirty="0" err="1"/>
              <a:t>TestNonFunctionalCases</a:t>
            </a:r>
            <a:r>
              <a:rPr lang="en-US" sz="800" dirty="0"/>
              <a:t>::test_B4_api_response_time   /</a:t>
            </a:r>
            <a:r>
              <a:rPr lang="en-US" sz="800" dirty="0" err="1"/>
              <a:t>api</a:t>
            </a:r>
            <a:r>
              <a:rPr lang="en-US" sz="800" dirty="0"/>
              <a:t>/reports: Not available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  /</a:t>
            </a:r>
            <a:r>
              <a:rPr lang="en-US" sz="800" dirty="0" err="1"/>
              <a:t>api</a:t>
            </a:r>
            <a:r>
              <a:rPr lang="en-US" sz="800" dirty="0"/>
              <a:t>/performance-metrics: Not available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  /</a:t>
            </a:r>
            <a:r>
              <a:rPr lang="en-US" sz="800" dirty="0" err="1"/>
              <a:t>api</a:t>
            </a:r>
            <a:r>
              <a:rPr lang="en-US" sz="800" dirty="0"/>
              <a:t>/user/history: Not available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PASSED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test_app.py::</a:t>
            </a:r>
            <a:r>
              <a:rPr lang="en-US" sz="800" dirty="0" err="1"/>
              <a:t>TestNonFunctionalCases</a:t>
            </a:r>
            <a:r>
              <a:rPr lang="en-US" sz="800" dirty="0"/>
              <a:t>::test_B5_database_query_performance   Database query time: 542ms ✓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PASSED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test_app.py::</a:t>
            </a:r>
            <a:r>
              <a:rPr lang="en-US" sz="800" dirty="0" err="1"/>
              <a:t>TestReportQuality</a:t>
            </a:r>
            <a:r>
              <a:rPr lang="en-US" sz="800" dirty="0"/>
              <a:t>::</a:t>
            </a:r>
            <a:r>
              <a:rPr lang="en-US" sz="800" dirty="0" err="1"/>
              <a:t>test_report_emotion_summary_exists</a:t>
            </a:r>
            <a:r>
              <a:rPr lang="en-US" sz="800" dirty="0"/>
              <a:t> PASSED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test_app.py::</a:t>
            </a:r>
            <a:r>
              <a:rPr lang="en-US" sz="800" dirty="0" err="1"/>
              <a:t>TestReportQuality</a:t>
            </a:r>
            <a:r>
              <a:rPr lang="en-US" sz="800" dirty="0"/>
              <a:t>::</a:t>
            </a:r>
            <a:r>
              <a:rPr lang="en-US" sz="800" dirty="0" err="1"/>
              <a:t>test_report_recommendations_exist</a:t>
            </a:r>
            <a:r>
              <a:rPr lang="en-US" sz="800" dirty="0"/>
              <a:t> PASSED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test_app.py::</a:t>
            </a:r>
            <a:r>
              <a:rPr lang="en-US" sz="800" dirty="0" err="1"/>
              <a:t>TestReportQuality</a:t>
            </a:r>
            <a:r>
              <a:rPr lang="en-US" sz="800" dirty="0"/>
              <a:t>::</a:t>
            </a:r>
            <a:r>
              <a:rPr lang="en-US" sz="800" dirty="0" err="1"/>
              <a:t>test_report_download_formats</a:t>
            </a:r>
            <a:r>
              <a:rPr lang="en-US" sz="800" dirty="0"/>
              <a:t> PASSED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test_app.py::</a:t>
            </a:r>
            <a:r>
              <a:rPr lang="en-US" sz="800" dirty="0" err="1"/>
              <a:t>TestUsabilitySUS</a:t>
            </a:r>
            <a:r>
              <a:rPr lang="en-US" sz="800" dirty="0"/>
              <a:t>::</a:t>
            </a:r>
            <a:r>
              <a:rPr lang="en-US" sz="800" dirty="0" err="1"/>
              <a:t>test_sus_task_navigation</a:t>
            </a:r>
            <a:r>
              <a:rPr lang="en-US" sz="800" dirty="0"/>
              <a:t> ✓ SUS navigation test passed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PASSED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test_app.py::</a:t>
            </a:r>
            <a:r>
              <a:rPr lang="en-US" sz="800" dirty="0" err="1"/>
              <a:t>TestUsabilitySUS</a:t>
            </a:r>
            <a:r>
              <a:rPr lang="en-US" sz="800" dirty="0"/>
              <a:t>::</a:t>
            </a:r>
            <a:r>
              <a:rPr lang="en-US" sz="800" dirty="0" err="1"/>
              <a:t>test_sus_error_count</a:t>
            </a:r>
            <a:r>
              <a:rPr lang="en-US" sz="800" dirty="0"/>
              <a:t>   Errors in workflow: 0 ✓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PASSED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test_app.py::</a:t>
            </a:r>
            <a:r>
              <a:rPr lang="en-US" sz="800" dirty="0" err="1"/>
              <a:t>test_backend_emotion_api</a:t>
            </a:r>
            <a:r>
              <a:rPr lang="en-US" sz="800" dirty="0"/>
              <a:t>   Note: Backend emotion API endpoint not found - check implementation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PASSED</a:t>
            </a:r>
          </a:p>
          <a:p>
            <a:pPr marL="139700" indent="0">
              <a:lnSpc>
                <a:spcPct val="100000"/>
              </a:lnSpc>
              <a:buNone/>
            </a:pP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3193571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55417" y="535948"/>
            <a:ext cx="10176165" cy="4839616"/>
          </a:xfrm>
        </p:spPr>
        <p:txBody>
          <a:bodyPr/>
          <a:lstStyle/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======================================================================== FAILURES =========================================================================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 smtClean="0"/>
              <a:t>_______________________________________ </a:t>
            </a:r>
            <a:r>
              <a:rPr lang="en-US" sz="800" dirty="0"/>
              <a:t>TestNonFunctionalCases.test_B3_concurrent_report_requests </a:t>
            </a:r>
            <a:r>
              <a:rPr lang="en-US" sz="800" dirty="0" smtClean="0"/>
              <a:t>_______________________________________</a:t>
            </a:r>
            <a:endParaRPr lang="en-US" sz="800" dirty="0"/>
          </a:p>
          <a:p>
            <a:pPr marL="139700" indent="0">
              <a:lnSpc>
                <a:spcPct val="100000"/>
              </a:lnSpc>
              <a:buNone/>
            </a:pPr>
            <a:endParaRPr lang="en-US" sz="800" dirty="0"/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self = &lt;</a:t>
            </a:r>
            <a:r>
              <a:rPr lang="en-US" sz="800" dirty="0" err="1"/>
              <a:t>test_app.TestNonFunctionalCases</a:t>
            </a:r>
            <a:r>
              <a:rPr lang="en-US" sz="800" dirty="0"/>
              <a:t> object at 0x000002ABFF2E9070&gt;</a:t>
            </a:r>
          </a:p>
          <a:p>
            <a:pPr marL="139700" indent="0">
              <a:lnSpc>
                <a:spcPct val="100000"/>
              </a:lnSpc>
              <a:buNone/>
            </a:pPr>
            <a:endParaRPr lang="en-US" sz="800" dirty="0"/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    </a:t>
            </a:r>
            <a:r>
              <a:rPr lang="en-US" sz="800" dirty="0" err="1"/>
              <a:t>def</a:t>
            </a:r>
            <a:r>
              <a:rPr lang="en-US" sz="800" dirty="0"/>
              <a:t> test_B3_concurrent_report_requests(self):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        """Test handling concurrent report requests"""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        import </a:t>
            </a:r>
            <a:r>
              <a:rPr lang="en-US" sz="800" dirty="0" err="1"/>
              <a:t>concurrent.futures</a:t>
            </a:r>
            <a:endParaRPr lang="en-US" sz="800" dirty="0"/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    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        </a:t>
            </a:r>
            <a:r>
              <a:rPr lang="en-US" sz="800" dirty="0" err="1"/>
              <a:t>def</a:t>
            </a:r>
            <a:r>
              <a:rPr lang="en-US" sz="800" dirty="0"/>
              <a:t> </a:t>
            </a:r>
            <a:r>
              <a:rPr lang="en-US" sz="800" dirty="0" err="1"/>
              <a:t>request_report</a:t>
            </a:r>
            <a:r>
              <a:rPr lang="en-US" sz="800" dirty="0"/>
              <a:t>():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            try: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                response = </a:t>
            </a:r>
            <a:r>
              <a:rPr lang="en-US" sz="800" dirty="0" err="1"/>
              <a:t>requests.get</a:t>
            </a:r>
            <a:r>
              <a:rPr lang="en-US" sz="800" dirty="0"/>
              <a:t>(f'{</a:t>
            </a:r>
            <a:r>
              <a:rPr lang="en-US" sz="800" dirty="0" err="1"/>
              <a:t>self.api_base</a:t>
            </a:r>
            <a:r>
              <a:rPr lang="en-US" sz="800" dirty="0"/>
              <a:t>}/</a:t>
            </a:r>
            <a:r>
              <a:rPr lang="en-US" sz="800" dirty="0" err="1"/>
              <a:t>api</a:t>
            </a:r>
            <a:r>
              <a:rPr lang="en-US" sz="800" dirty="0"/>
              <a:t>/generate-report', timeout=10)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                return </a:t>
            </a:r>
            <a:r>
              <a:rPr lang="en-US" sz="800" dirty="0" err="1"/>
              <a:t>response.status_code</a:t>
            </a:r>
            <a:r>
              <a:rPr lang="en-US" sz="800" dirty="0"/>
              <a:t> == 200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            except: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                return False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    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        # Simulate 5 concurrent report requests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        with </a:t>
            </a:r>
            <a:r>
              <a:rPr lang="en-US" sz="800" dirty="0" err="1"/>
              <a:t>concurrent.futures.ThreadPoolExecutor</a:t>
            </a:r>
            <a:r>
              <a:rPr lang="en-US" sz="800" dirty="0"/>
              <a:t>(</a:t>
            </a:r>
            <a:r>
              <a:rPr lang="en-US" sz="800" dirty="0" err="1"/>
              <a:t>max_workers</a:t>
            </a:r>
            <a:r>
              <a:rPr lang="en-US" sz="800" dirty="0"/>
              <a:t>=5) as executor: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            futures = [</a:t>
            </a:r>
            <a:r>
              <a:rPr lang="en-US" sz="800" dirty="0" err="1"/>
              <a:t>executor.submit</a:t>
            </a:r>
            <a:r>
              <a:rPr lang="en-US" sz="800" dirty="0"/>
              <a:t>(</a:t>
            </a:r>
            <a:r>
              <a:rPr lang="en-US" sz="800" dirty="0" err="1"/>
              <a:t>request_report</a:t>
            </a:r>
            <a:r>
              <a:rPr lang="en-US" sz="800" dirty="0"/>
              <a:t>) for _ in range(5)]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            results = [</a:t>
            </a:r>
            <a:r>
              <a:rPr lang="en-US" sz="800" dirty="0" err="1"/>
              <a:t>f.result</a:t>
            </a:r>
            <a:r>
              <a:rPr lang="en-US" sz="800" dirty="0"/>
              <a:t>() for f in futures]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    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        </a:t>
            </a:r>
            <a:r>
              <a:rPr lang="en-US" sz="800" dirty="0" err="1"/>
              <a:t>success_rate</a:t>
            </a:r>
            <a:r>
              <a:rPr lang="en-US" sz="800" dirty="0"/>
              <a:t> = sum(results) / </a:t>
            </a:r>
            <a:r>
              <a:rPr lang="en-US" sz="800" dirty="0" err="1"/>
              <a:t>len</a:t>
            </a:r>
            <a:r>
              <a:rPr lang="en-US" sz="800" dirty="0"/>
              <a:t>(results) * 100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&gt;       assert </a:t>
            </a:r>
            <a:r>
              <a:rPr lang="en-US" sz="800" dirty="0" err="1"/>
              <a:t>success_rate</a:t>
            </a:r>
            <a:r>
              <a:rPr lang="en-US" sz="800" dirty="0"/>
              <a:t> &gt;= 80, </a:t>
            </a:r>
            <a:r>
              <a:rPr lang="en-US" sz="800" dirty="0" err="1"/>
              <a:t>f"Only</a:t>
            </a:r>
            <a:r>
              <a:rPr lang="en-US" sz="800" dirty="0"/>
              <a:t> {</a:t>
            </a:r>
            <a:r>
              <a:rPr lang="en-US" sz="800" dirty="0" err="1"/>
              <a:t>success_rate</a:t>
            </a:r>
            <a:r>
              <a:rPr lang="en-US" sz="800" dirty="0"/>
              <a:t>}% of concurrent requests succeeded"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E       </a:t>
            </a:r>
            <a:r>
              <a:rPr lang="en-US" sz="800" dirty="0" err="1"/>
              <a:t>AssertionError</a:t>
            </a:r>
            <a:r>
              <a:rPr lang="en-US" sz="800" dirty="0"/>
              <a:t>: Only 0.0% of concurrent requests succeeded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E       assert 0.0 &gt;= 80</a:t>
            </a:r>
          </a:p>
          <a:p>
            <a:pPr marL="139700" indent="0">
              <a:lnSpc>
                <a:spcPct val="100000"/>
              </a:lnSpc>
              <a:buNone/>
            </a:pPr>
            <a:endParaRPr lang="en-US" sz="800" dirty="0"/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test_app.py:179: </a:t>
            </a:r>
            <a:r>
              <a:rPr lang="en-US" sz="800" dirty="0" err="1"/>
              <a:t>AssertionError</a:t>
            </a:r>
            <a:endParaRPr lang="en-US" sz="800" dirty="0"/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================================================================= short test summary info =================================================================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FAILED test_app.py::</a:t>
            </a:r>
            <a:r>
              <a:rPr lang="en-US" sz="800" dirty="0" err="1"/>
              <a:t>TestNonFunctionalCases</a:t>
            </a:r>
            <a:r>
              <a:rPr lang="en-US" sz="800" dirty="0"/>
              <a:t>::test_B3_concurrent_report_requests - </a:t>
            </a:r>
            <a:r>
              <a:rPr lang="en-US" sz="800" dirty="0" err="1"/>
              <a:t>AssertionError</a:t>
            </a:r>
            <a:r>
              <a:rPr lang="en-US" sz="800" dirty="0"/>
              <a:t>: Only 0.0% of concurrent requests succeeded</a:t>
            </a:r>
          </a:p>
          <a:p>
            <a:pPr marL="139700" indent="0">
              <a:lnSpc>
                <a:spcPct val="100000"/>
              </a:lnSpc>
              <a:buNone/>
            </a:pPr>
            <a:r>
              <a:rPr lang="en-US" sz="800" dirty="0"/>
              <a:t>======================================================== 1 failed, 15 passed in 155.01s (0:02:35) </a:t>
            </a:r>
            <a:r>
              <a:rPr lang="en-US" sz="800" dirty="0" smtClean="0"/>
              <a:t>=========================================================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4032219147"/>
      </p:ext>
    </p:extLst>
  </p:cSld>
  <p:clrMapOvr>
    <a:masterClrMapping/>
  </p:clrMapOvr>
</p:sld>
</file>

<file path=ppt/theme/theme1.xml><?xml version="1.0" encoding="utf-8"?>
<a:theme xmlns:a="http://schemas.openxmlformats.org/drawingml/2006/main" name="Banquet Hall Business Plan by Slidesgo">
  <a:themeElements>
    <a:clrScheme name="Simple Light">
      <a:dk1>
        <a:srgbClr val="383837"/>
      </a:dk1>
      <a:lt1>
        <a:srgbClr val="F0F0EE"/>
      </a:lt1>
      <a:dk2>
        <a:srgbClr val="4C4C4B"/>
      </a:dk2>
      <a:lt2>
        <a:srgbClr val="E9E8E5"/>
      </a:lt2>
      <a:accent1>
        <a:srgbClr val="D7D8D7"/>
      </a:accent1>
      <a:accent2>
        <a:srgbClr val="CECBB8"/>
      </a:accent2>
      <a:accent3>
        <a:srgbClr val="DED3BF"/>
      </a:accent3>
      <a:accent4>
        <a:srgbClr val="C6B7A2"/>
      </a:accent4>
      <a:accent5>
        <a:srgbClr val="BAA387"/>
      </a:accent5>
      <a:accent6>
        <a:srgbClr val="A7A096"/>
      </a:accent6>
      <a:hlink>
        <a:srgbClr val="4C4C4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235</TotalTime>
  <Words>942</Words>
  <Application>Microsoft Office PowerPoint</Application>
  <PresentationFormat>On-screen Show (16:9)</PresentationFormat>
  <Paragraphs>289</Paragraphs>
  <Slides>23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1" baseType="lpstr">
      <vt:lpstr>Montserrat Black</vt:lpstr>
      <vt:lpstr>Arial</vt:lpstr>
      <vt:lpstr>Montserrat Medium</vt:lpstr>
      <vt:lpstr>Quicksand Medium</vt:lpstr>
      <vt:lpstr>Quicksand</vt:lpstr>
      <vt:lpstr>Montserrat</vt:lpstr>
      <vt:lpstr>Bebas Neue</vt:lpstr>
      <vt:lpstr>Banquet Hall Business Plan by Slidesgo</vt:lpstr>
      <vt:lpstr>Testing &amp; Evaluation</vt:lpstr>
      <vt:lpstr>TESTING STRATEGY</vt:lpstr>
      <vt:lpstr>A. Functional Cases</vt:lpstr>
      <vt:lpstr>A. Functional Cases</vt:lpstr>
      <vt:lpstr>A. Functional Cases</vt:lpstr>
      <vt:lpstr>A. Functional Cases</vt:lpstr>
      <vt:lpstr>PowerPoint Presentation</vt:lpstr>
      <vt:lpstr>B. Non-Functional Cases</vt:lpstr>
      <vt:lpstr>B. Non-Functional Cases</vt:lpstr>
      <vt:lpstr>B. Non-Functional Cases</vt:lpstr>
      <vt:lpstr>B. Non-Functional Cases</vt:lpstr>
      <vt:lpstr>Usability  testing</vt:lpstr>
      <vt:lpstr>Testing  plan</vt:lpstr>
      <vt:lpstr>Metrics to Test Usability</vt:lpstr>
      <vt:lpstr>Field  study (REAL ENVIRONMENT TEST)</vt:lpstr>
      <vt:lpstr>STRATEGY</vt:lpstr>
      <vt:lpstr>System Performance Testing </vt:lpstr>
      <vt:lpstr>PREDICTED GROWTH</vt:lpstr>
      <vt:lpstr>PREDICTED GROWTH</vt:lpstr>
      <vt:lpstr>PREDICTED GROWTH</vt:lpstr>
      <vt:lpstr>Playwright Automated  testing 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Banquet Hall Business plan</dc:title>
  <cp:lastModifiedBy>Mira William</cp:lastModifiedBy>
  <cp:revision>34</cp:revision>
  <dcterms:modified xsi:type="dcterms:W3CDTF">2026-04-22T22:06:14Z</dcterms:modified>
</cp:coreProperties>
</file>